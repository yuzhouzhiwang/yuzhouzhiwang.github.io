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3" r:id="rId8"/>
    <p:sldId id="265" r:id="rId9"/>
    <p:sldId id="269" r:id="rId10"/>
    <p:sldId id="270" r:id="rId11"/>
    <p:sldId id="271" r:id="rId12"/>
    <p:sldId id="275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6908D"/>
    <a:srgbClr val="CA4E44"/>
    <a:srgbClr val="CF463D"/>
    <a:srgbClr val="FC9896"/>
    <a:srgbClr val="C3463E"/>
    <a:srgbClr val="810508"/>
    <a:srgbClr val="6B21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4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A56C3-4228-490C-BE19-81D4C93DDABE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B663B-E732-4218-A47F-0490D14043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655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B663B-E732-4218-A47F-0490D14043B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94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B663B-E732-4218-A47F-0490D14043B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B663B-E732-4218-A47F-0490D14043B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3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B663B-E732-4218-A47F-0490D14043B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152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B663B-E732-4218-A47F-0490D14043B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745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B663B-E732-4218-A47F-0490D14043B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197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B663B-E732-4218-A47F-0490D14043B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246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B663B-E732-4218-A47F-0490D14043B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677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B663B-E732-4218-A47F-0490D14043B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983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B663B-E732-4218-A47F-0490D14043B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649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B663B-E732-4218-A47F-0490D14043B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316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8EE07-4801-45DB-BBCC-202AA1747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385341-A39A-4F40-88F8-D65143E86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3298D5-D652-4147-AF77-1B6B86D8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869A-6870-40F5-96D3-12CA8221DA41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81734B-106A-4C8D-AF71-F8E4F4AE6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760ECA-3313-425C-865C-8838662B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52A7-4020-4BE0-BEA8-7BB3B1928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2240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304FF-B80D-42EA-93F0-1FFFD278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20737-4145-4787-819B-41A6CB22E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711F36-491F-43C8-B097-69C43CFEE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869A-6870-40F5-96D3-12CA8221DA41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C5880B-6FE1-491A-BB67-FEF301D57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834932-8DD9-4A64-A17D-2DA1571A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52A7-4020-4BE0-BEA8-7BB3B1928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1779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28D34-1A91-4E1F-83E0-99E6A752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AA15EA-EEFE-4ADB-ACB9-5F93D7137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D3A78-BDA4-41A5-AFE5-D18BF103D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869A-6870-40F5-96D3-12CA8221DA41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F07B8-BEA3-4C49-B451-F69F0AB48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089208-9DB5-4316-B2A8-657B07E76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52A7-4020-4BE0-BEA8-7BB3B1928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4406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EC3ED-2D04-4F2D-A6D3-74A86A3A0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D03545-BD39-4663-B0DD-CF59C4B09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3723F0-CA9F-4FB9-8FCB-A50A8A770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78D68D-9320-4236-9128-0FF662FBA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869A-6870-40F5-96D3-12CA8221DA41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5F20D0-6998-4997-8AA0-DC3B92539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5048BB-6A5B-4662-8C00-76E3C195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52A7-4020-4BE0-BEA8-7BB3B1928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8359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88B2F-2352-4F4F-B07E-23A22545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252072-201A-4B4F-B360-134396F09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DABD20-91D0-443F-9DF1-583D1E6ED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42BAAE-AA7C-482F-A04B-406ABB680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A5CFA4-E4DE-4060-AAC5-BFF95A4B44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0F26D5-BE33-4915-8B97-AE48C65D4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869A-6870-40F5-96D3-12CA8221DA41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9424F1-7E54-48C0-A793-9A9DC0270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321BF7-7BE8-4E35-838F-825BBA10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52A7-4020-4BE0-BEA8-7BB3B1928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0454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88B2F-2352-4F4F-B07E-23A22545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252072-201A-4B4F-B360-134396F09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DABD20-91D0-443F-9DF1-583D1E6ED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42BAAE-AA7C-482F-A04B-406ABB680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A5CFA4-E4DE-4060-AAC5-BFF95A4B44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0F26D5-BE33-4915-8B97-AE48C65D4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869A-6870-40F5-96D3-12CA8221DA41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9424F1-7E54-48C0-A793-9A9DC0270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321BF7-7BE8-4E35-838F-825BBA10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52A7-4020-4BE0-BEA8-7BB3B19286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123604" y="6739570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prstClr val="black"/>
                </a:solidFill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prstClr val="black"/>
                </a:solidFill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prstClr val="black"/>
                </a:solidFill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8335802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D2CB9-6524-4AED-8C5E-C8E357186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0A2EE2-2501-4E10-82AD-02874E149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869A-6870-40F5-96D3-12CA8221DA41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C0343E-526B-4FC6-AC4C-91D158D7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81276B-0061-4F99-90E5-6B1713696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52A7-4020-4BE0-BEA8-7BB3B1928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4945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14E439-317C-4EE7-ADAF-4F936CE0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869A-6870-40F5-96D3-12CA8221DA41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240988-2559-46F8-B814-941F2F00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06F9F5-EC9B-4A75-BAD3-CCB761E4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52A7-4020-4BE0-BEA8-7BB3B1928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7862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0AF34-783A-4D14-A057-03612D702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B484C-3CB2-40C8-A4FA-15D75E386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1BDF20-5FCE-4334-9889-6FC6A09AD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909B24-9DCE-4350-8FC6-478E41207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869A-6870-40F5-96D3-12CA8221DA41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634CB8-7FA0-4B6B-995F-B15B4334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749B07-BFAD-4ADE-8F3A-2E2B8C51D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52A7-4020-4BE0-BEA8-7BB3B1928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7179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8FB78F-03D9-49F3-9329-B47231AB4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07B96E-97D7-4354-9669-5A4AA35ED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A492FF-9F52-47D5-8192-4E81A48D7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D069F7-7932-4D72-A466-0D5B1C3D6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869A-6870-40F5-96D3-12CA8221DA41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A1AF96-8262-4243-8D6E-64FD7139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61A10F-CF93-4D2D-A525-CCAC3A375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52A7-4020-4BE0-BEA8-7BB3B1928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381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5B551-7A26-4C39-AE61-C2BA8C8B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73C95A-1961-4125-82DF-A550C8DAC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1EE839-EF2A-4B9B-BE65-39B9DA6D4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869A-6870-40F5-96D3-12CA8221DA41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8ECFD-955A-4C0F-B0F4-738D2144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C176A1-1CBA-4FC8-A2F3-55B52753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52A7-4020-4BE0-BEA8-7BB3B1928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0288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631C3B-A972-466D-B6EF-A66709A0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9F4028-71B4-420B-AE1A-6669E5A98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FD14D3-C133-472E-AEBD-C9E4C63E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869A-6870-40F5-96D3-12CA8221DA41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92E645-3A33-4C22-AA64-8D4AB5FC9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C00ADB-97E4-4715-B2CD-7A35CDE26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52A7-4020-4BE0-BEA8-7BB3B1928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6130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2022/10/12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1933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2022/10/12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7811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4163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F911F8-FF8C-418D-82BA-B9EB026E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61B2E1-B32F-42BD-8F80-25DA4D1E0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F5DC34-C5F8-4C39-B929-B3CB59710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B869A-6870-40F5-96D3-12CA8221DA41}" type="datetimeFigureOut">
              <a:rPr lang="zh-CN" altLang="en-US" smtClean="0"/>
              <a:t>2022/10/12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DD787B-D7CC-4482-9EA2-8DA122D9D3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0BCA14-6C0F-4B24-8760-BE487FEB7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952A7-4020-4BE0-BEA8-7BB3B1928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23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8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8.jpg"/><Relationship Id="rId4" Type="http://schemas.openxmlformats.org/officeDocument/2006/relationships/hyperlink" Target="http://www.chinadaily.com.cn/dfpd/jiandang90nian/2011-05/05/content_12481045.ht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9.png"/><Relationship Id="rId4" Type="http://schemas.openxmlformats.org/officeDocument/2006/relationships/hyperlink" Target="https://baike.baidu.com/item/%E6%AF%9B%E6%B3%BD%E4%B8%9C%E6%95%85%E5%B1%85/418719?fromModule=lemma_inlin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so.com/doc/4753705-4969111.html" TargetMode="External"/><Relationship Id="rId3" Type="http://schemas.openxmlformats.org/officeDocument/2006/relationships/image" Target="../media/image5.emf"/><Relationship Id="rId7" Type="http://schemas.openxmlformats.org/officeDocument/2006/relationships/hyperlink" Target="https://baike.so.com/doc/5408752-5646740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so.com/doc/2383110-2519797.html" TargetMode="Externa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4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2DB4177-1A98-FF58-5BFA-4A21955A97A0}"/>
              </a:ext>
            </a:extLst>
          </p:cNvPr>
          <p:cNvSpPr/>
          <p:nvPr/>
        </p:nvSpPr>
        <p:spPr>
          <a:xfrm>
            <a:off x="8511067" y="6697"/>
            <a:ext cx="2372400" cy="5071730"/>
          </a:xfrm>
          <a:prstGeom prst="rect">
            <a:avLst/>
          </a:prstGeom>
          <a:solidFill>
            <a:srgbClr val="F690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3D9D37-3E49-9524-25DC-2E0B4B36E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79891" cy="5065033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89C141B-2C1A-4814-8787-EBF50B4A5054}"/>
              </a:ext>
            </a:extLst>
          </p:cNvPr>
          <p:cNvCxnSpPr>
            <a:cxnSpLocks/>
          </p:cNvCxnSpPr>
          <p:nvPr/>
        </p:nvCxnSpPr>
        <p:spPr>
          <a:xfrm>
            <a:off x="11218819" y="0"/>
            <a:ext cx="0" cy="5071730"/>
          </a:xfrm>
          <a:prstGeom prst="line">
            <a:avLst/>
          </a:prstGeom>
          <a:ln w="63500">
            <a:solidFill>
              <a:srgbClr val="F690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4E30CF0-7E58-4A88-B9BC-6A7BFF4215B2}"/>
              </a:ext>
            </a:extLst>
          </p:cNvPr>
          <p:cNvSpPr txBox="1"/>
          <p:nvPr/>
        </p:nvSpPr>
        <p:spPr>
          <a:xfrm>
            <a:off x="7695029" y="344830"/>
            <a:ext cx="3508653" cy="472020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en-US" altLang="zh-CN" sz="3600" spc="6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3600" spc="6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         --</a:t>
            </a:r>
            <a:r>
              <a:rPr lang="zh-CN" altLang="en-US" sz="3600" spc="6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红色之旅</a:t>
            </a:r>
          </a:p>
          <a:p>
            <a:r>
              <a:rPr lang="zh-CN" altLang="en-US" sz="7200" spc="6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湖南</a:t>
            </a:r>
            <a:endParaRPr lang="en-US" altLang="zh-CN" sz="7200" spc="6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  <a:p>
            <a:endParaRPr lang="en-US" altLang="zh-CN" sz="7200" spc="6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4EEEA2-F48F-63E6-A26F-8C6B393E0778}"/>
              </a:ext>
            </a:extLst>
          </p:cNvPr>
          <p:cNvSpPr txBox="1"/>
          <p:nvPr/>
        </p:nvSpPr>
        <p:spPr>
          <a:xfrm>
            <a:off x="765496" y="5866839"/>
            <a:ext cx="9503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0" i="0" dirty="0">
                <a:solidFill>
                  <a:schemeClr val="bg1"/>
                </a:solidFill>
                <a:effectLst/>
                <a:latin typeface="华文琥珀" panose="02010800040101010101" pitchFamily="2" charset="-122"/>
                <a:ea typeface="华文琥珀" panose="02010800040101010101" pitchFamily="2" charset="-122"/>
              </a:rPr>
              <a:t>追寻红色足迹，感受红色情怀，传承红色基因</a:t>
            </a:r>
            <a:endParaRPr lang="zh-CN" altLang="en-US" sz="3600" dirty="0">
              <a:solidFill>
                <a:schemeClr val="bg1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24439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304D647-5504-4D8B-BF2E-BA929FEDFE4C}"/>
              </a:ext>
            </a:extLst>
          </p:cNvPr>
          <p:cNvGrpSpPr/>
          <p:nvPr/>
        </p:nvGrpSpPr>
        <p:grpSpPr>
          <a:xfrm>
            <a:off x="4768304" y="2137440"/>
            <a:ext cx="2655393" cy="1200329"/>
            <a:chOff x="4758261" y="2137440"/>
            <a:chExt cx="2655393" cy="1200329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650D39D-D911-405B-BEB4-D67D92C94D61}"/>
                </a:ext>
              </a:extLst>
            </p:cNvPr>
            <p:cNvSpPr txBox="1"/>
            <p:nvPr/>
          </p:nvSpPr>
          <p:spPr>
            <a:xfrm>
              <a:off x="5027173" y="2137440"/>
              <a:ext cx="203132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7200" dirty="0">
                  <a:cs typeface="+mn-ea"/>
                  <a:sym typeface="+mn-lt"/>
                </a:rPr>
                <a:t>目录</a:t>
              </a: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8BAE5F9-7C89-492A-81C9-3FB092B4A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8100000">
              <a:off x="4758261" y="2444246"/>
              <a:ext cx="569218" cy="529051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81CF43E-4A01-4501-B61E-67141C18C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3500000" flipH="1">
              <a:off x="6864520" y="2444244"/>
              <a:ext cx="569218" cy="529051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F8FD23C-26E4-4DC9-AC80-E0CAF3A9001B}"/>
              </a:ext>
            </a:extLst>
          </p:cNvPr>
          <p:cNvGrpSpPr/>
          <p:nvPr/>
        </p:nvGrpSpPr>
        <p:grpSpPr>
          <a:xfrm>
            <a:off x="8971025" y="3611974"/>
            <a:ext cx="1123588" cy="1906289"/>
            <a:chOff x="2055548" y="3684182"/>
            <a:chExt cx="1123588" cy="190628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966AB88A-617C-4FF2-88A2-0DCB6E6CF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55548" y="3684182"/>
              <a:ext cx="1123588" cy="1130356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1B56A3A-5BD8-4C2F-A7F6-50BBB3FED5BB}"/>
                </a:ext>
              </a:extLst>
            </p:cNvPr>
            <p:cNvSpPr txBox="1"/>
            <p:nvPr/>
          </p:nvSpPr>
          <p:spPr>
            <a:xfrm>
              <a:off x="2063344" y="4944140"/>
              <a:ext cx="1107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600" b="1" dirty="0">
                  <a:cs typeface="+mn-ea"/>
                  <a:sym typeface="+mn-lt"/>
                </a:rPr>
                <a:t>龙山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B72BCD9-D387-84BA-3764-D7D0EB9738C3}"/>
              </a:ext>
            </a:extLst>
          </p:cNvPr>
          <p:cNvGrpSpPr/>
          <p:nvPr/>
        </p:nvGrpSpPr>
        <p:grpSpPr>
          <a:xfrm>
            <a:off x="1934449" y="3611974"/>
            <a:ext cx="1123588" cy="1906289"/>
            <a:chOff x="1785412" y="3912135"/>
            <a:chExt cx="1123588" cy="190628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B7260D7-31B9-4D0B-BC75-FAE30584A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85412" y="3912135"/>
              <a:ext cx="1123588" cy="1130356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226B09A-8C8A-24D2-80DF-24722BB495BB}"/>
                </a:ext>
              </a:extLst>
            </p:cNvPr>
            <p:cNvSpPr txBox="1"/>
            <p:nvPr/>
          </p:nvSpPr>
          <p:spPr>
            <a:xfrm>
              <a:off x="1793208" y="5172093"/>
              <a:ext cx="11079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600" b="1" dirty="0">
                  <a:cs typeface="+mn-ea"/>
                  <a:sym typeface="+mn-lt"/>
                </a:rPr>
                <a:t>韶山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FC5305B-E494-3E8E-AAC2-B1F658EA95E1}"/>
              </a:ext>
            </a:extLst>
          </p:cNvPr>
          <p:cNvGrpSpPr/>
          <p:nvPr/>
        </p:nvGrpSpPr>
        <p:grpSpPr>
          <a:xfrm>
            <a:off x="5229701" y="3611974"/>
            <a:ext cx="1569661" cy="1945422"/>
            <a:chOff x="4008540" y="3912135"/>
            <a:chExt cx="1569661" cy="1945422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DE35C4C-4BAF-45F7-B9F1-DFC9CDE1D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84608" y="3912135"/>
              <a:ext cx="1123588" cy="1130356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4ABF4FE-0992-D547-F69C-F0A88EE4BF85}"/>
                </a:ext>
              </a:extLst>
            </p:cNvPr>
            <p:cNvSpPr txBox="1"/>
            <p:nvPr/>
          </p:nvSpPr>
          <p:spPr>
            <a:xfrm>
              <a:off x="4008540" y="5211226"/>
              <a:ext cx="15696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600" b="1" dirty="0">
                  <a:cs typeface="+mn-ea"/>
                  <a:sym typeface="+mn-lt"/>
                </a:rPr>
                <a:t>橘子洲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89C8CF-BF11-3D4A-3AD7-B7B42EB18C00}"/>
              </a:ext>
            </a:extLst>
          </p:cNvPr>
          <p:cNvGrpSpPr/>
          <p:nvPr/>
        </p:nvGrpSpPr>
        <p:grpSpPr>
          <a:xfrm flipV="1">
            <a:off x="0" y="474998"/>
            <a:ext cx="12192000" cy="357858"/>
            <a:chOff x="79041" y="1145875"/>
            <a:chExt cx="12183497" cy="357858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0487072B-3987-79B3-2149-6D74092C1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96000" y="1148316"/>
              <a:ext cx="6166538" cy="355417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5C249735-495D-35C8-51F6-8A37B758B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041" y="1145875"/>
              <a:ext cx="6166538" cy="3554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35955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4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FDCAA1-A654-4843-8AD9-998857ED8C3A}"/>
              </a:ext>
            </a:extLst>
          </p:cNvPr>
          <p:cNvCxnSpPr/>
          <p:nvPr/>
        </p:nvCxnSpPr>
        <p:spPr>
          <a:xfrm>
            <a:off x="0" y="3258876"/>
            <a:ext cx="5996763" cy="0"/>
          </a:xfrm>
          <a:prstGeom prst="line">
            <a:avLst/>
          </a:prstGeom>
          <a:ln w="635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ACAF86D-D786-46F9-A38B-FFF8E34C0DDC}"/>
              </a:ext>
            </a:extLst>
          </p:cNvPr>
          <p:cNvSpPr txBox="1"/>
          <p:nvPr/>
        </p:nvSpPr>
        <p:spPr>
          <a:xfrm>
            <a:off x="3654306" y="3398940"/>
            <a:ext cx="24416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88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韶山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9E2AB1-477C-4CFD-BF46-D8F34C68ABE9}"/>
              </a:ext>
            </a:extLst>
          </p:cNvPr>
          <p:cNvSpPr txBox="1"/>
          <p:nvPr/>
        </p:nvSpPr>
        <p:spPr>
          <a:xfrm>
            <a:off x="1916651" y="2360674"/>
            <a:ext cx="41793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400" b="1" dirty="0">
                <a:ln w="127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38100">
                    <a:schemeClr val="bg1">
                      <a:lumMod val="95000"/>
                      <a:alpha val="40000"/>
                    </a:schemeClr>
                  </a:glow>
                </a:effectLst>
                <a:cs typeface="+mn-ea"/>
                <a:sym typeface="+mn-lt"/>
              </a:rPr>
              <a:t>湖南</a:t>
            </a:r>
            <a:r>
              <a:rPr lang="en-US" altLang="zh-CN" sz="4400" b="1" dirty="0">
                <a:ln w="127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38100">
                    <a:schemeClr val="bg1">
                      <a:lumMod val="95000"/>
                      <a:alpha val="40000"/>
                    </a:schemeClr>
                  </a:glow>
                </a:effectLst>
                <a:cs typeface="+mn-ea"/>
                <a:sym typeface="+mn-lt"/>
              </a:rPr>
              <a:t>—</a:t>
            </a:r>
            <a:r>
              <a:rPr lang="zh-CN" altLang="en-US" sz="4400" b="1" dirty="0">
                <a:ln w="127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38100">
                    <a:schemeClr val="bg1">
                      <a:lumMod val="95000"/>
                      <a:alpha val="40000"/>
                    </a:schemeClr>
                  </a:glow>
                </a:effectLst>
                <a:cs typeface="+mn-ea"/>
                <a:sym typeface="+mn-lt"/>
              </a:rPr>
              <a:t>红色之旅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36EE29D-E616-4E00-855E-66F177D48A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706" y="2383280"/>
            <a:ext cx="742363" cy="74683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6AB9E88-4FE4-3979-24A7-B7476748D7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794" y="606504"/>
            <a:ext cx="5524500" cy="558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043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F9AFD7C8-FE05-4CF0-BC2A-7E0C0CA9BB67}"/>
              </a:ext>
            </a:extLst>
          </p:cNvPr>
          <p:cNvGrpSpPr/>
          <p:nvPr/>
        </p:nvGrpSpPr>
        <p:grpSpPr>
          <a:xfrm>
            <a:off x="6996169" y="1447713"/>
            <a:ext cx="3997842" cy="1092071"/>
            <a:chOff x="6395719" y="1043674"/>
            <a:chExt cx="3997842" cy="109207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8139C91-4713-4EBB-8BBA-1250DF9DE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6174354" y="1265039"/>
              <a:ext cx="1053867" cy="611138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C5724D5-F94F-4627-B89A-797A4BEC72F8}"/>
                </a:ext>
              </a:extLst>
            </p:cNvPr>
            <p:cNvSpPr txBox="1"/>
            <p:nvPr/>
          </p:nvSpPr>
          <p:spPr>
            <a:xfrm>
              <a:off x="7498936" y="1081879"/>
              <a:ext cx="168507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6000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韶山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621705B-EB52-4A34-9BB9-8BBEC8827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 flipH="1">
              <a:off x="9561058" y="1303243"/>
              <a:ext cx="1053867" cy="611138"/>
            </a:xfrm>
            <a:prstGeom prst="rect">
              <a:avLst/>
            </a:prstGeom>
          </p:spPr>
        </p:pic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A3CA486B-325C-49D5-9B0F-D73436C61F23}"/>
              </a:ext>
            </a:extLst>
          </p:cNvPr>
          <p:cNvSpPr/>
          <p:nvPr/>
        </p:nvSpPr>
        <p:spPr>
          <a:xfrm>
            <a:off x="6467564" y="3204436"/>
            <a:ext cx="533073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韶山位于距湘潭市</a:t>
            </a:r>
            <a:r>
              <a:rPr lang="en-US" altLang="zh-CN" sz="2400" dirty="0"/>
              <a:t>40</a:t>
            </a:r>
            <a:r>
              <a:rPr lang="zh-CN" altLang="en-US" sz="2400" dirty="0"/>
              <a:t>公里的地方，离长沙</a:t>
            </a:r>
            <a:r>
              <a:rPr lang="en-US" altLang="zh-CN" sz="2400" dirty="0"/>
              <a:t>100</a:t>
            </a:r>
            <a:r>
              <a:rPr lang="zh-CN" altLang="en-US" sz="2400" dirty="0"/>
              <a:t>公里，传说舜曾在这里演奏过“</a:t>
            </a:r>
            <a:r>
              <a:rPr lang="zh-CN" altLang="en-US" sz="2400" dirty="0">
                <a:hlinkClick r:id="rId4"/>
              </a:rPr>
              <a:t>韶乐</a:t>
            </a:r>
            <a:r>
              <a:rPr lang="zh-CN" altLang="en-US" sz="2400" dirty="0"/>
              <a:t>”。这是一块山明水秀的地方，一直到近代它都是与世隔绝的世外桃源，伟人毛泽东就出生在这里，并在此度过了青少年时代。</a:t>
            </a:r>
            <a:endParaRPr lang="zh-CN" altLang="en-US" sz="2400" spc="3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79409C2-FA3B-59DB-506D-EDFFE77943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1312141"/>
            <a:ext cx="5702300" cy="412183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2DFBA8C3-90C0-92F6-0616-46F1BD1BA9D1}"/>
              </a:ext>
            </a:extLst>
          </p:cNvPr>
          <p:cNvGrpSpPr/>
          <p:nvPr/>
        </p:nvGrpSpPr>
        <p:grpSpPr>
          <a:xfrm>
            <a:off x="8503" y="431202"/>
            <a:ext cx="12183497" cy="357858"/>
            <a:chOff x="79041" y="1145875"/>
            <a:chExt cx="12183497" cy="35785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E50CFE2F-0CBC-1265-4EC3-BB1438DEE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96000" y="1148316"/>
              <a:ext cx="6166538" cy="355417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4E0BAB6E-C269-20EB-FCDF-5145E860B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041" y="1145875"/>
              <a:ext cx="6166538" cy="355417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D4FAAD7-DE0F-B6AD-ACA0-98E816312DF4}"/>
              </a:ext>
            </a:extLst>
          </p:cNvPr>
          <p:cNvGrpSpPr/>
          <p:nvPr/>
        </p:nvGrpSpPr>
        <p:grpSpPr>
          <a:xfrm flipV="1">
            <a:off x="8503" y="6177411"/>
            <a:ext cx="12183497" cy="357858"/>
            <a:chOff x="79041" y="1145875"/>
            <a:chExt cx="12183497" cy="357858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7761D944-2458-1E01-507D-739D9F819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96000" y="1148316"/>
              <a:ext cx="6166538" cy="355417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C6C036AA-5C6C-FF7F-F3EE-E0DD6C2FE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041" y="1145875"/>
              <a:ext cx="6166538" cy="3554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17227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341BB12A-B7B1-4006-AE4F-384FA8A5C1A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95" y="2210667"/>
            <a:ext cx="527865" cy="5310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195" y="6581464"/>
            <a:ext cx="1440159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bg1"/>
                </a:solidFill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bg1"/>
                </a:solidFill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bg1"/>
                </a:solidFill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BF8281-4164-C506-08E4-54F7C2EEDC9E}"/>
              </a:ext>
            </a:extLst>
          </p:cNvPr>
          <p:cNvSpPr txBox="1"/>
          <p:nvPr/>
        </p:nvSpPr>
        <p:spPr>
          <a:xfrm>
            <a:off x="640060" y="2244096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主要景点是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4"/>
              </a:rPr>
              <a:t>毛泽东故居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、铜像广场、滴水洞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E43123-0EAD-6B95-D8D5-701178D4A9FC}"/>
              </a:ext>
            </a:extLst>
          </p:cNvPr>
          <p:cNvSpPr txBox="1"/>
          <p:nvPr/>
        </p:nvSpPr>
        <p:spPr>
          <a:xfrm>
            <a:off x="515486" y="3452828"/>
            <a:ext cx="44785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毛泽东故居：</a:t>
            </a: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997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年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7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月，入选中宣部首批全国爱国主义教育基地。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6A549B3-9E60-C6C8-0E9F-BC38510BBFB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041" y="3403218"/>
            <a:ext cx="527865" cy="53104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2BB778D-42D2-9461-940B-6823934B4B9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16"/>
          <a:stretch/>
        </p:blipFill>
        <p:spPr>
          <a:xfrm>
            <a:off x="5430476" y="1650100"/>
            <a:ext cx="6098344" cy="3836299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AC5140-5322-8E6D-6BF9-E26E0A0F4D6F}"/>
              </a:ext>
            </a:extLst>
          </p:cNvPr>
          <p:cNvGrpSpPr/>
          <p:nvPr/>
        </p:nvGrpSpPr>
        <p:grpSpPr>
          <a:xfrm>
            <a:off x="8503" y="572928"/>
            <a:ext cx="12183497" cy="357858"/>
            <a:chOff x="79041" y="1145875"/>
            <a:chExt cx="12183497" cy="357858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B7BC65B1-01A2-6B9D-007B-D298E0523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96000" y="1148316"/>
              <a:ext cx="6166538" cy="355417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1AAE290A-A17A-1056-4CC2-70DF34E9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041" y="1145875"/>
              <a:ext cx="6166538" cy="355417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24A2530-51DB-BAC3-AC67-F973884A9DDC}"/>
              </a:ext>
            </a:extLst>
          </p:cNvPr>
          <p:cNvGrpSpPr/>
          <p:nvPr/>
        </p:nvGrpSpPr>
        <p:grpSpPr>
          <a:xfrm flipV="1">
            <a:off x="8503" y="6103702"/>
            <a:ext cx="12183497" cy="357858"/>
            <a:chOff x="79041" y="1145875"/>
            <a:chExt cx="12183497" cy="357858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BDC397D6-ACA2-958E-3370-AE724A93E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96000" y="1148316"/>
              <a:ext cx="6166538" cy="355417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D982D8ED-0AF4-B355-A001-B0B0C8175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041" y="1145875"/>
              <a:ext cx="6166538" cy="3554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30589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4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FDCAA1-A654-4843-8AD9-998857ED8C3A}"/>
              </a:ext>
            </a:extLst>
          </p:cNvPr>
          <p:cNvCxnSpPr/>
          <p:nvPr/>
        </p:nvCxnSpPr>
        <p:spPr>
          <a:xfrm>
            <a:off x="0" y="3258876"/>
            <a:ext cx="5996763" cy="0"/>
          </a:xfrm>
          <a:prstGeom prst="line">
            <a:avLst/>
          </a:prstGeom>
          <a:ln w="635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ACAF86D-D786-46F9-A38B-FFF8E34C0DDC}"/>
              </a:ext>
            </a:extLst>
          </p:cNvPr>
          <p:cNvSpPr txBox="1"/>
          <p:nvPr/>
        </p:nvSpPr>
        <p:spPr>
          <a:xfrm>
            <a:off x="2525792" y="3398940"/>
            <a:ext cx="357020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88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橘子洲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B0A9ED-1EA6-3DF1-537B-5629B34E1C0F}"/>
              </a:ext>
            </a:extLst>
          </p:cNvPr>
          <p:cNvSpPr txBox="1"/>
          <p:nvPr/>
        </p:nvSpPr>
        <p:spPr>
          <a:xfrm>
            <a:off x="1916651" y="2349372"/>
            <a:ext cx="41793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400" b="1" dirty="0">
                <a:ln w="127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38100">
                    <a:schemeClr val="bg1">
                      <a:lumMod val="95000"/>
                      <a:alpha val="40000"/>
                    </a:schemeClr>
                  </a:glow>
                </a:effectLst>
                <a:cs typeface="+mn-ea"/>
                <a:sym typeface="+mn-lt"/>
              </a:rPr>
              <a:t>湖南</a:t>
            </a:r>
            <a:r>
              <a:rPr lang="en-US" altLang="zh-CN" sz="4400" b="1" dirty="0">
                <a:ln w="127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38100">
                    <a:schemeClr val="bg1">
                      <a:lumMod val="95000"/>
                      <a:alpha val="40000"/>
                    </a:schemeClr>
                  </a:glow>
                </a:effectLst>
                <a:cs typeface="+mn-ea"/>
                <a:sym typeface="+mn-lt"/>
              </a:rPr>
              <a:t>—</a:t>
            </a:r>
            <a:r>
              <a:rPr lang="zh-CN" altLang="en-US" sz="4400" b="1" dirty="0">
                <a:ln w="127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38100">
                    <a:schemeClr val="bg1">
                      <a:lumMod val="95000"/>
                      <a:alpha val="40000"/>
                    </a:schemeClr>
                  </a:glow>
                </a:effectLst>
                <a:cs typeface="+mn-ea"/>
                <a:sym typeface="+mn-lt"/>
              </a:rPr>
              <a:t>红色之旅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14C6A9-F538-4A98-0692-C6E07B3E51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706" y="2371978"/>
            <a:ext cx="742363" cy="74683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6AFEF66-CD83-B702-3C6D-A43766721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743" y="469161"/>
            <a:ext cx="5114551" cy="55794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460659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750"/>
                            </p:stCondLst>
                            <p:childTnLst>
                              <p:par>
                                <p:cTn id="1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AFD3895-D5B6-4A9D-BB0D-0443109CB35A}"/>
              </a:ext>
            </a:extLst>
          </p:cNvPr>
          <p:cNvSpPr/>
          <p:nvPr/>
        </p:nvSpPr>
        <p:spPr>
          <a:xfrm>
            <a:off x="0" y="653903"/>
            <a:ext cx="12192000" cy="5550195"/>
          </a:xfrm>
          <a:prstGeom prst="rect">
            <a:avLst/>
          </a:prstGeom>
          <a:solidFill>
            <a:srgbClr val="CA4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B4A8125-152D-4167-A189-ED07FBAC5DDA}"/>
              </a:ext>
            </a:extLst>
          </p:cNvPr>
          <p:cNvCxnSpPr/>
          <p:nvPr/>
        </p:nvCxnSpPr>
        <p:spPr>
          <a:xfrm>
            <a:off x="0" y="318978"/>
            <a:ext cx="12192000" cy="0"/>
          </a:xfrm>
          <a:prstGeom prst="line">
            <a:avLst/>
          </a:prstGeom>
          <a:ln w="63500">
            <a:solidFill>
              <a:srgbClr val="CA4E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8FE7B8D-0C62-44C9-9422-E155F81A048E}"/>
              </a:ext>
            </a:extLst>
          </p:cNvPr>
          <p:cNvCxnSpPr/>
          <p:nvPr/>
        </p:nvCxnSpPr>
        <p:spPr>
          <a:xfrm>
            <a:off x="0" y="6539022"/>
            <a:ext cx="12192000" cy="0"/>
          </a:xfrm>
          <a:prstGeom prst="line">
            <a:avLst/>
          </a:prstGeom>
          <a:ln w="63500">
            <a:solidFill>
              <a:srgbClr val="CA4E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BC666D3C-6D51-4552-B738-CB3F4869F56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198" y="1271303"/>
            <a:ext cx="742363" cy="74683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522A567-1B28-17BA-1547-DE3DA7DAD9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100000" l="111" r="99834">
                        <a14:backgroundMark x1="87320" y1="30167" x2="88815" y2="33250"/>
                        <a14:backgroundMark x1="84275" y1="31583" x2="84275" y2="31583"/>
                        <a14:backgroundMark x1="82946" y1="37167" x2="83278" y2="37750"/>
                        <a14:backgroundMark x1="86489" y1="43750" x2="86434" y2="44000"/>
                        <a14:backgroundMark x1="87209" y1="44500" x2="87209" y2="44500"/>
                        <a14:backgroundMark x1="87486" y1="39833" x2="87486" y2="39833"/>
                        <a14:backgroundMark x1="98117" y1="45667" x2="98117" y2="45667"/>
                        <a14:backgroundMark x1="98117" y1="45167" x2="97730" y2="4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7530" b="14392"/>
          <a:stretch/>
        </p:blipFill>
        <p:spPr>
          <a:xfrm>
            <a:off x="0" y="-113603"/>
            <a:ext cx="12192000" cy="63177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FD8F9F5-7B61-722B-5BAA-6F1BF88CE039}"/>
              </a:ext>
            </a:extLst>
          </p:cNvPr>
          <p:cNvSpPr txBox="1"/>
          <p:nvPr/>
        </p:nvSpPr>
        <p:spPr>
          <a:xfrm>
            <a:off x="1220759" y="1257244"/>
            <a:ext cx="384438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i="0" dirty="0">
                <a:effectLst/>
                <a:latin typeface="+mj-lt"/>
              </a:rPr>
              <a:t>橘子洲位于</a:t>
            </a:r>
            <a:r>
              <a:rPr lang="zh-CN" altLang="en-US" sz="2000" b="0" i="0" strike="noStrike" dirty="0">
                <a:effectLst/>
                <a:latin typeface="+mj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长沙</a:t>
            </a:r>
            <a:r>
              <a:rPr lang="zh-CN" altLang="en-US" sz="2000" b="0" i="0" dirty="0">
                <a:effectLst/>
                <a:latin typeface="+mj-lt"/>
              </a:rPr>
              <a:t>市区中</a:t>
            </a:r>
            <a:r>
              <a:rPr lang="zh-CN" altLang="en-US" sz="2000" b="0" i="0" strike="noStrike" dirty="0">
                <a:effectLst/>
                <a:latin typeface="+mj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湘江</a:t>
            </a:r>
            <a:r>
              <a:rPr lang="zh-CN" altLang="en-US" sz="2000" b="0" i="0" dirty="0">
                <a:effectLst/>
                <a:latin typeface="+mj-lt"/>
              </a:rPr>
              <a:t>江心，是</a:t>
            </a:r>
            <a:r>
              <a:rPr lang="zh-CN" altLang="en-US" sz="2000" b="0" i="0" strike="noStrike" dirty="0">
                <a:effectLst/>
                <a:latin typeface="+mj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湘江</a:t>
            </a:r>
            <a:r>
              <a:rPr lang="zh-CN" altLang="en-US" sz="2000" b="0" i="0" dirty="0">
                <a:effectLst/>
                <a:latin typeface="+mj-lt"/>
              </a:rPr>
              <a:t>中最大的名洲，由南至北，横贯江心，西望</a:t>
            </a:r>
            <a:r>
              <a:rPr lang="zh-CN" altLang="en-US" sz="2000" b="0" i="0" strike="noStrike" dirty="0">
                <a:effectLst/>
                <a:latin typeface="+mj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岳麓山</a:t>
            </a:r>
            <a:r>
              <a:rPr lang="zh-CN" altLang="en-US" sz="2000" b="0" i="0" dirty="0">
                <a:effectLst/>
                <a:latin typeface="+mj-lt"/>
              </a:rPr>
              <a:t>，东临长沙城，四面环水，绵延数十里，狭处横约</a:t>
            </a:r>
            <a:r>
              <a:rPr lang="en-US" altLang="zh-CN" sz="2000" b="0" i="0" dirty="0">
                <a:effectLst/>
                <a:latin typeface="+mj-lt"/>
              </a:rPr>
              <a:t>40</a:t>
            </a:r>
            <a:r>
              <a:rPr lang="zh-CN" altLang="en-US" sz="2000" b="0" i="0" dirty="0">
                <a:effectLst/>
                <a:latin typeface="+mj-lt"/>
              </a:rPr>
              <a:t>米，宽处横约</a:t>
            </a:r>
            <a:r>
              <a:rPr lang="en-US" altLang="zh-CN" sz="2000" b="0" i="0" dirty="0">
                <a:effectLst/>
                <a:latin typeface="+mj-lt"/>
              </a:rPr>
              <a:t>140</a:t>
            </a:r>
            <a:r>
              <a:rPr lang="zh-CN" altLang="en-US" sz="2000" b="0" i="0" dirty="0">
                <a:effectLst/>
                <a:latin typeface="+mj-lt"/>
              </a:rPr>
              <a:t>米，形状是一个长岛，是长沙的重要名胜之一、国家</a:t>
            </a:r>
            <a:r>
              <a:rPr lang="en-US" altLang="zh-CN" sz="2000" b="0" i="0" dirty="0">
                <a:effectLst/>
                <a:latin typeface="+mj-lt"/>
              </a:rPr>
              <a:t>AAAAA</a:t>
            </a:r>
            <a:r>
              <a:rPr lang="zh-CN" altLang="en-US" sz="2000" b="0" i="0" dirty="0">
                <a:effectLst/>
                <a:latin typeface="+mj-lt"/>
              </a:rPr>
              <a:t>级旅游景区、国家重点风景名胜区、长沙“山、水、洲、城”旅游格局的核心要素。</a:t>
            </a:r>
            <a:endParaRPr lang="zh-CN" alt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484594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4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FDCAA1-A654-4843-8AD9-998857ED8C3A}"/>
              </a:ext>
            </a:extLst>
          </p:cNvPr>
          <p:cNvCxnSpPr/>
          <p:nvPr/>
        </p:nvCxnSpPr>
        <p:spPr>
          <a:xfrm>
            <a:off x="0" y="3258876"/>
            <a:ext cx="5996763" cy="0"/>
          </a:xfrm>
          <a:prstGeom prst="line">
            <a:avLst/>
          </a:prstGeom>
          <a:ln w="635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ACAF86D-D786-46F9-A38B-FFF8E34C0DDC}"/>
              </a:ext>
            </a:extLst>
          </p:cNvPr>
          <p:cNvSpPr txBox="1"/>
          <p:nvPr/>
        </p:nvSpPr>
        <p:spPr>
          <a:xfrm>
            <a:off x="3654306" y="3398940"/>
            <a:ext cx="24416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88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龙山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C491B3-CB3B-180F-7BB1-3F6ACADDD9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65"/>
          <a:stretch/>
        </p:blipFill>
        <p:spPr>
          <a:xfrm>
            <a:off x="6841345" y="590843"/>
            <a:ext cx="4679827" cy="567631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E7118F3-3329-B19D-8857-1DFE06092FC0}"/>
              </a:ext>
            </a:extLst>
          </p:cNvPr>
          <p:cNvSpPr txBox="1"/>
          <p:nvPr/>
        </p:nvSpPr>
        <p:spPr>
          <a:xfrm>
            <a:off x="1817414" y="2349372"/>
            <a:ext cx="41793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400" b="1" dirty="0">
                <a:ln w="127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38100">
                    <a:schemeClr val="bg1">
                      <a:lumMod val="95000"/>
                      <a:alpha val="40000"/>
                    </a:schemeClr>
                  </a:glow>
                </a:effectLst>
                <a:cs typeface="+mn-ea"/>
                <a:sym typeface="+mn-lt"/>
              </a:rPr>
              <a:t>湖南</a:t>
            </a:r>
            <a:r>
              <a:rPr lang="en-US" altLang="zh-CN" sz="4400" b="1" dirty="0">
                <a:ln w="127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38100">
                    <a:schemeClr val="bg1">
                      <a:lumMod val="95000"/>
                      <a:alpha val="40000"/>
                    </a:schemeClr>
                  </a:glow>
                </a:effectLst>
                <a:cs typeface="+mn-ea"/>
                <a:sym typeface="+mn-lt"/>
              </a:rPr>
              <a:t>—</a:t>
            </a:r>
            <a:r>
              <a:rPr lang="zh-CN" altLang="en-US" sz="4400" b="1" dirty="0">
                <a:ln w="127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38100">
                    <a:schemeClr val="bg1">
                      <a:lumMod val="95000"/>
                      <a:alpha val="40000"/>
                    </a:schemeClr>
                  </a:glow>
                </a:effectLst>
                <a:cs typeface="+mn-ea"/>
                <a:sym typeface="+mn-lt"/>
              </a:rPr>
              <a:t>红色之旅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989A24A-1006-E31B-39DD-2409EFCB4DA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469" y="2371978"/>
            <a:ext cx="742363" cy="746835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6AE85158-3281-36C8-DF67-064216913803}"/>
              </a:ext>
            </a:extLst>
          </p:cNvPr>
          <p:cNvSpPr/>
          <p:nvPr/>
        </p:nvSpPr>
        <p:spPr>
          <a:xfrm>
            <a:off x="8007658" y="1669002"/>
            <a:ext cx="701336" cy="612559"/>
          </a:xfrm>
          <a:prstGeom prst="ellipse">
            <a:avLst/>
          </a:prstGeom>
          <a:solidFill>
            <a:srgbClr val="FF0000">
              <a:alpha val="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5338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750"/>
                            </p:stCondLst>
                            <p:childTnLst>
                              <p:par>
                                <p:cTn id="1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4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895DA27C-270A-4547-94F8-B3E581CB4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392" y="399449"/>
            <a:ext cx="6501798" cy="502702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3200"/>
              </a:lnSpc>
            </a:pPr>
            <a:r>
              <a:rPr lang="zh-CN" altLang="en-US" sz="2800" spc="3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重温红色记忆，再现光辉历史</a:t>
            </a:r>
            <a:endParaRPr lang="en-US" altLang="zh-CN" sz="2800" spc="3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B03209A-2AA2-45FD-818B-4DF9B4B18D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6740" y="325577"/>
            <a:ext cx="611305" cy="61498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0B3AD57-B06B-4A25-AE1E-1C782315EC9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8541" y="327985"/>
            <a:ext cx="611305" cy="61498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4DBA732-ED4C-3D2A-8F55-1A8CC7D94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84143"/>
            <a:ext cx="12191999" cy="537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430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rgbClr val="CF463D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553693F-611C-4276-8985-7DC456560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9" r="17609"/>
          <a:stretch/>
        </p:blipFill>
        <p:spPr>
          <a:xfrm>
            <a:off x="641568" y="331335"/>
            <a:ext cx="6195330" cy="6195330"/>
          </a:xfrm>
          <a:prstGeom prst="ellipse">
            <a:avLst/>
          </a:prstGeom>
          <a:ln w="127000">
            <a:solidFill>
              <a:srgbClr val="CA4E4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9B61485-D4D9-42DE-8670-1A14B89680BB}"/>
              </a:ext>
            </a:extLst>
          </p:cNvPr>
          <p:cNvSpPr/>
          <p:nvPr/>
        </p:nvSpPr>
        <p:spPr>
          <a:xfrm>
            <a:off x="7624525" y="0"/>
            <a:ext cx="4440865" cy="6858000"/>
          </a:xfrm>
          <a:prstGeom prst="rect">
            <a:avLst/>
          </a:prstGeom>
          <a:solidFill>
            <a:srgbClr val="CA4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0" i="0" dirty="0">
                <a:solidFill>
                  <a:schemeClr val="bg1"/>
                </a:solidFill>
                <a:effectLst/>
                <a:latin typeface="Microsoft Yahei, 宋体, Verdana, Geneva, sans-serif"/>
              </a:rPr>
              <a:t>湘鄂川黔革命根据地纪念馆</a:t>
            </a:r>
            <a:endParaRPr lang="en-US" altLang="zh-CN" sz="2400" b="0" i="0" dirty="0">
              <a:solidFill>
                <a:schemeClr val="bg1"/>
              </a:solidFill>
              <a:effectLst/>
              <a:latin typeface="Microsoft Yahei, 宋体, Verdana, Geneva, sans-serif"/>
            </a:endParaRPr>
          </a:p>
          <a:p>
            <a:pPr algn="ctr"/>
            <a:endParaRPr lang="en-US" altLang="zh-CN" sz="2400" dirty="0">
              <a:solidFill>
                <a:schemeClr val="bg1"/>
              </a:solidFill>
              <a:latin typeface="Microsoft Yahei, 宋体, Verdana, Geneva, sans-serif"/>
              <a:cs typeface="+mn-ea"/>
              <a:sym typeface="+mn-lt"/>
            </a:endParaRPr>
          </a:p>
          <a:p>
            <a:pPr algn="ctr"/>
            <a:endParaRPr lang="en-US" altLang="zh-CN" sz="2400" dirty="0">
              <a:solidFill>
                <a:schemeClr val="bg1"/>
              </a:solidFill>
              <a:latin typeface="Microsoft Yahei, 宋体, Verdana, Geneva, sans-serif"/>
              <a:cs typeface="+mn-ea"/>
              <a:sym typeface="+mn-lt"/>
            </a:endParaRPr>
          </a:p>
          <a:p>
            <a:pPr algn="ctr"/>
            <a:r>
              <a:rPr lang="zh-CN" altLang="en-US" sz="2400" b="0" i="0" dirty="0">
                <a:solidFill>
                  <a:schemeClr val="bg1"/>
                </a:solidFill>
                <a:effectLst/>
                <a:latin typeface="Microsoft Yahei, 宋体, Verdana, Geneva, sans-serif"/>
              </a:rPr>
              <a:t> 时光变迁，岁月以文物媒介，记载了那段历史的硝烟与战火，也传承了革命先烈们的坚韧与不屈，让革命精神永存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4787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4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E80759D-5110-442E-8DB0-106572F5241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-33989" y="548021"/>
            <a:ext cx="12259978" cy="5140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98B7DA4-D213-4186-A343-5742589AA80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 flipV="1">
            <a:off x="-33989" y="5795889"/>
            <a:ext cx="12259978" cy="51409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E3CF219-B201-48DE-85E4-76B09987D691}"/>
              </a:ext>
            </a:extLst>
          </p:cNvPr>
          <p:cNvSpPr txBox="1"/>
          <p:nvPr/>
        </p:nvSpPr>
        <p:spPr>
          <a:xfrm>
            <a:off x="3695343" y="2824524"/>
            <a:ext cx="4801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欢迎来湖南</a:t>
            </a:r>
            <a:endParaRPr lang="zh-CN" altLang="en-US" sz="72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FA096D5-1CCE-4554-8AEC-0555C5BA02D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0337" y="2833147"/>
            <a:ext cx="1184570" cy="11917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BB88031-523A-408F-8E9A-194A302069C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7092" y="2833147"/>
            <a:ext cx="1184570" cy="119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869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CORM_RATE_SLIDES" val="0"/>
  <p:tag name="ISPRING_SCORM_RATE_QUIZZES" val="0"/>
  <p:tag name="ISPRING_SCORM_PASSING_SCORE" val="0.000000"/>
  <p:tag name="ISPRING_ULTRA_SCORM_COURSE_ID" val="1F1E58C9-6E90-4127-8AE6-D2D91EE5DAD1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内容列表"/>
  <p:tag name="ISPRINGCLOUDFOLDERID" val="0"/>
  <p:tag name="ISPRINGCLOUDFOLDERPATH" val="资源库"/>
  <p:tag name="ISPRING_OUTPUT_FOLDER" val="G:\第十四批\606405"/>
  <p:tag name="ISPRING_PRESENTATION_TITLE" val="5a7e72f1d2aba"/>
  <p:tag name="ISPRING_FIRST_PUBLISH" val="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0yttvzf">
      <a:majorFont>
        <a:latin typeface="微软雅黑" panose="020F0302020204030204"/>
        <a:ea typeface="义启小魏楷"/>
        <a:cs typeface=""/>
      </a:majorFont>
      <a:minorFont>
        <a:latin typeface="微软雅黑" panose="020F0502020204030204"/>
        <a:ea typeface="义启小魏楷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295</Words>
  <Application>Microsoft Office PowerPoint</Application>
  <PresentationFormat>宽屏</PresentationFormat>
  <Paragraphs>38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Helvetica Neue</vt:lpstr>
      <vt:lpstr>Microsoft Yahei, 宋体, Verdana, Geneva, sans-serif</vt:lpstr>
      <vt:lpstr>等线</vt:lpstr>
      <vt:lpstr>华文琥珀</vt:lpstr>
      <vt:lpstr>微软雅黑</vt:lpstr>
      <vt:lpstr>Arial</vt:lpstr>
      <vt:lpstr>Calibri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故宫印象</dc:title>
  <dc:creator>第一PPT</dc:creator>
  <cp:keywords>www.1ppt.com</cp:keywords>
  <dc:description>www.1ppt.com</dc:description>
  <cp:lastModifiedBy>禹 骏</cp:lastModifiedBy>
  <cp:revision>146</cp:revision>
  <dcterms:created xsi:type="dcterms:W3CDTF">2018-02-10T00:38:19Z</dcterms:created>
  <dcterms:modified xsi:type="dcterms:W3CDTF">2022-10-12T09:38:05Z</dcterms:modified>
</cp:coreProperties>
</file>