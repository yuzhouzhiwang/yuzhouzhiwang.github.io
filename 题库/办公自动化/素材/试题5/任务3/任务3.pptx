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drawings/drawing1.xml" ContentType="application/vnd.openxmlformats-officedocument.drawingml.chartshapes+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89" r:id="rId4"/>
    <p:sldId id="259" r:id="rId5"/>
    <p:sldId id="260" r:id="rId6"/>
    <p:sldId id="290" r:id="rId7"/>
    <p:sldId id="264" r:id="rId8"/>
    <p:sldId id="265" r:id="rId9"/>
    <p:sldId id="266" r:id="rId10"/>
    <p:sldId id="274" r:id="rId11"/>
    <p:sldId id="291" r:id="rId12"/>
    <p:sldId id="268" r:id="rId13"/>
    <p:sldId id="269" r:id="rId14"/>
    <p:sldId id="270" r:id="rId15"/>
    <p:sldId id="294" r:id="rId16"/>
    <p:sldId id="292" r:id="rId17"/>
    <p:sldId id="275" r:id="rId18"/>
    <p:sldId id="276" r:id="rId19"/>
    <p:sldId id="295" r:id="rId20"/>
    <p:sldId id="293" r:id="rId21"/>
    <p:sldId id="280" r:id="rId22"/>
    <p:sldId id="281" r:id="rId23"/>
    <p:sldId id="296" r:id="rId24"/>
    <p:sldId id="288" r:id="rId25"/>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E0ADE662-0275-4171-B229-5505BA12967F}">
          <p14:sldIdLst>
            <p14:sldId id="256"/>
            <p14:sldId id="257"/>
            <p14:sldId id="289"/>
            <p14:sldId id="259"/>
            <p14:sldId id="260"/>
            <p14:sldId id="290"/>
            <p14:sldId id="264"/>
            <p14:sldId id="265"/>
            <p14:sldId id="266"/>
            <p14:sldId id="274"/>
            <p14:sldId id="291"/>
            <p14:sldId id="268"/>
            <p14:sldId id="269"/>
            <p14:sldId id="270"/>
            <p14:sldId id="294"/>
            <p14:sldId id="292"/>
            <p14:sldId id="275"/>
            <p14:sldId id="276"/>
            <p14:sldId id="295"/>
            <p14:sldId id="293"/>
            <p14:sldId id="280"/>
            <p14:sldId id="281"/>
            <p14:sldId id="296"/>
            <p14:sldId id="288"/>
          </p14:sldIdLst>
        </p14:section>
      </p14:sectionLst>
    </p:ext>
    <p:ext uri="{EFAFB233-063F-42B5-8137-9DF3F51BA10A}">
      <p15:sldGuideLst xmlns:p15="http://schemas.microsoft.com/office/powerpoint/2012/main">
        <p15:guide id="1" orient="horz" pos="180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 initials="z" lastIdx="1" clrIdx="0">
    <p:extLst>
      <p:ext uri="{19B8F6BF-5375-455C-9EA6-DF929625EA0E}">
        <p15:presenceInfo xmlns:p15="http://schemas.microsoft.com/office/powerpoint/2012/main" userId="Z"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4B183"/>
    <a:srgbClr val="F2F2F2"/>
    <a:srgbClr val="8497B0"/>
    <a:srgbClr val="A2A1A1"/>
    <a:srgbClr val="2E6CA4"/>
    <a:srgbClr val="D29500"/>
    <a:srgbClr val="BE5108"/>
    <a:srgbClr val="D29501"/>
    <a:srgbClr val="0097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95075" autoAdjust="0"/>
  </p:normalViewPr>
  <p:slideViewPr>
    <p:cSldViewPr snapToGrid="0" showGuides="1">
      <p:cViewPr varScale="1">
        <p:scale>
          <a:sx n="54" d="100"/>
          <a:sy n="54" d="100"/>
        </p:scale>
        <p:origin x="78" y="696"/>
      </p:cViewPr>
      <p:guideLst>
        <p:guide orient="horz" pos="1800"/>
        <p:guide pos="2880"/>
      </p:guideLst>
    </p:cSldViewPr>
  </p:slideViewPr>
  <p:notesTextViewPr>
    <p:cViewPr>
      <p:scale>
        <a:sx n="1" d="1"/>
        <a:sy n="1" d="1"/>
      </p:scale>
      <p:origin x="0" y="0"/>
    </p:cViewPr>
  </p:notesTextViewPr>
  <p:sorterViewPr>
    <p:cViewPr>
      <p:scale>
        <a:sx n="100" d="100"/>
        <a:sy n="100" d="100"/>
      </p:scale>
      <p:origin x="0" y="-685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package" Target="../embeddings/Microsoft_Excel_Worksheet.xlsx"/><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microsoft.com/office/2011/relationships/chartColorStyle" Target="colors1.xml"/><Relationship Id="rId1" Type="http://schemas.microsoft.com/office/2011/relationships/chartStyle" Target="style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image" Target="../media/image15.png"/><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chartUserShapes" Target="../drawings/drawing1.xml"/></Relationships>
</file>

<file path=ppt/charts/_rels/chart8.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0"/>
          <c:tx>
            <c:strRef>
              <c:f>Sheet1!$C$1</c:f>
              <c:strCache>
                <c:ptCount val="1"/>
                <c:pt idx="0">
                  <c:v>列1</c:v>
                </c:pt>
              </c:strCache>
            </c:strRef>
          </c:tx>
          <c:spPr>
            <a:blipFill>
              <a:blip xmlns:r="http://schemas.openxmlformats.org/officeDocument/2006/relationships" r:embed="rId3"/>
              <a:stretch>
                <a:fillRect/>
              </a:stretch>
            </a:blipFill>
            <a:ln>
              <a:noFill/>
            </a:ln>
            <a:effectLst/>
          </c:spPr>
          <c:invertIfNegative val="0"/>
          <c:pictureOptions>
            <c:pictureFormat val="stack"/>
          </c:pictureOptions>
          <c:dPt>
            <c:idx val="0"/>
            <c:invertIfNegative val="0"/>
            <c:bubble3D val="0"/>
            <c:spPr>
              <a:blipFill>
                <a:blip xmlns:r="http://schemas.openxmlformats.org/officeDocument/2006/relationships" r:embed="rId4"/>
                <a:stretch>
                  <a:fillRect/>
                </a:stretch>
              </a:blipFill>
              <a:ln>
                <a:noFill/>
              </a:ln>
              <a:effectLst/>
            </c:spPr>
            <c:pictureOptions>
              <c:pictureFormat val="stack"/>
            </c:pictureOptions>
            <c:extLst>
              <c:ext xmlns:c16="http://schemas.microsoft.com/office/drawing/2014/chart" uri="{C3380CC4-5D6E-409C-BE32-E72D297353CC}">
                <c16:uniqueId val="{00000002-E61C-4BE4-AF35-27D892D1105F}"/>
              </c:ext>
            </c:extLst>
          </c:dPt>
          <c:dPt>
            <c:idx val="1"/>
            <c:invertIfNegative val="0"/>
            <c:bubble3D val="0"/>
            <c:spPr>
              <a:blipFill>
                <a:blip xmlns:r="http://schemas.openxmlformats.org/officeDocument/2006/relationships" r:embed="rId5"/>
                <a:stretch>
                  <a:fillRect/>
                </a:stretch>
              </a:blipFill>
              <a:ln>
                <a:noFill/>
              </a:ln>
              <a:effectLst/>
            </c:spPr>
            <c:pictureOptions>
              <c:pictureFormat val="stack"/>
            </c:pictureOptions>
            <c:extLst>
              <c:ext xmlns:c16="http://schemas.microsoft.com/office/drawing/2014/chart" uri="{C3380CC4-5D6E-409C-BE32-E72D297353CC}">
                <c16:uniqueId val="{00000003-E61C-4BE4-AF35-27D892D1105F}"/>
              </c:ext>
            </c:extLst>
          </c:dPt>
          <c:dPt>
            <c:idx val="2"/>
            <c:invertIfNegative val="0"/>
            <c:bubble3D val="0"/>
            <c:spPr>
              <a:blipFill>
                <a:blip xmlns:r="http://schemas.openxmlformats.org/officeDocument/2006/relationships" r:embed="rId6"/>
                <a:stretch>
                  <a:fillRect/>
                </a:stretch>
              </a:blipFill>
              <a:ln>
                <a:noFill/>
              </a:ln>
              <a:effectLst/>
            </c:spPr>
            <c:pictureOptions>
              <c:pictureFormat val="stack"/>
            </c:pictureOptions>
            <c:extLst>
              <c:ext xmlns:c16="http://schemas.microsoft.com/office/drawing/2014/chart" uri="{C3380CC4-5D6E-409C-BE32-E72D297353CC}">
                <c16:uniqueId val="{00000005-E61C-4BE4-AF35-27D892D1105F}"/>
              </c:ext>
            </c:extLst>
          </c:dPt>
          <c:dPt>
            <c:idx val="3"/>
            <c:invertIfNegative val="0"/>
            <c:bubble3D val="0"/>
            <c:spPr>
              <a:blipFill>
                <a:blip xmlns:r="http://schemas.openxmlformats.org/officeDocument/2006/relationships" r:embed="rId7"/>
                <a:stretch>
                  <a:fillRect/>
                </a:stretch>
              </a:blipFill>
              <a:ln>
                <a:noFill/>
              </a:ln>
              <a:effectLst/>
            </c:spPr>
            <c:pictureOptions>
              <c:pictureFormat val="stack"/>
            </c:pictureOptions>
            <c:extLst>
              <c:ext xmlns:c16="http://schemas.microsoft.com/office/drawing/2014/chart" uri="{C3380CC4-5D6E-409C-BE32-E72D297353CC}">
                <c16:uniqueId val="{00000007-E61C-4BE4-AF35-27D892D1105F}"/>
              </c:ext>
            </c:extLst>
          </c:dPt>
          <c:dLbls>
            <c:delete val="1"/>
          </c:dLbls>
          <c:cat>
            <c:strRef>
              <c:f>Sheet1!$A$2:$A$5</c:f>
              <c:strCache>
                <c:ptCount val="4"/>
                <c:pt idx="0">
                  <c:v>统一知识库</c:v>
                </c:pt>
                <c:pt idx="1">
                  <c:v>渠道之间自由切换</c:v>
                </c:pt>
                <c:pt idx="2">
                  <c:v>统一客户历史</c:v>
                </c:pt>
                <c:pt idx="3">
                  <c:v>统一的报表</c:v>
                </c:pt>
              </c:strCache>
            </c:strRef>
          </c:cat>
          <c:val>
            <c:numRef>
              <c:f>Sheet1!$C$2:$C$5</c:f>
              <c:numCache>
                <c:formatCode>0%</c:formatCode>
                <c:ptCount val="4"/>
                <c:pt idx="0">
                  <c:v>1</c:v>
                </c:pt>
                <c:pt idx="1">
                  <c:v>1</c:v>
                </c:pt>
                <c:pt idx="2">
                  <c:v>1</c:v>
                </c:pt>
                <c:pt idx="3">
                  <c:v>1</c:v>
                </c:pt>
              </c:numCache>
            </c:numRef>
          </c:val>
          <c:extLst>
            <c:ext xmlns:c16="http://schemas.microsoft.com/office/drawing/2014/chart" uri="{C3380CC4-5D6E-409C-BE32-E72D297353CC}">
              <c16:uniqueId val="{00000000-E61C-4BE4-AF35-27D892D1105F}"/>
            </c:ext>
          </c:extLst>
        </c:ser>
        <c:ser>
          <c:idx val="0"/>
          <c:order val="1"/>
          <c:tx>
            <c:strRef>
              <c:f>Sheet1!$B$1</c:f>
              <c:strCache>
                <c:ptCount val="1"/>
                <c:pt idx="0">
                  <c:v>客服选择率</c:v>
                </c:pt>
              </c:strCache>
            </c:strRef>
          </c:tx>
          <c:spPr>
            <a:blipFill>
              <a:blip xmlns:r="http://schemas.openxmlformats.org/officeDocument/2006/relationships" r:embed="rId8"/>
              <a:stretch>
                <a:fillRect/>
              </a:stretch>
            </a:blipFill>
            <a:ln>
              <a:noFill/>
            </a:ln>
            <a:effectLst/>
          </c:spPr>
          <c:invertIfNegative val="0"/>
          <c:pictureOptions>
            <c:pictureFormat val="stack"/>
          </c:pictureOptions>
          <c:dPt>
            <c:idx val="0"/>
            <c:invertIfNegative val="0"/>
            <c:bubble3D val="0"/>
            <c:spPr>
              <a:blipFill>
                <a:blip xmlns:r="http://schemas.openxmlformats.org/officeDocument/2006/relationships" r:embed="rId9"/>
                <a:stretch>
                  <a:fillRect/>
                </a:stretch>
              </a:blipFill>
              <a:ln>
                <a:noFill/>
              </a:ln>
              <a:effectLst/>
            </c:spPr>
            <c:pictureOptions>
              <c:pictureFormat val="stack"/>
            </c:pictureOptions>
            <c:extLst>
              <c:ext xmlns:c16="http://schemas.microsoft.com/office/drawing/2014/chart" uri="{C3380CC4-5D6E-409C-BE32-E72D297353CC}">
                <c16:uniqueId val="{0000000E-0617-42F9-9E42-170C3765D6FC}"/>
              </c:ext>
            </c:extLst>
          </c:dPt>
          <c:dPt>
            <c:idx val="1"/>
            <c:invertIfNegative val="0"/>
            <c:bubble3D val="0"/>
            <c:spPr>
              <a:blipFill>
                <a:blip xmlns:r="http://schemas.openxmlformats.org/officeDocument/2006/relationships" r:embed="rId10"/>
                <a:stretch>
                  <a:fillRect/>
                </a:stretch>
              </a:blipFill>
              <a:ln>
                <a:noFill/>
              </a:ln>
              <a:effectLst/>
            </c:spPr>
            <c:pictureOptions>
              <c:pictureFormat val="stack"/>
            </c:pictureOptions>
            <c:extLst>
              <c:ext xmlns:c16="http://schemas.microsoft.com/office/drawing/2014/chart" uri="{C3380CC4-5D6E-409C-BE32-E72D297353CC}">
                <c16:uniqueId val="{00000001-E61C-4BE4-AF35-27D892D1105F}"/>
              </c:ext>
            </c:extLst>
          </c:dPt>
          <c:dPt>
            <c:idx val="2"/>
            <c:invertIfNegative val="0"/>
            <c:bubble3D val="0"/>
            <c:spPr>
              <a:blipFill>
                <a:blip xmlns:r="http://schemas.openxmlformats.org/officeDocument/2006/relationships" r:embed="rId11"/>
                <a:stretch>
                  <a:fillRect/>
                </a:stretch>
              </a:blipFill>
              <a:ln>
                <a:noFill/>
              </a:ln>
              <a:effectLst/>
            </c:spPr>
            <c:pictureOptions>
              <c:pictureFormat val="stack"/>
            </c:pictureOptions>
            <c:extLst>
              <c:ext xmlns:c16="http://schemas.microsoft.com/office/drawing/2014/chart" uri="{C3380CC4-5D6E-409C-BE32-E72D297353CC}">
                <c16:uniqueId val="{00000004-E61C-4BE4-AF35-27D892D1105F}"/>
              </c:ext>
            </c:extLst>
          </c:dPt>
          <c:dPt>
            <c:idx val="3"/>
            <c:invertIfNegative val="0"/>
            <c:bubble3D val="0"/>
            <c:spPr>
              <a:blipFill>
                <a:blip xmlns:r="http://schemas.openxmlformats.org/officeDocument/2006/relationships" r:embed="rId12"/>
                <a:stretch>
                  <a:fillRect/>
                </a:stretch>
              </a:blipFill>
              <a:ln>
                <a:noFill/>
              </a:ln>
              <a:effectLst/>
            </c:spPr>
            <c:pictureOptions>
              <c:pictureFormat val="stack"/>
            </c:pictureOptions>
            <c:extLst>
              <c:ext xmlns:c16="http://schemas.microsoft.com/office/drawing/2014/chart" uri="{C3380CC4-5D6E-409C-BE32-E72D297353CC}">
                <c16:uniqueId val="{00000006-E61C-4BE4-AF35-27D892D1105F}"/>
              </c:ext>
            </c:extLst>
          </c:dPt>
          <c:dLbls>
            <c:dLbl>
              <c:idx val="0"/>
              <c:layout>
                <c:manualLayout>
                  <c:x val="-1.6196260933751575E-3"/>
                  <c:y val="1.0016693947972371E-2"/>
                </c:manualLayout>
              </c:layout>
              <c:tx>
                <c:rich>
                  <a:bodyPr/>
                  <a:lstStyle/>
                  <a:p>
                    <a:fld id="{DA1D78DB-B11F-4117-8EFE-8A648A4CAA02}" type="VALUE">
                      <a:rPr lang="en-US" altLang="zh-CN">
                        <a:solidFill>
                          <a:schemeClr val="accent2"/>
                        </a:solidFill>
                      </a:rPr>
                      <a:pPr/>
                      <a:t>[值]</a:t>
                    </a:fld>
                    <a:endParaRPr lang="zh-CN" alt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E-0617-42F9-9E42-170C3765D6FC}"/>
                </c:ext>
              </c:extLst>
            </c:dLbl>
            <c:dLbl>
              <c:idx val="1"/>
              <c:layout>
                <c:manualLayout>
                  <c:x val="-1.619626093375202E-3"/>
                  <c:y val="4.1295897789076164E-2"/>
                </c:manualLayout>
              </c:layout>
              <c:tx>
                <c:rich>
                  <a:bodyPr/>
                  <a:lstStyle/>
                  <a:p>
                    <a:fld id="{3681DEC8-EC94-4615-A944-4CBB44CAB26B}" type="VALUE">
                      <a:rPr lang="en-US" altLang="zh-CN">
                        <a:solidFill>
                          <a:schemeClr val="accent4"/>
                        </a:solidFill>
                      </a:rPr>
                      <a:pPr/>
                      <a:t>[值]</a:t>
                    </a:fld>
                    <a:endParaRPr lang="zh-CN" alt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E61C-4BE4-AF35-27D892D1105F}"/>
                </c:ext>
              </c:extLst>
            </c:dLbl>
            <c:dLbl>
              <c:idx val="2"/>
              <c:tx>
                <c:rich>
                  <a:bodyPr/>
                  <a:lstStyle/>
                  <a:p>
                    <a:fld id="{3473E790-4AE0-40D4-91CA-136261285AE0}" type="VALUE">
                      <a:rPr lang="en-US" altLang="zh-CN">
                        <a:solidFill>
                          <a:schemeClr val="tx1">
                            <a:lumMod val="65000"/>
                            <a:lumOff val="35000"/>
                          </a:schemeClr>
                        </a:solidFill>
                      </a:rPr>
                      <a:pPr/>
                      <a:t>[值]</a:t>
                    </a:fld>
                    <a:endParaRPr lang="zh-CN" alt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E61C-4BE4-AF35-27D892D1105F}"/>
                </c:ext>
              </c:extLst>
            </c:dLbl>
            <c:dLbl>
              <c:idx val="3"/>
              <c:tx>
                <c:rich>
                  <a:bodyPr/>
                  <a:lstStyle/>
                  <a:p>
                    <a:fld id="{878ABC08-B08B-4A0A-9909-4B30E9EA9A25}" type="VALUE">
                      <a:rPr lang="en-US" altLang="zh-CN">
                        <a:solidFill>
                          <a:schemeClr val="accent1"/>
                        </a:solidFill>
                      </a:rPr>
                      <a:pPr/>
                      <a:t>[值]</a:t>
                    </a:fld>
                    <a:endParaRPr lang="zh-CN" alt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E61C-4BE4-AF35-27D892D1105F}"/>
                </c:ext>
              </c:extLst>
            </c:dLbl>
            <c:spPr>
              <a:noFill/>
              <a:ln>
                <a:noFill/>
              </a:ln>
              <a:effectLst/>
            </c:spPr>
            <c:txPr>
              <a:bodyPr rot="0" spcFirstLastPara="1" vertOverflow="ellipsis" vert="horz" wrap="square" lIns="38100" tIns="19050" rIns="38100" bIns="19050" anchor="ctr" anchorCtr="1">
                <a:spAutoFit/>
              </a:bodyPr>
              <a:lstStyle/>
              <a:p>
                <a:pPr>
                  <a:defRPr sz="3200" b="1"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统一知识库</c:v>
                </c:pt>
                <c:pt idx="1">
                  <c:v>渠道之间自由切换</c:v>
                </c:pt>
                <c:pt idx="2">
                  <c:v>统一客户历史</c:v>
                </c:pt>
                <c:pt idx="3">
                  <c:v>统一的报表</c:v>
                </c:pt>
              </c:strCache>
            </c:strRef>
          </c:cat>
          <c:val>
            <c:numRef>
              <c:f>Sheet1!$B$2:$B$5</c:f>
              <c:numCache>
                <c:formatCode>0%</c:formatCode>
                <c:ptCount val="4"/>
                <c:pt idx="0">
                  <c:v>0.92</c:v>
                </c:pt>
                <c:pt idx="1">
                  <c:v>0.73</c:v>
                </c:pt>
                <c:pt idx="2">
                  <c:v>0.38</c:v>
                </c:pt>
                <c:pt idx="3">
                  <c:v>0.25</c:v>
                </c:pt>
              </c:numCache>
            </c:numRef>
          </c:val>
          <c:extLst>
            <c:ext xmlns:c16="http://schemas.microsoft.com/office/drawing/2014/chart" uri="{C3380CC4-5D6E-409C-BE32-E72D297353CC}">
              <c16:uniqueId val="{00000000-7665-4532-B968-A264F8BA119B}"/>
            </c:ext>
          </c:extLst>
        </c:ser>
        <c:dLbls>
          <c:dLblPos val="outEnd"/>
          <c:showLegendKey val="0"/>
          <c:showVal val="1"/>
          <c:showCatName val="0"/>
          <c:showSerName val="0"/>
          <c:showPercent val="0"/>
          <c:showBubbleSize val="0"/>
        </c:dLbls>
        <c:gapWidth val="358"/>
        <c:overlap val="100"/>
        <c:axId val="457082175"/>
        <c:axId val="314271631"/>
      </c:barChart>
      <c:catAx>
        <c:axId val="457082175"/>
        <c:scaling>
          <c:orientation val="minMax"/>
        </c:scaling>
        <c:delete val="1"/>
        <c:axPos val="b"/>
        <c:numFmt formatCode="General" sourceLinked="1"/>
        <c:majorTickMark val="out"/>
        <c:minorTickMark val="none"/>
        <c:tickLblPos val="nextTo"/>
        <c:crossAx val="314271631"/>
        <c:crosses val="autoZero"/>
        <c:auto val="1"/>
        <c:lblAlgn val="ctr"/>
        <c:lblOffset val="100"/>
        <c:noMultiLvlLbl val="0"/>
      </c:catAx>
      <c:valAx>
        <c:axId val="314271631"/>
        <c:scaling>
          <c:orientation val="minMax"/>
        </c:scaling>
        <c:delete val="1"/>
        <c:axPos val="l"/>
        <c:numFmt formatCode="0%" sourceLinked="1"/>
        <c:majorTickMark val="out"/>
        <c:minorTickMark val="none"/>
        <c:tickLblPos val="nextTo"/>
        <c:crossAx val="457082175"/>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1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客户满意度</c:v>
                </c:pt>
              </c:strCache>
            </c:strRef>
          </c:tx>
          <c:dPt>
            <c:idx val="0"/>
            <c:bubble3D val="0"/>
            <c:spPr>
              <a:solidFill>
                <a:schemeClr val="accent4"/>
              </a:solidFill>
              <a:ln>
                <a:noFill/>
              </a:ln>
              <a:effectLst/>
            </c:spPr>
            <c:extLst>
              <c:ext xmlns:c16="http://schemas.microsoft.com/office/drawing/2014/chart" uri="{C3380CC4-5D6E-409C-BE32-E72D297353CC}">
                <c16:uniqueId val="{00000001-AA2B-469E-B4AE-9A7959810CC0}"/>
              </c:ext>
            </c:extLst>
          </c:dPt>
          <c:dPt>
            <c:idx val="1"/>
            <c:bubble3D val="0"/>
            <c:spPr>
              <a:noFill/>
              <a:ln>
                <a:noFill/>
              </a:ln>
              <a:effectLst/>
            </c:spPr>
            <c:extLst>
              <c:ext xmlns:c16="http://schemas.microsoft.com/office/drawing/2014/chart" uri="{C3380CC4-5D6E-409C-BE32-E72D297353CC}">
                <c16:uniqueId val="{00000000-AA2B-469E-B4AE-9A7959810CC0}"/>
              </c:ext>
            </c:extLst>
          </c:dPt>
          <c:dLbls>
            <c:dLbl>
              <c:idx val="0"/>
              <c:spPr>
                <a:noFill/>
                <a:ln>
                  <a:noFill/>
                </a:ln>
                <a:effectLst/>
              </c:spPr>
              <c:txPr>
                <a:bodyPr rot="0" spcFirstLastPara="1" vertOverflow="ellipsis" vert="horz" wrap="square" lIns="38100" tIns="19050" rIns="38100" bIns="19050" anchor="ctr" anchorCtr="1">
                  <a:spAutoFit/>
                </a:bodyPr>
                <a:lstStyle/>
                <a:p>
                  <a:pPr>
                    <a:defRPr sz="2000" b="1" i="0" u="none" strike="noStrike" kern="1200" baseline="0">
                      <a:solidFill>
                        <a:schemeClr val="bg1"/>
                      </a:solidFill>
                      <a:latin typeface="+mn-lt"/>
                      <a:ea typeface="+mn-ea"/>
                      <a:cs typeface="+mn-cs"/>
                    </a:defRPr>
                  </a:pPr>
                  <a:endParaRPr lang="zh-CN"/>
                </a:p>
              </c:txPr>
              <c:dLblPos val="inEnd"/>
              <c:showLegendKey val="0"/>
              <c:showVal val="1"/>
              <c:showCatName val="0"/>
              <c:showSerName val="0"/>
              <c:showPercent val="0"/>
              <c:showBubbleSize val="0"/>
              <c:extLst>
                <c:ext xmlns:c16="http://schemas.microsoft.com/office/drawing/2014/chart" uri="{C3380CC4-5D6E-409C-BE32-E72D297353CC}">
                  <c16:uniqueId val="{00000001-AA2B-469E-B4AE-9A7959810CC0}"/>
                </c:ext>
              </c:extLst>
            </c:dLbl>
            <c:dLbl>
              <c:idx val="1"/>
              <c:delete val="1"/>
              <c:extLst>
                <c:ext xmlns:c15="http://schemas.microsoft.com/office/drawing/2012/chart" uri="{CE6537A1-D6FC-4f65-9D91-7224C49458BB}"/>
                <c:ext xmlns:c16="http://schemas.microsoft.com/office/drawing/2014/chart" uri="{C3380CC4-5D6E-409C-BE32-E72D297353CC}">
                  <c16:uniqueId val="{00000000-AA2B-469E-B4AE-9A7959810CC0}"/>
                </c:ext>
              </c:extLst>
            </c:dLbl>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bg1"/>
                    </a:solidFill>
                    <a:latin typeface="+mn-lt"/>
                    <a:ea typeface="+mn-ea"/>
                    <a:cs typeface="+mn-cs"/>
                  </a:defRPr>
                </a:pPr>
                <a:endParaRPr lang="zh-CN"/>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单一渠道</c:v>
                </c:pt>
                <c:pt idx="1">
                  <c:v>1</c:v>
                </c:pt>
              </c:strCache>
            </c:strRef>
          </c:cat>
          <c:val>
            <c:numRef>
              <c:f>Sheet1!$B$2:$B$3</c:f>
              <c:numCache>
                <c:formatCode>0%</c:formatCode>
                <c:ptCount val="2"/>
                <c:pt idx="0">
                  <c:v>0.32</c:v>
                </c:pt>
                <c:pt idx="1">
                  <c:v>0.68</c:v>
                </c:pt>
              </c:numCache>
            </c:numRef>
          </c:val>
          <c:extLst>
            <c:ext xmlns:c16="http://schemas.microsoft.com/office/drawing/2014/chart" uri="{C3380CC4-5D6E-409C-BE32-E72D297353CC}">
              <c16:uniqueId val="{00000000-7BAB-42D9-AEC6-3D95DCB3E90B}"/>
            </c:ext>
          </c:extLst>
        </c:ser>
        <c:dLbls>
          <c:showLegendKey val="0"/>
          <c:showVal val="0"/>
          <c:showCatName val="0"/>
          <c:showSerName val="0"/>
          <c:showPercent val="0"/>
          <c:showBubbleSize val="0"/>
          <c:showLeaderLines val="1"/>
        </c:dLbls>
        <c:firstSliceAng val="45"/>
      </c:pieChart>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客户满意度</c:v>
                </c:pt>
              </c:strCache>
            </c:strRef>
          </c:tx>
          <c:spPr>
            <a:solidFill>
              <a:schemeClr val="bg1">
                <a:lumMod val="95000"/>
              </a:schemeClr>
            </a:solidFill>
          </c:spPr>
          <c:dPt>
            <c:idx val="0"/>
            <c:bubble3D val="0"/>
            <c:spPr>
              <a:solidFill>
                <a:schemeClr val="tx1">
                  <a:lumMod val="75000"/>
                  <a:lumOff val="25000"/>
                </a:schemeClr>
              </a:solidFill>
              <a:ln>
                <a:noFill/>
              </a:ln>
              <a:effectLst/>
            </c:spPr>
            <c:extLst>
              <c:ext xmlns:c16="http://schemas.microsoft.com/office/drawing/2014/chart" uri="{C3380CC4-5D6E-409C-BE32-E72D297353CC}">
                <c16:uniqueId val="{00000001-6213-4715-BA9A-42D153331231}"/>
              </c:ext>
            </c:extLst>
          </c:dPt>
          <c:dPt>
            <c:idx val="1"/>
            <c:bubble3D val="0"/>
            <c:spPr>
              <a:noFill/>
              <a:ln>
                <a:noFill/>
              </a:ln>
              <a:effectLst/>
            </c:spPr>
            <c:extLst>
              <c:ext xmlns:c16="http://schemas.microsoft.com/office/drawing/2014/chart" uri="{C3380CC4-5D6E-409C-BE32-E72D297353CC}">
                <c16:uniqueId val="{00000000-6213-4715-BA9A-42D153331231}"/>
              </c:ext>
            </c:extLst>
          </c:dPt>
          <c:dLbls>
            <c:dLbl>
              <c:idx val="0"/>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213-4715-BA9A-42D153331231}"/>
                </c:ext>
              </c:extLst>
            </c:dLbl>
            <c:dLbl>
              <c:idx val="1"/>
              <c:delete val="1"/>
              <c:extLst>
                <c:ext xmlns:c15="http://schemas.microsoft.com/office/drawing/2012/chart" uri="{CE6537A1-D6FC-4f65-9D91-7224C49458BB}"/>
                <c:ext xmlns:c16="http://schemas.microsoft.com/office/drawing/2014/chart" uri="{C3380CC4-5D6E-409C-BE32-E72D297353CC}">
                  <c16:uniqueId val="{00000000-6213-4715-BA9A-42D153331231}"/>
                </c:ext>
              </c:extLst>
            </c:dLbl>
            <c:spPr>
              <a:noFill/>
              <a:ln>
                <a:noFill/>
              </a:ln>
              <a:effectLst/>
            </c:spPr>
            <c:txPr>
              <a:bodyPr rot="0" spcFirstLastPara="1" vertOverflow="ellipsis" vert="horz" wrap="square" lIns="38100" tIns="19050" rIns="38100" bIns="19050" anchor="ctr" anchorCtr="1">
                <a:spAutoFit/>
              </a:bodyPr>
              <a:lstStyle/>
              <a:p>
                <a:pPr>
                  <a:defRPr sz="2000" b="1" i="0" u="none" strike="noStrike" kern="1200" baseline="0">
                    <a:solidFill>
                      <a:schemeClr val="bg1"/>
                    </a:solidFill>
                    <a:latin typeface="+mn-lt"/>
                    <a:ea typeface="+mn-ea"/>
                    <a:cs typeface="+mn-cs"/>
                  </a:defRPr>
                </a:pPr>
                <a:endParaRPr lang="zh-CN"/>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多渠道</c:v>
                </c:pt>
                <c:pt idx="1">
                  <c:v>1</c:v>
                </c:pt>
              </c:strCache>
            </c:strRef>
          </c:cat>
          <c:val>
            <c:numRef>
              <c:f>Sheet1!$B$2:$B$3</c:f>
              <c:numCache>
                <c:formatCode>0%</c:formatCode>
                <c:ptCount val="2"/>
                <c:pt idx="0">
                  <c:v>0.45</c:v>
                </c:pt>
                <c:pt idx="1">
                  <c:v>0.55000000000000004</c:v>
                </c:pt>
              </c:numCache>
            </c:numRef>
          </c:val>
          <c:extLst>
            <c:ext xmlns:c16="http://schemas.microsoft.com/office/drawing/2014/chart" uri="{C3380CC4-5D6E-409C-BE32-E72D297353CC}">
              <c16:uniqueId val="{00000000-CE7F-471D-8E35-5786606D6725}"/>
            </c:ext>
          </c:extLst>
        </c:ser>
        <c:dLbls>
          <c:showLegendKey val="0"/>
          <c:showVal val="0"/>
          <c:showCatName val="0"/>
          <c:showSerName val="0"/>
          <c:showPercent val="0"/>
          <c:showBubbleSize val="0"/>
          <c:showLeaderLines val="1"/>
        </c:dLbls>
        <c:firstSliceAng val="45"/>
      </c:pieChart>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客户满意度</c:v>
                </c:pt>
              </c:strCache>
            </c:strRef>
          </c:tx>
          <c:spPr>
            <a:solidFill>
              <a:schemeClr val="bg1">
                <a:lumMod val="95000"/>
              </a:schemeClr>
            </a:solidFill>
            <a:ln>
              <a:noFill/>
            </a:ln>
          </c:spPr>
          <c:explosion val="14"/>
          <c:dPt>
            <c:idx val="0"/>
            <c:bubble3D val="0"/>
            <c:explosion val="0"/>
            <c:spPr>
              <a:solidFill>
                <a:schemeClr val="accent2"/>
              </a:solidFill>
              <a:ln>
                <a:noFill/>
              </a:ln>
              <a:effectLst/>
            </c:spPr>
            <c:extLst>
              <c:ext xmlns:c16="http://schemas.microsoft.com/office/drawing/2014/chart" uri="{C3380CC4-5D6E-409C-BE32-E72D297353CC}">
                <c16:uniqueId val="{00000003-E1A6-44CE-B4BB-18D56455284A}"/>
              </c:ext>
            </c:extLst>
          </c:dPt>
          <c:dPt>
            <c:idx val="1"/>
            <c:bubble3D val="0"/>
            <c:explosion val="1"/>
            <c:spPr>
              <a:noFill/>
              <a:ln>
                <a:noFill/>
              </a:ln>
              <a:effectLst/>
            </c:spPr>
            <c:extLst>
              <c:ext xmlns:c16="http://schemas.microsoft.com/office/drawing/2014/chart" uri="{C3380CC4-5D6E-409C-BE32-E72D297353CC}">
                <c16:uniqueId val="{00000002-E1A6-44CE-B4BB-18D56455284A}"/>
              </c:ext>
            </c:extLst>
          </c:dPt>
          <c:dLbls>
            <c:dLbl>
              <c:idx val="0"/>
              <c:spPr>
                <a:noFill/>
                <a:ln>
                  <a:noFill/>
                </a:ln>
                <a:effectLst/>
              </c:spPr>
              <c:txPr>
                <a:bodyPr rot="0" spcFirstLastPara="1" vertOverflow="ellipsis" vert="horz" wrap="square" lIns="38100" tIns="19050" rIns="38100" bIns="19050" anchor="ctr" anchorCtr="1">
                  <a:spAutoFit/>
                </a:bodyPr>
                <a:lstStyle/>
                <a:p>
                  <a:pPr>
                    <a:defRPr sz="2000" b="1" i="0" u="none" strike="noStrike" kern="1200" baseline="0">
                      <a:solidFill>
                        <a:schemeClr val="bg1"/>
                      </a:solidFill>
                      <a:latin typeface="+mn-lt"/>
                      <a:ea typeface="+mn-ea"/>
                      <a:cs typeface="+mn-cs"/>
                    </a:defRPr>
                  </a:pPr>
                  <a:endParaRPr lang="zh-CN"/>
                </a:p>
              </c:txPr>
              <c:dLblPos val="inEnd"/>
              <c:showLegendKey val="0"/>
              <c:showVal val="1"/>
              <c:showCatName val="0"/>
              <c:showSerName val="0"/>
              <c:showPercent val="0"/>
              <c:showBubbleSize val="0"/>
              <c:extLst>
                <c:ext xmlns:c16="http://schemas.microsoft.com/office/drawing/2014/chart" uri="{C3380CC4-5D6E-409C-BE32-E72D297353CC}">
                  <c16:uniqueId val="{00000003-E1A6-44CE-B4BB-18D56455284A}"/>
                </c:ext>
              </c:extLst>
            </c:dLbl>
            <c:dLbl>
              <c:idx val="1"/>
              <c:delete val="1"/>
              <c:extLst>
                <c:ext xmlns:c15="http://schemas.microsoft.com/office/drawing/2012/chart" uri="{CE6537A1-D6FC-4f65-9D91-7224C49458BB}"/>
                <c:ext xmlns:c16="http://schemas.microsoft.com/office/drawing/2014/chart" uri="{C3380CC4-5D6E-409C-BE32-E72D297353CC}">
                  <c16:uniqueId val="{00000002-E1A6-44CE-B4BB-18D56455284A}"/>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全渠道</c:v>
                </c:pt>
                <c:pt idx="1">
                  <c:v>1</c:v>
                </c:pt>
              </c:strCache>
            </c:strRef>
          </c:cat>
          <c:val>
            <c:numRef>
              <c:f>Sheet1!$B$2:$B$3</c:f>
              <c:numCache>
                <c:formatCode>0%</c:formatCode>
                <c:ptCount val="2"/>
                <c:pt idx="0">
                  <c:v>0.85</c:v>
                </c:pt>
                <c:pt idx="1">
                  <c:v>0.15</c:v>
                </c:pt>
              </c:numCache>
            </c:numRef>
          </c:val>
          <c:extLst>
            <c:ext xmlns:c16="http://schemas.microsoft.com/office/drawing/2014/chart" uri="{C3380CC4-5D6E-409C-BE32-E72D297353CC}">
              <c16:uniqueId val="{00000000-E1A6-44CE-B4BB-18D56455284A}"/>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0881017257039057E-2"/>
          <c:y val="5.2752211646857589E-2"/>
          <c:w val="0.96003633060853766"/>
          <c:h val="0.84182533175049012"/>
        </c:manualLayout>
      </c:layout>
      <c:barChart>
        <c:barDir val="col"/>
        <c:grouping val="clustered"/>
        <c:varyColors val="0"/>
        <c:ser>
          <c:idx val="0"/>
          <c:order val="0"/>
          <c:tx>
            <c:strRef>
              <c:f>Sheet1!$B$1</c:f>
              <c:strCache>
                <c:ptCount val="1"/>
                <c:pt idx="0">
                  <c:v>选择率</c:v>
                </c:pt>
              </c:strCache>
            </c:strRef>
          </c:tx>
          <c:spPr>
            <a:blipFill>
              <a:blip xmlns:r="http://schemas.openxmlformats.org/officeDocument/2006/relationships" r:embed="rId3"/>
              <a:stretch>
                <a:fillRect/>
              </a:stretch>
            </a:blipFill>
            <a:ln>
              <a:noFill/>
            </a:ln>
            <a:effectLst/>
          </c:spPr>
          <c:invertIfNegative val="0"/>
          <c:dLbls>
            <c:delete val="1"/>
          </c:dLbls>
          <c:cat>
            <c:strRef>
              <c:f>Sheet1!$A$2:$A$10</c:f>
              <c:strCache>
                <c:ptCount val="9"/>
                <c:pt idx="0">
                  <c:v>媒体</c:v>
                </c:pt>
                <c:pt idx="1">
                  <c:v>金融保险</c:v>
                </c:pt>
                <c:pt idx="2">
                  <c:v>O2O</c:v>
                </c:pt>
                <c:pt idx="3">
                  <c:v>旅游</c:v>
                </c:pt>
                <c:pt idx="4">
                  <c:v>教育</c:v>
                </c:pt>
                <c:pt idx="5">
                  <c:v>IT</c:v>
                </c:pt>
                <c:pt idx="6">
                  <c:v>硬件</c:v>
                </c:pt>
                <c:pt idx="7">
                  <c:v>软件</c:v>
                </c:pt>
                <c:pt idx="8">
                  <c:v>医疗</c:v>
                </c:pt>
              </c:strCache>
            </c:strRef>
          </c:cat>
          <c:val>
            <c:numRef>
              <c:f>Sheet1!$B$2:$B$10</c:f>
              <c:numCache>
                <c:formatCode>0%</c:formatCode>
                <c:ptCount val="9"/>
                <c:pt idx="0">
                  <c:v>0.83</c:v>
                </c:pt>
                <c:pt idx="1">
                  <c:v>0.72</c:v>
                </c:pt>
                <c:pt idx="2">
                  <c:v>0.54</c:v>
                </c:pt>
                <c:pt idx="3">
                  <c:v>0.47</c:v>
                </c:pt>
                <c:pt idx="4">
                  <c:v>0.42</c:v>
                </c:pt>
                <c:pt idx="5">
                  <c:v>0.35</c:v>
                </c:pt>
                <c:pt idx="6">
                  <c:v>0.32</c:v>
                </c:pt>
                <c:pt idx="7">
                  <c:v>0.28000000000000003</c:v>
                </c:pt>
                <c:pt idx="8">
                  <c:v>0.25</c:v>
                </c:pt>
              </c:numCache>
            </c:numRef>
          </c:val>
          <c:extLst>
            <c:ext xmlns:c16="http://schemas.microsoft.com/office/drawing/2014/chart" uri="{C3380CC4-5D6E-409C-BE32-E72D297353CC}">
              <c16:uniqueId val="{00000000-C8AE-42D6-9457-5B4DC9755101}"/>
            </c:ext>
          </c:extLst>
        </c:ser>
        <c:dLbls>
          <c:dLblPos val="outEnd"/>
          <c:showLegendKey val="0"/>
          <c:showVal val="1"/>
          <c:showCatName val="0"/>
          <c:showSerName val="0"/>
          <c:showPercent val="0"/>
          <c:showBubbleSize val="0"/>
        </c:dLbls>
        <c:gapWidth val="0"/>
        <c:overlap val="20"/>
        <c:axId val="408929871"/>
        <c:axId val="465328063"/>
      </c:barChart>
      <c:catAx>
        <c:axId val="408929871"/>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lumMod val="50000"/>
                  </a:schemeClr>
                </a:solidFill>
                <a:latin typeface="+mn-lt"/>
                <a:ea typeface="+mn-ea"/>
                <a:cs typeface="+mn-cs"/>
              </a:defRPr>
            </a:pPr>
            <a:endParaRPr lang="zh-CN"/>
          </a:p>
        </c:txPr>
        <c:crossAx val="465328063"/>
        <c:crosses val="autoZero"/>
        <c:auto val="1"/>
        <c:lblAlgn val="ctr"/>
        <c:lblOffset val="100"/>
        <c:noMultiLvlLbl val="0"/>
      </c:catAx>
      <c:valAx>
        <c:axId val="465328063"/>
        <c:scaling>
          <c:orientation val="minMax"/>
        </c:scaling>
        <c:delete val="1"/>
        <c:axPos val="l"/>
        <c:numFmt formatCode="0%" sourceLinked="1"/>
        <c:majorTickMark val="none"/>
        <c:minorTickMark val="none"/>
        <c:tickLblPos val="nextTo"/>
        <c:crossAx val="408929871"/>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723716153247727E-2"/>
          <c:y val="2.9732359950404977E-2"/>
          <c:w val="0.92697998564945883"/>
          <c:h val="0.7675560158124406"/>
        </c:manualLayout>
      </c:layout>
      <c:areaChart>
        <c:grouping val="standard"/>
        <c:varyColors val="0"/>
        <c:ser>
          <c:idx val="0"/>
          <c:order val="0"/>
          <c:tx>
            <c:strRef>
              <c:f>Sheet1!$B$1</c:f>
              <c:strCache>
                <c:ptCount val="1"/>
                <c:pt idx="0">
                  <c:v>服务次数占比</c:v>
                </c:pt>
              </c:strCache>
            </c:strRef>
          </c:tx>
          <c:spPr>
            <a:solidFill>
              <a:schemeClr val="accent2"/>
            </a:solidFill>
            <a:ln>
              <a:noFill/>
            </a:ln>
            <a:effectLst/>
          </c:spPr>
          <c:cat>
            <c:strRef>
              <c:f>Sheet1!$A$2:$A$9</c:f>
              <c:strCache>
                <c:ptCount val="8"/>
                <c:pt idx="0">
                  <c:v>呼叫中心</c:v>
                </c:pt>
                <c:pt idx="1">
                  <c:v>即时通讯</c:v>
                </c:pt>
                <c:pt idx="2">
                  <c:v>微信</c:v>
                </c:pt>
                <c:pt idx="3">
                  <c:v>App</c:v>
                </c:pt>
                <c:pt idx="4">
                  <c:v>邮件</c:v>
                </c:pt>
                <c:pt idx="5">
                  <c:v>短信</c:v>
                </c:pt>
                <c:pt idx="6">
                  <c:v>表单</c:v>
                </c:pt>
                <c:pt idx="7">
                  <c:v>微博</c:v>
                </c:pt>
              </c:strCache>
            </c:strRef>
          </c:cat>
          <c:val>
            <c:numRef>
              <c:f>Sheet1!$B$2:$B$9</c:f>
              <c:numCache>
                <c:formatCode>0%</c:formatCode>
                <c:ptCount val="8"/>
                <c:pt idx="0">
                  <c:v>0.39</c:v>
                </c:pt>
                <c:pt idx="1">
                  <c:v>0.21</c:v>
                </c:pt>
                <c:pt idx="2">
                  <c:v>0.18</c:v>
                </c:pt>
                <c:pt idx="3">
                  <c:v>0.06</c:v>
                </c:pt>
                <c:pt idx="4">
                  <c:v>0.06</c:v>
                </c:pt>
                <c:pt idx="5">
                  <c:v>0.05</c:v>
                </c:pt>
                <c:pt idx="6">
                  <c:v>0.03</c:v>
                </c:pt>
                <c:pt idx="7">
                  <c:v>0.02</c:v>
                </c:pt>
              </c:numCache>
            </c:numRef>
          </c:val>
          <c:extLst>
            <c:ext xmlns:c16="http://schemas.microsoft.com/office/drawing/2014/chart" uri="{C3380CC4-5D6E-409C-BE32-E72D297353CC}">
              <c16:uniqueId val="{00000000-D44C-4717-9B6B-BDE2E399E808}"/>
            </c:ext>
          </c:extLst>
        </c:ser>
        <c:dLbls>
          <c:showLegendKey val="0"/>
          <c:showVal val="0"/>
          <c:showCatName val="0"/>
          <c:showSerName val="0"/>
          <c:showPercent val="0"/>
          <c:showBubbleSize val="0"/>
        </c:dLbls>
        <c:axId val="457069695"/>
        <c:axId val="457438031"/>
      </c:areaChart>
      <c:lineChart>
        <c:grouping val="stacked"/>
        <c:varyColors val="0"/>
        <c:ser>
          <c:idx val="1"/>
          <c:order val="1"/>
          <c:tx>
            <c:strRef>
              <c:f>Sheet1!$C$1</c:f>
              <c:strCache>
                <c:ptCount val="1"/>
                <c:pt idx="0">
                  <c:v>列1</c:v>
                </c:pt>
              </c:strCache>
            </c:strRef>
          </c:tx>
          <c:spPr>
            <a:ln w="38100" cap="rnd">
              <a:solidFill>
                <a:schemeClr val="bg1"/>
              </a:solidFill>
              <a:round/>
            </a:ln>
            <a:effectLst>
              <a:outerShdw blurRad="50800" dist="38100" dir="2700000" algn="tl" rotWithShape="0">
                <a:prstClr val="black">
                  <a:alpha val="40000"/>
                </a:prstClr>
              </a:outerShdw>
            </a:effectLst>
          </c:spPr>
          <c:marker>
            <c:symbol val="circle"/>
            <c:size val="8"/>
            <c:spPr>
              <a:solidFill>
                <a:schemeClr val="tx1">
                  <a:lumMod val="75000"/>
                  <a:lumOff val="25000"/>
                </a:schemeClr>
              </a:solidFill>
              <a:ln w="25400">
                <a:solidFill>
                  <a:schemeClr val="bg1"/>
                </a:solidFill>
              </a:ln>
              <a:effectLst>
                <a:outerShdw blurRad="50800" dist="38100" dir="2700000" algn="tl" rotWithShape="0">
                  <a:prstClr val="black">
                    <a:alpha val="40000"/>
                  </a:prstClr>
                </a:outerShdw>
              </a:effectLst>
            </c:spPr>
          </c:marker>
          <c:dLbls>
            <c:dLbl>
              <c:idx val="1"/>
              <c:layout>
                <c:manualLayout>
                  <c:x val="-3.0048180816352358E-2"/>
                  <c:y val="-6.59175992350560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1F1-4A4B-95DE-ECE065E39671}"/>
                </c:ext>
              </c:extLst>
            </c:dLbl>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tx1">
                        <a:lumMod val="65000"/>
                        <a:lumOff val="3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呼叫中心</c:v>
                </c:pt>
                <c:pt idx="1">
                  <c:v>即时通讯</c:v>
                </c:pt>
                <c:pt idx="2">
                  <c:v>微信</c:v>
                </c:pt>
                <c:pt idx="3">
                  <c:v>App</c:v>
                </c:pt>
                <c:pt idx="4">
                  <c:v>邮件</c:v>
                </c:pt>
                <c:pt idx="5">
                  <c:v>短信</c:v>
                </c:pt>
                <c:pt idx="6">
                  <c:v>表单</c:v>
                </c:pt>
                <c:pt idx="7">
                  <c:v>微博</c:v>
                </c:pt>
              </c:strCache>
            </c:strRef>
          </c:cat>
          <c:val>
            <c:numRef>
              <c:f>Sheet1!$C$2:$C$9</c:f>
              <c:numCache>
                <c:formatCode>0%</c:formatCode>
                <c:ptCount val="8"/>
                <c:pt idx="0">
                  <c:v>0.39</c:v>
                </c:pt>
                <c:pt idx="1">
                  <c:v>0.21</c:v>
                </c:pt>
                <c:pt idx="2">
                  <c:v>0.18</c:v>
                </c:pt>
                <c:pt idx="3">
                  <c:v>0.06</c:v>
                </c:pt>
                <c:pt idx="4">
                  <c:v>0.06</c:v>
                </c:pt>
                <c:pt idx="5">
                  <c:v>0.05</c:v>
                </c:pt>
                <c:pt idx="6">
                  <c:v>0.03</c:v>
                </c:pt>
                <c:pt idx="7">
                  <c:v>0.02</c:v>
                </c:pt>
              </c:numCache>
            </c:numRef>
          </c:val>
          <c:smooth val="0"/>
          <c:extLst>
            <c:ext xmlns:c16="http://schemas.microsoft.com/office/drawing/2014/chart" uri="{C3380CC4-5D6E-409C-BE32-E72D297353CC}">
              <c16:uniqueId val="{00000000-23FF-4287-9009-B3EAF7CE46DD}"/>
            </c:ext>
          </c:extLst>
        </c:ser>
        <c:dLbls>
          <c:showLegendKey val="0"/>
          <c:showVal val="0"/>
          <c:showCatName val="0"/>
          <c:showSerName val="0"/>
          <c:showPercent val="0"/>
          <c:showBubbleSize val="0"/>
        </c:dLbls>
        <c:marker val="1"/>
        <c:smooth val="0"/>
        <c:axId val="457069695"/>
        <c:axId val="457438031"/>
      </c:lineChart>
      <c:catAx>
        <c:axId val="45706969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457438031"/>
        <c:crosses val="autoZero"/>
        <c:auto val="1"/>
        <c:lblAlgn val="ctr"/>
        <c:lblOffset val="100"/>
        <c:noMultiLvlLbl val="0"/>
      </c:catAx>
      <c:valAx>
        <c:axId val="457438031"/>
        <c:scaling>
          <c:orientation val="minMax"/>
        </c:scaling>
        <c:delete val="1"/>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crossAx val="457069695"/>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8080850765083706E-2"/>
          <c:y val="0.11084633229099031"/>
          <c:w val="0.92634722750029963"/>
          <c:h val="0.72531862309932604"/>
        </c:manualLayout>
      </c:layout>
      <c:lineChart>
        <c:grouping val="standard"/>
        <c:varyColors val="0"/>
        <c:ser>
          <c:idx val="0"/>
          <c:order val="0"/>
          <c:tx>
            <c:strRef>
              <c:f>Sheet1!$B$1</c:f>
              <c:strCache>
                <c:ptCount val="1"/>
                <c:pt idx="0">
                  <c:v>微信</c:v>
                </c:pt>
              </c:strCache>
            </c:strRef>
          </c:tx>
          <c:spPr>
            <a:ln w="12700" cap="rnd">
              <a:solidFill>
                <a:schemeClr val="accent2">
                  <a:lumMod val="60000"/>
                  <a:lumOff val="40000"/>
                </a:schemeClr>
              </a:solidFill>
              <a:round/>
            </a:ln>
            <a:effectLst/>
          </c:spPr>
          <c:marker>
            <c:symbol val="circle"/>
            <c:size val="3"/>
            <c:spPr>
              <a:solidFill>
                <a:schemeClr val="accent2"/>
              </a:solidFill>
              <a:ln w="9525">
                <a:noFill/>
              </a:ln>
              <a:effectLst/>
            </c:spPr>
          </c:marker>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32</c:v>
                </c:pt>
                <c:pt idx="1">
                  <c:v>41</c:v>
                </c:pt>
                <c:pt idx="2">
                  <c:v>39</c:v>
                </c:pt>
                <c:pt idx="3">
                  <c:v>50</c:v>
                </c:pt>
                <c:pt idx="4">
                  <c:v>67</c:v>
                </c:pt>
                <c:pt idx="5">
                  <c:v>64</c:v>
                </c:pt>
                <c:pt idx="6">
                  <c:v>65</c:v>
                </c:pt>
                <c:pt idx="7">
                  <c:v>74</c:v>
                </c:pt>
                <c:pt idx="8">
                  <c:v>77</c:v>
                </c:pt>
                <c:pt idx="9">
                  <c:v>80</c:v>
                </c:pt>
                <c:pt idx="10">
                  <c:v>82</c:v>
                </c:pt>
                <c:pt idx="11">
                  <c:v>88</c:v>
                </c:pt>
              </c:numCache>
            </c:numRef>
          </c:val>
          <c:smooth val="0"/>
          <c:extLst>
            <c:ext xmlns:c16="http://schemas.microsoft.com/office/drawing/2014/chart" uri="{C3380CC4-5D6E-409C-BE32-E72D297353CC}">
              <c16:uniqueId val="{00000000-6744-4506-826D-E1B9296857B6}"/>
            </c:ext>
          </c:extLst>
        </c:ser>
        <c:ser>
          <c:idx val="1"/>
          <c:order val="1"/>
          <c:tx>
            <c:strRef>
              <c:f>Sheet1!$C$1</c:f>
              <c:strCache>
                <c:ptCount val="1"/>
                <c:pt idx="0">
                  <c:v>微博</c:v>
                </c:pt>
              </c:strCache>
            </c:strRef>
          </c:tx>
          <c:spPr>
            <a:ln w="12700" cap="rnd">
              <a:solidFill>
                <a:schemeClr val="tx1">
                  <a:lumMod val="65000"/>
                  <a:lumOff val="35000"/>
                </a:schemeClr>
              </a:solidFill>
              <a:round/>
            </a:ln>
            <a:effectLst/>
          </c:spPr>
          <c:marker>
            <c:symbol val="circle"/>
            <c:size val="3"/>
            <c:spPr>
              <a:solidFill>
                <a:schemeClr val="tx1">
                  <a:lumMod val="75000"/>
                  <a:lumOff val="25000"/>
                </a:schemeClr>
              </a:solidFill>
              <a:ln w="9525">
                <a:noFill/>
              </a:ln>
              <a:effectLst/>
            </c:spPr>
          </c:marker>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General</c:formatCode>
                <c:ptCount val="12"/>
                <c:pt idx="0">
                  <c:v>7</c:v>
                </c:pt>
                <c:pt idx="1">
                  <c:v>8</c:v>
                </c:pt>
                <c:pt idx="2">
                  <c:v>5</c:v>
                </c:pt>
                <c:pt idx="3">
                  <c:v>6</c:v>
                </c:pt>
                <c:pt idx="4">
                  <c:v>4</c:v>
                </c:pt>
                <c:pt idx="5">
                  <c:v>5</c:v>
                </c:pt>
                <c:pt idx="6">
                  <c:v>7</c:v>
                </c:pt>
                <c:pt idx="7">
                  <c:v>8</c:v>
                </c:pt>
                <c:pt idx="8">
                  <c:v>9</c:v>
                </c:pt>
                <c:pt idx="9">
                  <c:v>6</c:v>
                </c:pt>
                <c:pt idx="10">
                  <c:v>7</c:v>
                </c:pt>
                <c:pt idx="11">
                  <c:v>5</c:v>
                </c:pt>
              </c:numCache>
            </c:numRef>
          </c:val>
          <c:smooth val="0"/>
          <c:extLst>
            <c:ext xmlns:c16="http://schemas.microsoft.com/office/drawing/2014/chart" uri="{C3380CC4-5D6E-409C-BE32-E72D297353CC}">
              <c16:uniqueId val="{00000001-6744-4506-826D-E1B9296857B6}"/>
            </c:ext>
          </c:extLst>
        </c:ser>
        <c:dLbls>
          <c:showLegendKey val="0"/>
          <c:showVal val="0"/>
          <c:showCatName val="0"/>
          <c:showSerName val="0"/>
          <c:showPercent val="0"/>
          <c:showBubbleSize val="0"/>
        </c:dLbls>
        <c:marker val="1"/>
        <c:smooth val="0"/>
        <c:axId val="457074687"/>
        <c:axId val="455270495"/>
      </c:lineChart>
      <c:catAx>
        <c:axId val="4570746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lumMod val="75000"/>
                    <a:lumOff val="25000"/>
                  </a:schemeClr>
                </a:solidFill>
                <a:latin typeface="+mj-ea"/>
                <a:ea typeface="+mj-ea"/>
                <a:cs typeface="+mn-cs"/>
              </a:defRPr>
            </a:pPr>
            <a:endParaRPr lang="zh-CN"/>
          </a:p>
        </c:txPr>
        <c:crossAx val="455270495"/>
        <c:crosses val="autoZero"/>
        <c:auto val="1"/>
        <c:lblAlgn val="ctr"/>
        <c:lblOffset val="100"/>
        <c:noMultiLvlLbl val="0"/>
      </c:catAx>
      <c:valAx>
        <c:axId val="455270495"/>
        <c:scaling>
          <c:orientation val="minMax"/>
        </c:scaling>
        <c:delete val="0"/>
        <c:axPos val="l"/>
        <c:majorGridlines>
          <c:spPr>
            <a:ln w="127" cap="flat" cmpd="sng" algn="ctr">
              <a:solidFill>
                <a:schemeClr val="bg2">
                  <a:lumMod val="9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75000"/>
                    <a:lumOff val="25000"/>
                  </a:schemeClr>
                </a:solidFill>
                <a:latin typeface="+mn-lt"/>
                <a:ea typeface="+mn-ea"/>
                <a:cs typeface="+mn-cs"/>
              </a:defRPr>
            </a:pPr>
            <a:endParaRPr lang="zh-CN"/>
          </a:p>
        </c:txPr>
        <c:crossAx val="457074687"/>
        <c:crosses val="autoZero"/>
        <c:crossBetween val="between"/>
      </c:valAx>
      <c:spPr>
        <a:noFill/>
        <a:ln>
          <a:noFill/>
        </a:ln>
        <a:effectLst/>
      </c:spPr>
    </c:plotArea>
    <c:legend>
      <c:legendPos val="b"/>
      <c:layout>
        <c:manualLayout>
          <c:xMode val="edge"/>
          <c:yMode val="edge"/>
          <c:x val="5.6258227816156539E-2"/>
          <c:y val="1.4815067133251847E-2"/>
          <c:w val="0.1841178364892396"/>
          <c:h val="5.9423411299572494E-2"/>
        </c:manualLayout>
      </c:layout>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85000"/>
                  <a:lumOff val="1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sz="1050">
          <a:solidFill>
            <a:schemeClr val="tx1">
              <a:lumMod val="85000"/>
              <a:lumOff val="15000"/>
            </a:schemeClr>
          </a:solidFill>
        </a:defRPr>
      </a:pPr>
      <a:endParaRPr lang="zh-CN"/>
    </a:p>
  </c:txPr>
  <c:externalData r:id="rId3">
    <c:autoUpdate val="0"/>
  </c:externalData>
  <c:userShapes r:id="rId4"/>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文档教程</c:v>
                </c:pt>
              </c:strCache>
            </c:strRef>
          </c:tx>
          <c:spPr>
            <a:blipFill>
              <a:blip xmlns:r="http://schemas.openxmlformats.org/officeDocument/2006/relationships" r:embed="rId3"/>
              <a:stretch>
                <a:fillRect/>
              </a:stretch>
            </a:blipFill>
            <a:ln>
              <a:noFill/>
            </a:ln>
            <a:effectLst/>
          </c:spPr>
          <c:invertIfNegative val="0"/>
          <c:pictureOptions>
            <c:pictureFormat val="stack"/>
          </c:pictureOptions>
          <c:cat>
            <c:strRef>
              <c:f>Sheet1!$A$2</c:f>
              <c:strCache>
                <c:ptCount val="1"/>
                <c:pt idx="0">
                  <c:v>2015年</c:v>
                </c:pt>
              </c:strCache>
            </c:strRef>
          </c:cat>
          <c:val>
            <c:numRef>
              <c:f>Sheet1!$B$2</c:f>
              <c:numCache>
                <c:formatCode>0%</c:formatCode>
                <c:ptCount val="1"/>
                <c:pt idx="0">
                  <c:v>0.35</c:v>
                </c:pt>
              </c:numCache>
            </c:numRef>
          </c:val>
          <c:extLst>
            <c:ext xmlns:c16="http://schemas.microsoft.com/office/drawing/2014/chart" uri="{C3380CC4-5D6E-409C-BE32-E72D297353CC}">
              <c16:uniqueId val="{00000000-C21F-41CE-9BD9-1646974ED633}"/>
            </c:ext>
          </c:extLst>
        </c:ser>
        <c:ser>
          <c:idx val="1"/>
          <c:order val="1"/>
          <c:tx>
            <c:strRef>
              <c:f>Sheet1!$C$1</c:f>
              <c:strCache>
                <c:ptCount val="1"/>
                <c:pt idx="0">
                  <c:v>视频教程</c:v>
                </c:pt>
              </c:strCache>
            </c:strRef>
          </c:tx>
          <c:spPr>
            <a:blipFill>
              <a:blip xmlns:r="http://schemas.openxmlformats.org/officeDocument/2006/relationships" r:embed="rId4"/>
              <a:stretch>
                <a:fillRect/>
              </a:stretch>
            </a:blipFill>
            <a:ln>
              <a:noFill/>
            </a:ln>
            <a:effectLst/>
          </c:spPr>
          <c:invertIfNegative val="0"/>
          <c:pictureOptions>
            <c:pictureFormat val="stack"/>
          </c:pictureOptions>
          <c:cat>
            <c:strRef>
              <c:f>Sheet1!$A$2</c:f>
              <c:strCache>
                <c:ptCount val="1"/>
                <c:pt idx="0">
                  <c:v>2015年</c:v>
                </c:pt>
              </c:strCache>
            </c:strRef>
          </c:cat>
          <c:val>
            <c:numRef>
              <c:f>Sheet1!$C$2</c:f>
              <c:numCache>
                <c:formatCode>0%</c:formatCode>
                <c:ptCount val="1"/>
                <c:pt idx="0">
                  <c:v>0.3</c:v>
                </c:pt>
              </c:numCache>
            </c:numRef>
          </c:val>
          <c:extLst>
            <c:ext xmlns:c16="http://schemas.microsoft.com/office/drawing/2014/chart" uri="{C3380CC4-5D6E-409C-BE32-E72D297353CC}">
              <c16:uniqueId val="{00000001-C21F-41CE-9BD9-1646974ED633}"/>
            </c:ext>
          </c:extLst>
        </c:ser>
        <c:ser>
          <c:idx val="2"/>
          <c:order val="2"/>
          <c:tx>
            <c:strRef>
              <c:f>Sheet1!$D$1</c:f>
              <c:strCache>
                <c:ptCount val="1"/>
                <c:pt idx="0">
                  <c:v>IVR自助语音</c:v>
                </c:pt>
              </c:strCache>
            </c:strRef>
          </c:tx>
          <c:spPr>
            <a:blipFill>
              <a:blip xmlns:r="http://schemas.openxmlformats.org/officeDocument/2006/relationships" r:embed="rId5"/>
              <a:stretch>
                <a:fillRect/>
              </a:stretch>
            </a:blipFill>
            <a:ln>
              <a:noFill/>
            </a:ln>
            <a:effectLst/>
          </c:spPr>
          <c:invertIfNegative val="0"/>
          <c:pictureOptions>
            <c:pictureFormat val="stack"/>
          </c:pictureOptions>
          <c:cat>
            <c:strRef>
              <c:f>Sheet1!$A$2</c:f>
              <c:strCache>
                <c:ptCount val="1"/>
                <c:pt idx="0">
                  <c:v>2015年</c:v>
                </c:pt>
              </c:strCache>
            </c:strRef>
          </c:cat>
          <c:val>
            <c:numRef>
              <c:f>Sheet1!$D$2</c:f>
              <c:numCache>
                <c:formatCode>0%</c:formatCode>
                <c:ptCount val="1"/>
                <c:pt idx="0">
                  <c:v>0.19</c:v>
                </c:pt>
              </c:numCache>
            </c:numRef>
          </c:val>
          <c:extLst>
            <c:ext xmlns:c16="http://schemas.microsoft.com/office/drawing/2014/chart" uri="{C3380CC4-5D6E-409C-BE32-E72D297353CC}">
              <c16:uniqueId val="{00000002-C21F-41CE-9BD9-1646974ED633}"/>
            </c:ext>
          </c:extLst>
        </c:ser>
        <c:ser>
          <c:idx val="3"/>
          <c:order val="3"/>
          <c:tx>
            <c:strRef>
              <c:f>Sheet1!$E$1</c:f>
              <c:strCache>
                <c:ptCount val="1"/>
                <c:pt idx="0">
                  <c:v>社区论坛</c:v>
                </c:pt>
              </c:strCache>
            </c:strRef>
          </c:tx>
          <c:spPr>
            <a:blipFill>
              <a:blip xmlns:r="http://schemas.openxmlformats.org/officeDocument/2006/relationships" r:embed="rId6"/>
              <a:stretch>
                <a:fillRect/>
              </a:stretch>
            </a:blipFill>
            <a:ln>
              <a:noFill/>
            </a:ln>
            <a:effectLst/>
          </c:spPr>
          <c:invertIfNegative val="0"/>
          <c:pictureOptions>
            <c:pictureFormat val="stack"/>
          </c:pictureOptions>
          <c:cat>
            <c:strRef>
              <c:f>Sheet1!$A$2</c:f>
              <c:strCache>
                <c:ptCount val="1"/>
                <c:pt idx="0">
                  <c:v>2015年</c:v>
                </c:pt>
              </c:strCache>
            </c:strRef>
          </c:cat>
          <c:val>
            <c:numRef>
              <c:f>Sheet1!$E$2</c:f>
              <c:numCache>
                <c:formatCode>0%</c:formatCode>
                <c:ptCount val="1"/>
                <c:pt idx="0">
                  <c:v>0.06</c:v>
                </c:pt>
              </c:numCache>
            </c:numRef>
          </c:val>
          <c:extLst>
            <c:ext xmlns:c16="http://schemas.microsoft.com/office/drawing/2014/chart" uri="{C3380CC4-5D6E-409C-BE32-E72D297353CC}">
              <c16:uniqueId val="{00000003-C21F-41CE-9BD9-1646974ED633}"/>
            </c:ext>
          </c:extLst>
        </c:ser>
        <c:dLbls>
          <c:showLegendKey val="0"/>
          <c:showVal val="0"/>
          <c:showCatName val="0"/>
          <c:showSerName val="0"/>
          <c:showPercent val="0"/>
          <c:showBubbleSize val="0"/>
        </c:dLbls>
        <c:gapWidth val="219"/>
        <c:axId val="454262975"/>
        <c:axId val="453759199"/>
      </c:barChart>
      <c:catAx>
        <c:axId val="454262975"/>
        <c:scaling>
          <c:orientation val="minMax"/>
        </c:scaling>
        <c:delete val="1"/>
        <c:axPos val="l"/>
        <c:numFmt formatCode="General" sourceLinked="1"/>
        <c:majorTickMark val="out"/>
        <c:minorTickMark val="none"/>
        <c:tickLblPos val="nextTo"/>
        <c:crossAx val="453759199"/>
        <c:crosses val="autoZero"/>
        <c:auto val="1"/>
        <c:lblAlgn val="ctr"/>
        <c:lblOffset val="100"/>
        <c:noMultiLvlLbl val="0"/>
      </c:catAx>
      <c:valAx>
        <c:axId val="453759199"/>
        <c:scaling>
          <c:orientation val="minMax"/>
        </c:scaling>
        <c:delete val="1"/>
        <c:axPos val="b"/>
        <c:numFmt formatCode="0%" sourceLinked="1"/>
        <c:majorTickMark val="out"/>
        <c:minorTickMark val="none"/>
        <c:tickLblPos val="nextTo"/>
        <c:crossAx val="454262975"/>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7">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客户满意度</c:v>
                </c:pt>
              </c:strCache>
            </c:strRef>
          </c:tx>
          <c:spPr>
            <a:solidFill>
              <a:schemeClr val="bg1">
                <a:lumMod val="95000"/>
              </a:schemeClr>
            </a:solidFill>
            <a:effectLst>
              <a:outerShdw blurRad="50800" dist="38100" dir="2700000" algn="tl" rotWithShape="0">
                <a:prstClr val="black">
                  <a:alpha val="40000"/>
                </a:prstClr>
              </a:outerShdw>
            </a:effectLst>
          </c:spPr>
          <c:dPt>
            <c:idx val="0"/>
            <c:bubble3D val="0"/>
            <c:explosion val="11"/>
            <c:spPr>
              <a:solidFill>
                <a:schemeClr val="accent2"/>
              </a:solid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1-D03E-4CD5-A77A-61D0D58BD9E1}"/>
              </c:ext>
            </c:extLst>
          </c:dPt>
          <c:dPt>
            <c:idx val="1"/>
            <c:bubble3D val="0"/>
            <c:spPr>
              <a:solidFill>
                <a:schemeClr val="bg1"/>
              </a:solid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3-D03E-4CD5-A77A-61D0D58BD9E1}"/>
              </c:ext>
            </c:extLst>
          </c:dPt>
          <c:cat>
            <c:strRef>
              <c:f>Sheet1!$A$2:$A$3</c:f>
              <c:strCache>
                <c:ptCount val="2"/>
                <c:pt idx="0">
                  <c:v>多渠道</c:v>
                </c:pt>
                <c:pt idx="1">
                  <c:v>1</c:v>
                </c:pt>
              </c:strCache>
            </c:strRef>
          </c:cat>
          <c:val>
            <c:numRef>
              <c:f>Sheet1!$B$2:$B$3</c:f>
              <c:numCache>
                <c:formatCode>0%</c:formatCode>
                <c:ptCount val="2"/>
                <c:pt idx="0">
                  <c:v>0.45</c:v>
                </c:pt>
                <c:pt idx="1">
                  <c:v>0.55000000000000004</c:v>
                </c:pt>
              </c:numCache>
            </c:numRef>
          </c:val>
          <c:extLst>
            <c:ext xmlns:c16="http://schemas.microsoft.com/office/drawing/2014/chart" uri="{C3380CC4-5D6E-409C-BE32-E72D297353CC}">
              <c16:uniqueId val="{00000004-D03E-4CD5-A77A-61D0D58BD9E1}"/>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选择率</c:v>
                </c:pt>
              </c:strCache>
            </c:strRef>
          </c:tx>
          <c:spPr>
            <a:solidFill>
              <a:schemeClr val="tx2">
                <a:lumMod val="20000"/>
                <a:lumOff val="80000"/>
              </a:schemeClr>
            </a:solidFill>
            <a:ln>
              <a:noFill/>
            </a:ln>
            <a:effectLst/>
          </c:spPr>
          <c:invertIfNegative val="0"/>
          <c:dPt>
            <c:idx val="0"/>
            <c:invertIfNegative val="0"/>
            <c:bubble3D val="0"/>
            <c:spPr>
              <a:solidFill>
                <a:schemeClr val="accent2"/>
              </a:solidFill>
              <a:ln>
                <a:noFill/>
              </a:ln>
              <a:effectLst/>
            </c:spPr>
            <c:extLst>
              <c:ext xmlns:c16="http://schemas.microsoft.com/office/drawing/2014/chart" uri="{C3380CC4-5D6E-409C-BE32-E72D297353CC}">
                <c16:uniqueId val="{00000003-6F86-44D0-A60B-61C064C0CA05}"/>
              </c:ext>
            </c:extLst>
          </c:dPt>
          <c:dPt>
            <c:idx val="1"/>
            <c:invertIfNegative val="0"/>
            <c:bubble3D val="0"/>
            <c:spPr>
              <a:solidFill>
                <a:schemeClr val="accent4"/>
              </a:solidFill>
              <a:ln>
                <a:noFill/>
              </a:ln>
              <a:effectLst/>
            </c:spPr>
            <c:extLst>
              <c:ext xmlns:c16="http://schemas.microsoft.com/office/drawing/2014/chart" uri="{C3380CC4-5D6E-409C-BE32-E72D297353CC}">
                <c16:uniqueId val="{00000000-6F86-44D0-A60B-61C064C0CA05}"/>
              </c:ext>
            </c:extLst>
          </c:dPt>
          <c:dPt>
            <c:idx val="2"/>
            <c:invertIfNegative val="0"/>
            <c:bubble3D val="0"/>
            <c:spPr>
              <a:solidFill>
                <a:schemeClr val="tx1">
                  <a:lumMod val="65000"/>
                  <a:lumOff val="35000"/>
                </a:schemeClr>
              </a:solidFill>
              <a:ln>
                <a:noFill/>
              </a:ln>
              <a:effectLst/>
            </c:spPr>
            <c:extLst>
              <c:ext xmlns:c16="http://schemas.microsoft.com/office/drawing/2014/chart" uri="{C3380CC4-5D6E-409C-BE32-E72D297353CC}">
                <c16:uniqueId val="{00000004-6F86-44D0-A60B-61C064C0CA05}"/>
              </c:ext>
            </c:extLst>
          </c:dPt>
          <c:cat>
            <c:strRef>
              <c:f>Sheet1!$A$2:$A$4</c:f>
              <c:strCache>
                <c:ptCount val="3"/>
                <c:pt idx="0">
                  <c:v>计划部分使用SaaS</c:v>
                </c:pt>
                <c:pt idx="1">
                  <c:v>计划大部分/全部使用SaaS</c:v>
                </c:pt>
                <c:pt idx="2">
                  <c:v>没有计划使用SaaS</c:v>
                </c:pt>
              </c:strCache>
            </c:strRef>
          </c:cat>
          <c:val>
            <c:numRef>
              <c:f>Sheet1!$B$2:$B$4</c:f>
              <c:numCache>
                <c:formatCode>0%</c:formatCode>
                <c:ptCount val="3"/>
                <c:pt idx="0">
                  <c:v>0.47</c:v>
                </c:pt>
                <c:pt idx="1">
                  <c:v>0.21</c:v>
                </c:pt>
                <c:pt idx="2">
                  <c:v>0.32</c:v>
                </c:pt>
              </c:numCache>
            </c:numRef>
          </c:val>
          <c:extLst>
            <c:ext xmlns:c16="http://schemas.microsoft.com/office/drawing/2014/chart" uri="{C3380CC4-5D6E-409C-BE32-E72D297353CC}">
              <c16:uniqueId val="{00000000-0130-49CF-833C-80829684CCA8}"/>
            </c:ext>
          </c:extLst>
        </c:ser>
        <c:dLbls>
          <c:showLegendKey val="0"/>
          <c:showVal val="0"/>
          <c:showCatName val="0"/>
          <c:showSerName val="0"/>
          <c:showPercent val="0"/>
          <c:showBubbleSize val="0"/>
        </c:dLbls>
        <c:gapWidth val="219"/>
        <c:overlap val="-27"/>
        <c:axId val="454260895"/>
        <c:axId val="314272927"/>
      </c:barChart>
      <c:catAx>
        <c:axId val="454260895"/>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200" b="1" i="0" u="none" strike="noStrike" kern="1200" baseline="0">
                <a:solidFill>
                  <a:schemeClr val="tx1">
                    <a:lumMod val="85000"/>
                    <a:lumOff val="15000"/>
                  </a:schemeClr>
                </a:solidFill>
                <a:latin typeface="+mj-ea"/>
                <a:ea typeface="+mj-ea"/>
                <a:cs typeface="+mn-cs"/>
              </a:defRPr>
            </a:pPr>
            <a:endParaRPr lang="zh-CN"/>
          </a:p>
        </c:txPr>
        <c:crossAx val="314272927"/>
        <c:crosses val="autoZero"/>
        <c:auto val="1"/>
        <c:lblAlgn val="ctr"/>
        <c:lblOffset val="100"/>
        <c:noMultiLvlLbl val="0"/>
      </c:catAx>
      <c:valAx>
        <c:axId val="314272927"/>
        <c:scaling>
          <c:orientation val="minMax"/>
        </c:scaling>
        <c:delete val="0"/>
        <c:axPos val="l"/>
        <c:majorGridlines>
          <c:spPr>
            <a:ln w="3175" cap="flat" cmpd="sng" algn="ctr">
              <a:solidFill>
                <a:schemeClr val="tx1">
                  <a:lumMod val="65000"/>
                  <a:lumOff val="35000"/>
                </a:schemeClr>
              </a:solidFill>
              <a:round/>
            </a:ln>
            <a:effectLst/>
          </c:spPr>
        </c:majorGridlines>
        <c:numFmt formatCode="0%" sourceLinked="1"/>
        <c:majorTickMark val="none"/>
        <c:minorTickMark val="none"/>
        <c:tickLblPos val="high"/>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zh-CN"/>
          </a:p>
        </c:txPr>
        <c:crossAx val="454260895"/>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0.21518</cdr:x>
      <cdr:y>0.16061</cdr:y>
    </cdr:from>
    <cdr:to>
      <cdr:x>0.94682</cdr:x>
      <cdr:y>0.25799</cdr:y>
    </cdr:to>
    <cdr:sp macro="" textlink="">
      <cdr:nvSpPr>
        <cdr:cNvPr id="2" name="文本框 1"/>
        <cdr:cNvSpPr txBox="1"/>
      </cdr:nvSpPr>
      <cdr:spPr>
        <a:xfrm xmlns:a="http://schemas.openxmlformats.org/drawingml/2006/main">
          <a:off x="1523906" y="754066"/>
          <a:ext cx="5181600" cy="4572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zh-CN" altLang="en-US" sz="1100" dirty="0"/>
        </a:p>
      </cdr:txBody>
    </cdr:sp>
  </cdr:relSizeAnchor>
</c:userShap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001698"/>
            <a:ext cx="6858000" cy="137980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D46B6265-942E-4956-8ADB-914F61F48DD7}" type="datetimeFigureOut">
              <a:rPr lang="zh-CN" altLang="en-US" smtClean="0"/>
              <a:t>2022/09/28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41C6FCA-8BAE-4348-A087-A988F5DD080B}" type="slidenum">
              <a:rPr lang="zh-CN" altLang="en-US" smtClean="0"/>
              <a:t>‹#›</a:t>
            </a:fld>
            <a:endParaRPr lang="zh-CN" altLang="en-US"/>
          </a:p>
        </p:txBody>
      </p:sp>
    </p:spTree>
    <p:extLst>
      <p:ext uri="{BB962C8B-B14F-4D97-AF65-F5344CB8AC3E}">
        <p14:creationId xmlns:p14="http://schemas.microsoft.com/office/powerpoint/2010/main" val="3745870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46B6265-942E-4956-8ADB-914F61F48DD7}" type="datetimeFigureOut">
              <a:rPr lang="zh-CN" altLang="en-US" smtClean="0"/>
              <a:t>2022/09/28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41C6FCA-8BAE-4348-A087-A988F5DD080B}" type="slidenum">
              <a:rPr lang="zh-CN" altLang="en-US" smtClean="0"/>
              <a:t>‹#›</a:t>
            </a:fld>
            <a:endParaRPr lang="zh-CN" altLang="en-US"/>
          </a:p>
        </p:txBody>
      </p:sp>
    </p:spTree>
    <p:extLst>
      <p:ext uri="{BB962C8B-B14F-4D97-AF65-F5344CB8AC3E}">
        <p14:creationId xmlns:p14="http://schemas.microsoft.com/office/powerpoint/2010/main" val="3903624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424782"/>
            <a:ext cx="7886700" cy="2377281"/>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3824553"/>
            <a:ext cx="7886700" cy="1250156"/>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D46B6265-942E-4956-8ADB-914F61F48DD7}" type="datetimeFigureOut">
              <a:rPr lang="zh-CN" altLang="en-US" smtClean="0"/>
              <a:t>2022/09/28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41C6FCA-8BAE-4348-A087-A988F5DD080B}" type="slidenum">
              <a:rPr lang="zh-CN" altLang="en-US" smtClean="0"/>
              <a:t>‹#›</a:t>
            </a:fld>
            <a:endParaRPr lang="zh-CN" altLang="en-US"/>
          </a:p>
        </p:txBody>
      </p:sp>
    </p:spTree>
    <p:extLst>
      <p:ext uri="{BB962C8B-B14F-4D97-AF65-F5344CB8AC3E}">
        <p14:creationId xmlns:p14="http://schemas.microsoft.com/office/powerpoint/2010/main" val="2712849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521354"/>
            <a:ext cx="3886200" cy="362611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521354"/>
            <a:ext cx="3886200" cy="362611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D46B6265-942E-4956-8ADB-914F61F48DD7}" type="datetimeFigureOut">
              <a:rPr lang="zh-CN" altLang="en-US" smtClean="0"/>
              <a:t>2022/09/28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41C6FCA-8BAE-4348-A087-A988F5DD080B}" type="slidenum">
              <a:rPr lang="zh-CN" altLang="en-US" smtClean="0"/>
              <a:t>‹#›</a:t>
            </a:fld>
            <a:endParaRPr lang="zh-CN" altLang="en-US"/>
          </a:p>
        </p:txBody>
      </p:sp>
    </p:spTree>
    <p:extLst>
      <p:ext uri="{BB962C8B-B14F-4D97-AF65-F5344CB8AC3E}">
        <p14:creationId xmlns:p14="http://schemas.microsoft.com/office/powerpoint/2010/main" val="1784516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04271"/>
            <a:ext cx="7886700" cy="1104636"/>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400969"/>
            <a:ext cx="3868340"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Content Placeholder 3"/>
          <p:cNvSpPr>
            <a:spLocks noGrp="1"/>
          </p:cNvSpPr>
          <p:nvPr>
            <p:ph sz="half" idx="2"/>
          </p:nvPr>
        </p:nvSpPr>
        <p:spPr>
          <a:xfrm>
            <a:off x="629842" y="2087563"/>
            <a:ext cx="3868340" cy="307049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400969"/>
            <a:ext cx="3887391"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Content Placeholder 5"/>
          <p:cNvSpPr>
            <a:spLocks noGrp="1"/>
          </p:cNvSpPr>
          <p:nvPr>
            <p:ph sz="quarter" idx="4"/>
          </p:nvPr>
        </p:nvSpPr>
        <p:spPr>
          <a:xfrm>
            <a:off x="4629150" y="2087563"/>
            <a:ext cx="3887391" cy="307049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D46B6265-942E-4956-8ADB-914F61F48DD7}" type="datetimeFigureOut">
              <a:rPr lang="zh-CN" altLang="en-US" smtClean="0"/>
              <a:t>2022/09/28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41C6FCA-8BAE-4348-A087-A988F5DD080B}" type="slidenum">
              <a:rPr lang="zh-CN" altLang="en-US" smtClean="0"/>
              <a:t>‹#›</a:t>
            </a:fld>
            <a:endParaRPr lang="zh-CN" altLang="en-US"/>
          </a:p>
        </p:txBody>
      </p:sp>
    </p:spTree>
    <p:extLst>
      <p:ext uri="{BB962C8B-B14F-4D97-AF65-F5344CB8AC3E}">
        <p14:creationId xmlns:p14="http://schemas.microsoft.com/office/powerpoint/2010/main" val="39273258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46B6265-942E-4956-8ADB-914F61F48DD7}" type="datetimeFigureOut">
              <a:rPr lang="zh-CN" altLang="en-US" smtClean="0"/>
              <a:t>2022/09/28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41C6FCA-8BAE-4348-A087-A988F5DD080B}" type="slidenum">
              <a:rPr lang="zh-CN" altLang="en-US" smtClean="0"/>
              <a:t>‹#›</a:t>
            </a:fld>
            <a:endParaRPr lang="zh-CN" altLang="en-US"/>
          </a:p>
        </p:txBody>
      </p:sp>
    </p:spTree>
    <p:extLst>
      <p:ext uri="{BB962C8B-B14F-4D97-AF65-F5344CB8AC3E}">
        <p14:creationId xmlns:p14="http://schemas.microsoft.com/office/powerpoint/2010/main" val="3946853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6B6265-942E-4956-8ADB-914F61F48DD7}" type="datetimeFigureOut">
              <a:rPr lang="zh-CN" altLang="en-US" smtClean="0"/>
              <a:t>2022/09/28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41C6FCA-8BAE-4348-A087-A988F5DD080B}" type="slidenum">
              <a:rPr lang="zh-CN" altLang="en-US" smtClean="0"/>
              <a:t>‹#›</a:t>
            </a:fld>
            <a:endParaRPr lang="zh-CN" altLang="en-US"/>
          </a:p>
        </p:txBody>
      </p:sp>
    </p:spTree>
    <p:extLst>
      <p:ext uri="{BB962C8B-B14F-4D97-AF65-F5344CB8AC3E}">
        <p14:creationId xmlns:p14="http://schemas.microsoft.com/office/powerpoint/2010/main" val="2452202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D46B6265-942E-4956-8ADB-914F61F48DD7}" type="datetimeFigureOut">
              <a:rPr lang="zh-CN" altLang="en-US" smtClean="0"/>
              <a:t>2022/09/28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41C6FCA-8BAE-4348-A087-A988F5DD080B}" type="slidenum">
              <a:rPr lang="zh-CN" altLang="en-US" smtClean="0"/>
              <a:t>‹#›</a:t>
            </a:fld>
            <a:endParaRPr lang="zh-CN" altLang="en-US"/>
          </a:p>
        </p:txBody>
      </p:sp>
      <p:sp>
        <p:nvSpPr>
          <p:cNvPr id="6" name="矩形 5"/>
          <p:cNvSpPr/>
          <p:nvPr userDrawn="1"/>
        </p:nvSpPr>
        <p:spPr>
          <a:xfrm>
            <a:off x="790237" y="223542"/>
            <a:ext cx="66102" cy="6688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userDrawn="1"/>
        </p:nvSpPr>
        <p:spPr>
          <a:xfrm>
            <a:off x="0" y="220337"/>
            <a:ext cx="716098" cy="6720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t>1</a:t>
            </a:r>
            <a:endParaRPr lang="en-US" altLang="zh-CN" b="1" dirty="0"/>
          </a:p>
          <a:p>
            <a:pPr algn="ctr"/>
            <a:r>
              <a:rPr lang="en-US" altLang="zh-CN" sz="1400" dirty="0"/>
              <a:t>PART</a:t>
            </a:r>
          </a:p>
        </p:txBody>
      </p:sp>
      <p:sp>
        <p:nvSpPr>
          <p:cNvPr id="8" name="直角三角形 7"/>
          <p:cNvSpPr/>
          <p:nvPr userDrawn="1"/>
        </p:nvSpPr>
        <p:spPr>
          <a:xfrm rot="16200000">
            <a:off x="8510717" y="5094073"/>
            <a:ext cx="593124" cy="673443"/>
          </a:xfrm>
          <a:prstGeom prst="r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34002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D46B6265-942E-4956-8ADB-914F61F48DD7}" type="datetimeFigureOut">
              <a:rPr lang="zh-CN" altLang="en-US" smtClean="0"/>
              <a:t>2022/09/28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41C6FCA-8BAE-4348-A087-A988F5DD080B}" type="slidenum">
              <a:rPr lang="zh-CN" altLang="en-US" smtClean="0"/>
              <a:t>‹#›</a:t>
            </a:fld>
            <a:endParaRPr lang="zh-CN" altLang="en-US"/>
          </a:p>
        </p:txBody>
      </p:sp>
      <p:sp>
        <p:nvSpPr>
          <p:cNvPr id="7" name="矩形 6"/>
          <p:cNvSpPr/>
          <p:nvPr userDrawn="1"/>
        </p:nvSpPr>
        <p:spPr>
          <a:xfrm>
            <a:off x="790237" y="223542"/>
            <a:ext cx="66102" cy="6688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0" y="220337"/>
            <a:ext cx="716098" cy="6720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t>2</a:t>
            </a:r>
            <a:endParaRPr lang="en-US" altLang="zh-CN" b="1" dirty="0"/>
          </a:p>
          <a:p>
            <a:pPr algn="ctr"/>
            <a:r>
              <a:rPr lang="en-US" altLang="zh-CN" sz="1400" dirty="0"/>
              <a:t>PART</a:t>
            </a:r>
          </a:p>
        </p:txBody>
      </p:sp>
      <p:sp>
        <p:nvSpPr>
          <p:cNvPr id="9" name="直角三角形 8"/>
          <p:cNvSpPr/>
          <p:nvPr userDrawn="1"/>
        </p:nvSpPr>
        <p:spPr>
          <a:xfrm rot="16200000">
            <a:off x="8510717" y="5094073"/>
            <a:ext cx="593124" cy="673443"/>
          </a:xfrm>
          <a:prstGeom prst="r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04237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D46B6265-942E-4956-8ADB-914F61F48DD7}" type="datetimeFigureOut">
              <a:rPr lang="zh-CN" altLang="en-US" smtClean="0"/>
              <a:t>2022/09/28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41C6FCA-8BAE-4348-A087-A988F5DD080B}" type="slidenum">
              <a:rPr lang="zh-CN" altLang="en-US" smtClean="0"/>
              <a:t>‹#›</a:t>
            </a:fld>
            <a:endParaRPr lang="zh-CN" altLang="en-US"/>
          </a:p>
        </p:txBody>
      </p:sp>
      <p:sp>
        <p:nvSpPr>
          <p:cNvPr id="7" name="矩形 6"/>
          <p:cNvSpPr/>
          <p:nvPr userDrawn="1"/>
        </p:nvSpPr>
        <p:spPr>
          <a:xfrm>
            <a:off x="790237" y="223542"/>
            <a:ext cx="66102" cy="6688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0" y="220337"/>
            <a:ext cx="716098" cy="6720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t>3</a:t>
            </a:r>
            <a:endParaRPr lang="en-US" altLang="zh-CN" b="1" dirty="0"/>
          </a:p>
          <a:p>
            <a:pPr algn="ctr"/>
            <a:r>
              <a:rPr lang="en-US" altLang="zh-CN" sz="1400" dirty="0"/>
              <a:t>PART</a:t>
            </a:r>
          </a:p>
        </p:txBody>
      </p:sp>
      <p:sp>
        <p:nvSpPr>
          <p:cNvPr id="2" name="直角三角形 1"/>
          <p:cNvSpPr/>
          <p:nvPr userDrawn="1"/>
        </p:nvSpPr>
        <p:spPr>
          <a:xfrm rot="16200000">
            <a:off x="8510717" y="5094073"/>
            <a:ext cx="593124" cy="673443"/>
          </a:xfrm>
          <a:prstGeom prst="r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683992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D46B6265-942E-4956-8ADB-914F61F48DD7}" type="datetimeFigureOut">
              <a:rPr lang="zh-CN" altLang="en-US" smtClean="0"/>
              <a:t>2022/09/28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41C6FCA-8BAE-4348-A087-A988F5DD080B}" type="slidenum">
              <a:rPr lang="zh-CN" altLang="en-US" smtClean="0"/>
              <a:t>‹#›</a:t>
            </a:fld>
            <a:endParaRPr lang="zh-CN" altLang="en-US"/>
          </a:p>
        </p:txBody>
      </p:sp>
      <p:sp>
        <p:nvSpPr>
          <p:cNvPr id="7" name="矩形 6"/>
          <p:cNvSpPr/>
          <p:nvPr userDrawn="1"/>
        </p:nvSpPr>
        <p:spPr>
          <a:xfrm>
            <a:off x="790237" y="223542"/>
            <a:ext cx="66102" cy="6688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0" y="220337"/>
            <a:ext cx="716098" cy="6720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t>4</a:t>
            </a:r>
            <a:endParaRPr lang="en-US" altLang="zh-CN" b="1" dirty="0"/>
          </a:p>
          <a:p>
            <a:pPr algn="ctr"/>
            <a:r>
              <a:rPr lang="en-US" altLang="zh-CN" sz="1400" dirty="0"/>
              <a:t>PART</a:t>
            </a:r>
          </a:p>
        </p:txBody>
      </p:sp>
      <p:sp>
        <p:nvSpPr>
          <p:cNvPr id="9" name="直角三角形 8"/>
          <p:cNvSpPr/>
          <p:nvPr userDrawn="1"/>
        </p:nvSpPr>
        <p:spPr>
          <a:xfrm rot="16200000">
            <a:off x="8510717" y="5094073"/>
            <a:ext cx="593124" cy="673443"/>
          </a:xfrm>
          <a:prstGeom prst="r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770982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D46B6265-942E-4956-8ADB-914F61F48DD7}" type="datetimeFigureOut">
              <a:rPr lang="zh-CN" altLang="en-US" smtClean="0"/>
              <a:t>2022/09/28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41C6FCA-8BAE-4348-A087-A988F5DD080B}" type="slidenum">
              <a:rPr lang="zh-CN" altLang="en-US" smtClean="0"/>
              <a:t>‹#›</a:t>
            </a:fld>
            <a:endParaRPr lang="zh-CN" altLang="en-US"/>
          </a:p>
        </p:txBody>
      </p:sp>
      <p:sp>
        <p:nvSpPr>
          <p:cNvPr id="7" name="矩形 6"/>
          <p:cNvSpPr/>
          <p:nvPr userDrawn="1"/>
        </p:nvSpPr>
        <p:spPr>
          <a:xfrm>
            <a:off x="790237" y="223542"/>
            <a:ext cx="66102" cy="6688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0" y="220337"/>
            <a:ext cx="716098" cy="6720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t>5</a:t>
            </a:r>
            <a:endParaRPr lang="en-US" altLang="zh-CN" b="1" dirty="0"/>
          </a:p>
          <a:p>
            <a:pPr algn="ctr"/>
            <a:r>
              <a:rPr lang="en-US" altLang="zh-CN" sz="1400" dirty="0"/>
              <a:t>PART</a:t>
            </a:r>
          </a:p>
        </p:txBody>
      </p:sp>
      <p:sp>
        <p:nvSpPr>
          <p:cNvPr id="9" name="直角三角形 8"/>
          <p:cNvSpPr/>
          <p:nvPr userDrawn="1"/>
        </p:nvSpPr>
        <p:spPr>
          <a:xfrm rot="16200000">
            <a:off x="8510717" y="5094073"/>
            <a:ext cx="593124" cy="673443"/>
          </a:xfrm>
          <a:prstGeom prst="r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1856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822855"/>
            <a:ext cx="4629150" cy="406135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D46B6265-942E-4956-8ADB-914F61F48DD7}" type="datetimeFigureOut">
              <a:rPr lang="zh-CN" altLang="en-US" smtClean="0"/>
              <a:t>2022/09/28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41C6FCA-8BAE-4348-A087-A988F5DD080B}" type="slidenum">
              <a:rPr lang="zh-CN" altLang="en-US" smtClean="0"/>
              <a:t>‹#›</a:t>
            </a:fld>
            <a:endParaRPr lang="zh-CN" altLang="en-US"/>
          </a:p>
        </p:txBody>
      </p:sp>
    </p:spTree>
    <p:extLst>
      <p:ext uri="{BB962C8B-B14F-4D97-AF65-F5344CB8AC3E}">
        <p14:creationId xmlns:p14="http://schemas.microsoft.com/office/powerpoint/2010/main" val="30898529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822855"/>
            <a:ext cx="4629150" cy="4061354"/>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D46B6265-942E-4956-8ADB-914F61F48DD7}" type="datetimeFigureOut">
              <a:rPr lang="zh-CN" altLang="en-US" smtClean="0"/>
              <a:t>2022/09/28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41C6FCA-8BAE-4348-A087-A988F5DD080B}" type="slidenum">
              <a:rPr lang="zh-CN" altLang="en-US" smtClean="0"/>
              <a:t>‹#›</a:t>
            </a:fld>
            <a:endParaRPr lang="zh-CN" altLang="en-US"/>
          </a:p>
        </p:txBody>
      </p:sp>
    </p:spTree>
    <p:extLst>
      <p:ext uri="{BB962C8B-B14F-4D97-AF65-F5344CB8AC3E}">
        <p14:creationId xmlns:p14="http://schemas.microsoft.com/office/powerpoint/2010/main" val="35672785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46B6265-942E-4956-8ADB-914F61F48DD7}" type="datetimeFigureOut">
              <a:rPr lang="zh-CN" altLang="en-US" smtClean="0"/>
              <a:t>2022/09/28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41C6FCA-8BAE-4348-A087-A988F5DD080B}" type="slidenum">
              <a:rPr lang="zh-CN" altLang="en-US" smtClean="0"/>
              <a:t>‹#›</a:t>
            </a:fld>
            <a:endParaRPr lang="zh-CN" altLang="en-US"/>
          </a:p>
        </p:txBody>
      </p:sp>
    </p:spTree>
    <p:extLst>
      <p:ext uri="{BB962C8B-B14F-4D97-AF65-F5344CB8AC3E}">
        <p14:creationId xmlns:p14="http://schemas.microsoft.com/office/powerpoint/2010/main" val="9013185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04271"/>
            <a:ext cx="1971675" cy="484319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04271"/>
            <a:ext cx="5800725" cy="484319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46B6265-942E-4956-8ADB-914F61F48DD7}" type="datetimeFigureOut">
              <a:rPr lang="zh-CN" altLang="en-US" smtClean="0"/>
              <a:t>2022/09/28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41C6FCA-8BAE-4348-A087-A988F5DD080B}" type="slidenum">
              <a:rPr lang="zh-CN" altLang="en-US" smtClean="0"/>
              <a:t>‹#›</a:t>
            </a:fld>
            <a:endParaRPr lang="zh-CN" altLang="en-US"/>
          </a:p>
        </p:txBody>
      </p:sp>
    </p:spTree>
    <p:extLst>
      <p:ext uri="{BB962C8B-B14F-4D97-AF65-F5344CB8AC3E}">
        <p14:creationId xmlns:p14="http://schemas.microsoft.com/office/powerpoint/2010/main" val="2591243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04271"/>
            <a:ext cx="7886700" cy="1104636"/>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521354"/>
            <a:ext cx="7886700" cy="3626115"/>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5296959"/>
            <a:ext cx="2057400" cy="304271"/>
          </a:xfrm>
          <a:prstGeom prst="rect">
            <a:avLst/>
          </a:prstGeom>
        </p:spPr>
        <p:txBody>
          <a:bodyPr vert="horz" lIns="91440" tIns="45720" rIns="91440" bIns="45720" rtlCol="0" anchor="ctr"/>
          <a:lstStyle>
            <a:lvl1pPr algn="l">
              <a:defRPr sz="900">
                <a:solidFill>
                  <a:schemeClr val="tx1">
                    <a:tint val="75000"/>
                  </a:schemeClr>
                </a:solidFill>
              </a:defRPr>
            </a:lvl1pPr>
          </a:lstStyle>
          <a:p>
            <a:fld id="{D46B6265-942E-4956-8ADB-914F61F48DD7}" type="datetimeFigureOut">
              <a:rPr lang="zh-CN" altLang="en-US" smtClean="0"/>
              <a:t>2022/09/28</a:t>
            </a:fld>
            <a:endParaRPr lang="zh-CN" altLang="en-US"/>
          </a:p>
        </p:txBody>
      </p:sp>
      <p:sp>
        <p:nvSpPr>
          <p:cNvPr id="5" name="Footer Placeholder 4"/>
          <p:cNvSpPr>
            <a:spLocks noGrp="1"/>
          </p:cNvSpPr>
          <p:nvPr>
            <p:ph type="ftr" sz="quarter" idx="3"/>
          </p:nvPr>
        </p:nvSpPr>
        <p:spPr>
          <a:xfrm>
            <a:off x="3028950" y="5296959"/>
            <a:ext cx="3086100" cy="304271"/>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5296959"/>
            <a:ext cx="2057400" cy="304271"/>
          </a:xfrm>
          <a:prstGeom prst="rect">
            <a:avLst/>
          </a:prstGeom>
        </p:spPr>
        <p:txBody>
          <a:bodyPr vert="horz" lIns="91440" tIns="45720" rIns="91440" bIns="45720" rtlCol="0" anchor="ctr"/>
          <a:lstStyle>
            <a:lvl1pPr algn="r">
              <a:defRPr sz="900">
                <a:solidFill>
                  <a:schemeClr val="tx1">
                    <a:tint val="75000"/>
                  </a:schemeClr>
                </a:solidFill>
              </a:defRPr>
            </a:lvl1pPr>
          </a:lstStyle>
          <a:p>
            <a:fld id="{541C6FCA-8BAE-4348-A087-A988F5DD080B}" type="slidenum">
              <a:rPr lang="zh-CN" altLang="en-US" smtClean="0"/>
              <a:t>‹#›</a:t>
            </a:fld>
            <a:endParaRPr lang="zh-CN" altLang="en-US"/>
          </a:p>
        </p:txBody>
      </p:sp>
    </p:spTree>
    <p:extLst>
      <p:ext uri="{BB962C8B-B14F-4D97-AF65-F5344CB8AC3E}">
        <p14:creationId xmlns:p14="http://schemas.microsoft.com/office/powerpoint/2010/main" val="4323655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2" r:id="rId8"/>
    <p:sldLayoutId id="2147483673" r:id="rId9"/>
    <p:sldLayoutId id="2147483674" r:id="rId10"/>
    <p:sldLayoutId id="2147483675" r:id="rId11"/>
    <p:sldLayoutId id="2147483676" r:id="rId12"/>
    <p:sldLayoutId id="2147483668" r:id="rId13"/>
    <p:sldLayoutId id="2147483669" r:id="rId14"/>
    <p:sldLayoutId id="2147483670" r:id="rId15"/>
    <p:sldLayoutId id="2147483671" r:id="rId16"/>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9.xml"/><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chart" Target="../charts/chart7.xml"/><Relationship Id="rId1" Type="http://schemas.openxmlformats.org/officeDocument/2006/relationships/slideLayout" Target="../slideLayouts/slideLayout10.xml"/><Relationship Id="rId5" Type="http://schemas.microsoft.com/office/2007/relationships/hdphoto" Target="../media/hdphoto2.wdp"/><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8.png"/><Relationship Id="rId1" Type="http://schemas.openxmlformats.org/officeDocument/2006/relationships/slideLayout" Target="../slideLayouts/slideLayout11.xml"/><Relationship Id="rId4" Type="http://schemas.openxmlformats.org/officeDocument/2006/relationships/chart" Target="../charts/chart8.xml"/></Relationships>
</file>

<file path=ppt/slides/_rels/slide18.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3.png"/><Relationship Id="rId1" Type="http://schemas.openxmlformats.org/officeDocument/2006/relationships/slideLayout" Target="../slideLayouts/slideLayout12.xml"/><Relationship Id="rId4" Type="http://schemas.openxmlformats.org/officeDocument/2006/relationships/chart" Target="../charts/chart10.xml"/></Relationships>
</file>

<file path=ppt/slides/_rels/slide22.xml.rels><?xml version="1.0" encoding="UTF-8" standalone="yes"?>
<Relationships xmlns="http://schemas.openxmlformats.org/package/2006/relationships"><Relationship Id="rId8" Type="http://schemas.openxmlformats.org/officeDocument/2006/relationships/image" Target="../media/image27.png"/><Relationship Id="rId3" Type="http://schemas.microsoft.com/office/2007/relationships/hdphoto" Target="../media/hdphoto5.wdp"/><Relationship Id="rId7"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12.xml"/><Relationship Id="rId6" Type="http://schemas.microsoft.com/office/2007/relationships/hdphoto" Target="../media/hdphoto6.wdp"/><Relationship Id="rId5" Type="http://schemas.openxmlformats.org/officeDocument/2006/relationships/image" Target="../media/image25.png"/><Relationship Id="rId4" Type="http://schemas.openxmlformats.org/officeDocument/2006/relationships/image" Target="../media/image2.jpg"/><Relationship Id="rId9" Type="http://schemas.microsoft.com/office/2007/relationships/hdphoto" Target="../media/hdphoto7.wdp"/></Relationships>
</file>

<file path=ppt/slides/_rels/slide2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梯形 3"/>
          <p:cNvSpPr/>
          <p:nvPr/>
        </p:nvSpPr>
        <p:spPr>
          <a:xfrm>
            <a:off x="3150606" y="0"/>
            <a:ext cx="6002428" cy="5715000"/>
          </a:xfrm>
          <a:custGeom>
            <a:avLst/>
            <a:gdLst>
              <a:gd name="connsiteX0" fmla="*/ 0 w 5993394"/>
              <a:gd name="connsiteY0" fmla="*/ 5715000 h 5715000"/>
              <a:gd name="connsiteX1" fmla="*/ 2670791 w 5993394"/>
              <a:gd name="connsiteY1" fmla="*/ 0 h 5715000"/>
              <a:gd name="connsiteX2" fmla="*/ 3322603 w 5993394"/>
              <a:gd name="connsiteY2" fmla="*/ 0 h 5715000"/>
              <a:gd name="connsiteX3" fmla="*/ 5993394 w 5993394"/>
              <a:gd name="connsiteY3" fmla="*/ 5715000 h 5715000"/>
              <a:gd name="connsiteX4" fmla="*/ 0 w 5993394"/>
              <a:gd name="connsiteY4" fmla="*/ 5715000 h 5715000"/>
              <a:gd name="connsiteX0" fmla="*/ 0 w 6002428"/>
              <a:gd name="connsiteY0" fmla="*/ 5715000 h 5715000"/>
              <a:gd name="connsiteX1" fmla="*/ 2670791 w 6002428"/>
              <a:gd name="connsiteY1" fmla="*/ 0 h 5715000"/>
              <a:gd name="connsiteX2" fmla="*/ 6002428 w 6002428"/>
              <a:gd name="connsiteY2" fmla="*/ 0 h 5715000"/>
              <a:gd name="connsiteX3" fmla="*/ 5993394 w 6002428"/>
              <a:gd name="connsiteY3" fmla="*/ 5715000 h 5715000"/>
              <a:gd name="connsiteX4" fmla="*/ 0 w 6002428"/>
              <a:gd name="connsiteY4" fmla="*/ 5715000 h 571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2428" h="5715000">
                <a:moveTo>
                  <a:pt x="0" y="5715000"/>
                </a:moveTo>
                <a:lnTo>
                  <a:pt x="2670791" y="0"/>
                </a:lnTo>
                <a:lnTo>
                  <a:pt x="6002428" y="0"/>
                </a:lnTo>
                <a:cubicBezTo>
                  <a:pt x="5999417" y="1905000"/>
                  <a:pt x="5996405" y="3810000"/>
                  <a:pt x="5993394" y="5715000"/>
                </a:cubicBezTo>
                <a:lnTo>
                  <a:pt x="0" y="5715000"/>
                </a:lnTo>
                <a:close/>
              </a:path>
            </a:pathLst>
          </a:custGeom>
          <a:blipFill dpi="0" rotWithShape="1">
            <a:blip r:embed="rId2"/>
            <a:srcRect/>
            <a:stretch>
              <a:fillRect l="-23895" r="-2472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2355" y="2214137"/>
            <a:ext cx="620549" cy="1693000"/>
          </a:xfrm>
          <a:prstGeom prst="rect">
            <a:avLst/>
          </a:prstGeom>
          <a:solidFill>
            <a:schemeClr val="accent2">
              <a:lumMod val="7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p:nvSpPr>
        <p:spPr>
          <a:xfrm>
            <a:off x="294226" y="2019792"/>
            <a:ext cx="4630421" cy="1715102"/>
          </a:xfrm>
          <a:custGeom>
            <a:avLst/>
            <a:gdLst>
              <a:gd name="connsiteX0" fmla="*/ 0 w 5259209"/>
              <a:gd name="connsiteY0" fmla="*/ 0 h 1948004"/>
              <a:gd name="connsiteX1" fmla="*/ 5259209 w 5259209"/>
              <a:gd name="connsiteY1" fmla="*/ 0 h 1948004"/>
              <a:gd name="connsiteX2" fmla="*/ 4343949 w 5259209"/>
              <a:gd name="connsiteY2" fmla="*/ 1948004 h 1948004"/>
              <a:gd name="connsiteX3" fmla="*/ 0 w 5259209"/>
              <a:gd name="connsiteY3" fmla="*/ 1948004 h 1948004"/>
            </a:gdLst>
            <a:ahLst/>
            <a:cxnLst>
              <a:cxn ang="0">
                <a:pos x="connsiteX0" y="connsiteY0"/>
              </a:cxn>
              <a:cxn ang="0">
                <a:pos x="connsiteX1" y="connsiteY1"/>
              </a:cxn>
              <a:cxn ang="0">
                <a:pos x="connsiteX2" y="connsiteY2"/>
              </a:cxn>
              <a:cxn ang="0">
                <a:pos x="connsiteX3" y="connsiteY3"/>
              </a:cxn>
            </a:cxnLst>
            <a:rect l="l" t="t" r="r" b="b"/>
            <a:pathLst>
              <a:path w="5259209" h="1948004">
                <a:moveTo>
                  <a:pt x="0" y="0"/>
                </a:moveTo>
                <a:lnTo>
                  <a:pt x="5259209" y="0"/>
                </a:lnTo>
                <a:lnTo>
                  <a:pt x="4343949" y="1948004"/>
                </a:lnTo>
                <a:lnTo>
                  <a:pt x="0" y="1948004"/>
                </a:lnTo>
                <a:close/>
              </a:path>
            </a:pathLst>
          </a:custGeom>
          <a:solidFill>
            <a:schemeClr val="accent2"/>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直角三角形 10"/>
          <p:cNvSpPr/>
          <p:nvPr/>
        </p:nvSpPr>
        <p:spPr>
          <a:xfrm rot="10800000">
            <a:off x="217948" y="3710973"/>
            <a:ext cx="380246" cy="196164"/>
          </a:xfrm>
          <a:prstGeom prst="rtTriangle">
            <a:avLst/>
          </a:prstGeom>
          <a:solidFill>
            <a:schemeClr val="accent2">
              <a:lumMod val="5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574665" y="1489632"/>
            <a:ext cx="6464175" cy="1989667"/>
          </a:xfrm>
        </p:spPr>
        <p:txBody>
          <a:bodyPr>
            <a:normAutofit/>
          </a:bodyPr>
          <a:lstStyle/>
          <a:p>
            <a:pPr algn="l"/>
            <a:r>
              <a:rPr lang="en-US" altLang="zh-CN" sz="6600" dirty="0">
                <a:solidFill>
                  <a:schemeClr val="bg1"/>
                </a:solidFill>
              </a:rPr>
              <a:t>2019</a:t>
            </a:r>
            <a:br>
              <a:rPr lang="en-US" altLang="zh-CN" sz="3200" dirty="0">
                <a:solidFill>
                  <a:schemeClr val="bg1"/>
                </a:solidFill>
              </a:rPr>
            </a:br>
            <a:r>
              <a:rPr lang="zh-CN" altLang="en-US" sz="2800" b="1" dirty="0">
                <a:solidFill>
                  <a:schemeClr val="bg1"/>
                </a:solidFill>
                <a:latin typeface="+mn-ea"/>
                <a:ea typeface="+mn-ea"/>
              </a:rPr>
              <a:t>客户服务行业趋势报告</a:t>
            </a:r>
            <a:endParaRPr lang="zh-CN" altLang="en-US" sz="3200" b="1" dirty="0">
              <a:solidFill>
                <a:schemeClr val="bg1"/>
              </a:solidFill>
              <a:latin typeface="+mn-ea"/>
              <a:ea typeface="+mn-ea"/>
            </a:endParaRPr>
          </a:p>
        </p:txBody>
      </p:sp>
      <p:grpSp>
        <p:nvGrpSpPr>
          <p:cNvPr id="81" name="组合 80"/>
          <p:cNvGrpSpPr/>
          <p:nvPr/>
        </p:nvGrpSpPr>
        <p:grpSpPr>
          <a:xfrm>
            <a:off x="598194" y="4373658"/>
            <a:ext cx="1209838" cy="767071"/>
            <a:chOff x="1419243" y="4456566"/>
            <a:chExt cx="1731363" cy="1097733"/>
          </a:xfrm>
          <a:solidFill>
            <a:schemeClr val="tx1">
              <a:lumMod val="75000"/>
              <a:lumOff val="25000"/>
            </a:schemeClr>
          </a:solidFill>
          <a:effectLst>
            <a:outerShdw blurRad="63500" sx="102000" sy="102000" algn="ctr" rotWithShape="0">
              <a:prstClr val="black">
                <a:alpha val="40000"/>
              </a:prstClr>
            </a:outerShdw>
          </a:effectLst>
        </p:grpSpPr>
        <p:sp>
          <p:nvSpPr>
            <p:cNvPr id="14" name="椭圆 13"/>
            <p:cNvSpPr/>
            <p:nvPr/>
          </p:nvSpPr>
          <p:spPr>
            <a:xfrm>
              <a:off x="1865015" y="4925084"/>
              <a:ext cx="153909" cy="153909"/>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2087730"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2310445" y="4925084"/>
              <a:ext cx="153909" cy="15390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2533160"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2755875" y="4925084"/>
              <a:ext cx="153909" cy="15390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2996697"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2865422" y="4766648"/>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2736411" y="4610475"/>
              <a:ext cx="153909" cy="153909"/>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2865422" y="50857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2736411" y="5251011"/>
              <a:ext cx="153909" cy="15390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2601966" y="4456566"/>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2601966" y="5400390"/>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1644563"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1419243"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9" name="组合 48"/>
          <p:cNvGrpSpPr/>
          <p:nvPr/>
        </p:nvGrpSpPr>
        <p:grpSpPr>
          <a:xfrm>
            <a:off x="3972563" y="1019644"/>
            <a:ext cx="780064" cy="780064"/>
            <a:chOff x="2177192" y="82536"/>
            <a:chExt cx="681944" cy="681944"/>
          </a:xfrm>
          <a:effectLst>
            <a:outerShdw blurRad="50800" dist="38100" dir="2700000" algn="tl" rotWithShape="0">
              <a:prstClr val="black">
                <a:alpha val="40000"/>
              </a:prstClr>
            </a:outerShdw>
          </a:effectLst>
        </p:grpSpPr>
        <p:sp>
          <p:nvSpPr>
            <p:cNvPr id="48" name="对话气泡: 椭圆形 47"/>
            <p:cNvSpPr/>
            <p:nvPr/>
          </p:nvSpPr>
          <p:spPr>
            <a:xfrm>
              <a:off x="2177192" y="82536"/>
              <a:ext cx="681944" cy="681944"/>
            </a:xfrm>
            <a:prstGeom prst="wedgeEllipseCallout">
              <a:avLst>
                <a:gd name="adj1" fmla="val -20833"/>
                <a:gd name="adj2" fmla="val 5519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7" name="组合 46"/>
            <p:cNvGrpSpPr/>
            <p:nvPr/>
          </p:nvGrpSpPr>
          <p:grpSpPr>
            <a:xfrm>
              <a:off x="2310445" y="196528"/>
              <a:ext cx="431084" cy="457516"/>
              <a:chOff x="2403619" y="221633"/>
              <a:chExt cx="1199963" cy="1295399"/>
            </a:xfrm>
            <a:solidFill>
              <a:schemeClr val="tx2">
                <a:lumMod val="50000"/>
              </a:schemeClr>
            </a:solidFill>
          </p:grpSpPr>
          <p:sp>
            <p:nvSpPr>
              <p:cNvPr id="41" name="空心弧 40"/>
              <p:cNvSpPr/>
              <p:nvPr/>
            </p:nvSpPr>
            <p:spPr>
              <a:xfrm>
                <a:off x="2612379" y="221633"/>
                <a:ext cx="744194" cy="1295399"/>
              </a:xfrm>
              <a:prstGeom prst="blockArc">
                <a:avLst>
                  <a:gd name="adj1" fmla="val 11625145"/>
                  <a:gd name="adj2" fmla="val 20342148"/>
                  <a:gd name="adj3" fmla="val 1591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2" name="弦形 41"/>
              <p:cNvSpPr/>
              <p:nvPr/>
            </p:nvSpPr>
            <p:spPr>
              <a:xfrm rot="3121693">
                <a:off x="2403619" y="848407"/>
                <a:ext cx="461727" cy="461727"/>
              </a:xfrm>
              <a:prstGeom prst="chord">
                <a:avLst>
                  <a:gd name="adj1" fmla="val 2700000"/>
                  <a:gd name="adj2" fmla="val 1240812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弦形 42"/>
              <p:cNvSpPr/>
              <p:nvPr/>
            </p:nvSpPr>
            <p:spPr>
              <a:xfrm rot="18478307" flipH="1">
                <a:off x="3141855" y="832312"/>
                <a:ext cx="461727" cy="461727"/>
              </a:xfrm>
              <a:prstGeom prst="chord">
                <a:avLst>
                  <a:gd name="adj1" fmla="val 2700000"/>
                  <a:gd name="adj2" fmla="val 1240812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矩形: 圆角 44"/>
              <p:cNvSpPr/>
              <p:nvPr/>
            </p:nvSpPr>
            <p:spPr>
              <a:xfrm rot="21438804">
                <a:off x="2641142" y="838558"/>
                <a:ext cx="45719" cy="48411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矩形: 圆角 45"/>
              <p:cNvSpPr/>
              <p:nvPr/>
            </p:nvSpPr>
            <p:spPr>
              <a:xfrm rot="161196" flipH="1">
                <a:off x="3327395" y="820154"/>
                <a:ext cx="45719" cy="48411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4127869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25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1000" fill="hold"/>
                                        <p:tgtEl>
                                          <p:spTgt spid="10"/>
                                        </p:tgtEl>
                                        <p:attrNameLst>
                                          <p:attrName>ppt_x</p:attrName>
                                        </p:attrNameLst>
                                      </p:cBhvr>
                                      <p:tavLst>
                                        <p:tav tm="0">
                                          <p:val>
                                            <p:strVal val="0-#ppt_w/2"/>
                                          </p:val>
                                        </p:tav>
                                        <p:tav tm="100000">
                                          <p:val>
                                            <p:strVal val="#ppt_x"/>
                                          </p:val>
                                        </p:tav>
                                      </p:tavLst>
                                    </p:anim>
                                    <p:anim calcmode="lin" valueType="num">
                                      <p:cBhvr additive="base">
                                        <p:cTn id="16" dur="1000" fill="hold"/>
                                        <p:tgtEl>
                                          <p:spTgt spid="10"/>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25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1000" fill="hold"/>
                                        <p:tgtEl>
                                          <p:spTgt spid="4"/>
                                        </p:tgtEl>
                                        <p:attrNameLst>
                                          <p:attrName>ppt_x</p:attrName>
                                        </p:attrNameLst>
                                      </p:cBhvr>
                                      <p:tavLst>
                                        <p:tav tm="0">
                                          <p:val>
                                            <p:strVal val="1+#ppt_w/2"/>
                                          </p:val>
                                        </p:tav>
                                        <p:tav tm="100000">
                                          <p:val>
                                            <p:strVal val="#ppt_x"/>
                                          </p:val>
                                        </p:tav>
                                      </p:tavLst>
                                    </p:anim>
                                    <p:anim calcmode="lin" valueType="num">
                                      <p:cBhvr additive="base">
                                        <p:cTn id="20" dur="1000" fill="hold"/>
                                        <p:tgtEl>
                                          <p:spTgt spid="4"/>
                                        </p:tgtEl>
                                        <p:attrNameLst>
                                          <p:attrName>ppt_y</p:attrName>
                                        </p:attrNameLst>
                                      </p:cBhvr>
                                      <p:tavLst>
                                        <p:tav tm="0">
                                          <p:val>
                                            <p:strVal val="#ppt_y"/>
                                          </p:val>
                                        </p:tav>
                                        <p:tav tm="100000">
                                          <p:val>
                                            <p:strVal val="#ppt_y"/>
                                          </p:val>
                                        </p:tav>
                                      </p:tavLst>
                                    </p:anim>
                                  </p:childTnLst>
                                </p:cTn>
                              </p:par>
                            </p:childTnLst>
                          </p:cTn>
                        </p:par>
                        <p:par>
                          <p:cTn id="21" fill="hold">
                            <p:stCondLst>
                              <p:cond delay="1250"/>
                            </p:stCondLst>
                            <p:childTnLst>
                              <p:par>
                                <p:cTn id="22" presetID="42" presetClass="entr" presetSubtype="0" fill="hold" grpId="0" nodeType="after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1000"/>
                                        <p:tgtEl>
                                          <p:spTgt spid="2"/>
                                        </p:tgtEl>
                                      </p:cBhvr>
                                    </p:animEffect>
                                    <p:anim calcmode="lin" valueType="num">
                                      <p:cBhvr>
                                        <p:cTn id="25" dur="1000" fill="hold"/>
                                        <p:tgtEl>
                                          <p:spTgt spid="2"/>
                                        </p:tgtEl>
                                        <p:attrNameLst>
                                          <p:attrName>ppt_x</p:attrName>
                                        </p:attrNameLst>
                                      </p:cBhvr>
                                      <p:tavLst>
                                        <p:tav tm="0">
                                          <p:val>
                                            <p:strVal val="#ppt_x"/>
                                          </p:val>
                                        </p:tav>
                                        <p:tav tm="100000">
                                          <p:val>
                                            <p:strVal val="#ppt_x"/>
                                          </p:val>
                                        </p:tav>
                                      </p:tavLst>
                                    </p:anim>
                                    <p:anim calcmode="lin" valueType="num">
                                      <p:cBhvr>
                                        <p:cTn id="26" dur="1000" fill="hold"/>
                                        <p:tgtEl>
                                          <p:spTgt spid="2"/>
                                        </p:tgtEl>
                                        <p:attrNameLst>
                                          <p:attrName>ppt_y</p:attrName>
                                        </p:attrNameLst>
                                      </p:cBhvr>
                                      <p:tavLst>
                                        <p:tav tm="0">
                                          <p:val>
                                            <p:strVal val="#ppt_y+.1"/>
                                          </p:val>
                                        </p:tav>
                                        <p:tav tm="100000">
                                          <p:val>
                                            <p:strVal val="#ppt_y"/>
                                          </p:val>
                                        </p:tav>
                                      </p:tavLst>
                                    </p:anim>
                                  </p:childTnLst>
                                </p:cTn>
                              </p:par>
                              <p:par>
                                <p:cTn id="27" presetID="47"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animEffect transition="in" filter="fade">
                                      <p:cBhvr>
                                        <p:cTn id="29" dur="1000"/>
                                        <p:tgtEl>
                                          <p:spTgt spid="49"/>
                                        </p:tgtEl>
                                      </p:cBhvr>
                                    </p:animEffect>
                                    <p:anim calcmode="lin" valueType="num">
                                      <p:cBhvr>
                                        <p:cTn id="30" dur="1000" fill="hold"/>
                                        <p:tgtEl>
                                          <p:spTgt spid="49"/>
                                        </p:tgtEl>
                                        <p:attrNameLst>
                                          <p:attrName>ppt_x</p:attrName>
                                        </p:attrNameLst>
                                      </p:cBhvr>
                                      <p:tavLst>
                                        <p:tav tm="0">
                                          <p:val>
                                            <p:strVal val="#ppt_x"/>
                                          </p:val>
                                        </p:tav>
                                        <p:tav tm="100000">
                                          <p:val>
                                            <p:strVal val="#ppt_x"/>
                                          </p:val>
                                        </p:tav>
                                      </p:tavLst>
                                    </p:anim>
                                    <p:anim calcmode="lin" valueType="num">
                                      <p:cBhvr>
                                        <p:cTn id="31"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0" grpId="0" animBg="1"/>
      <p:bldP spid="11" grpId="0" animBg="1"/>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808221" y="138701"/>
            <a:ext cx="1297905" cy="1104636"/>
          </a:xfrm>
        </p:spPr>
        <p:txBody>
          <a:bodyPr/>
          <a:lstStyle/>
          <a:p>
            <a:pPr algn="dist"/>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8" name="矩形 7"/>
          <p:cNvSpPr/>
          <p:nvPr/>
        </p:nvSpPr>
        <p:spPr>
          <a:xfrm>
            <a:off x="0" y="4165002"/>
            <a:ext cx="9144000" cy="71718"/>
          </a:xfrm>
          <a:prstGeom prst="rect">
            <a:avLst/>
          </a:prstGeom>
          <a:gradFill>
            <a:gsLst>
              <a:gs pos="0">
                <a:schemeClr val="tx1">
                  <a:lumMod val="50000"/>
                  <a:lumOff val="50000"/>
                </a:schemeClr>
              </a:gs>
              <a:gs pos="25000">
                <a:schemeClr val="tx1">
                  <a:lumMod val="75000"/>
                  <a:lumOff val="25000"/>
                </a:schemeClr>
              </a:gs>
              <a:gs pos="50000">
                <a:schemeClr val="bg1"/>
              </a:gs>
              <a:gs pos="75000">
                <a:schemeClr val="tx1">
                  <a:lumMod val="75000"/>
                  <a:lumOff val="25000"/>
                </a:schemeClr>
              </a:gs>
              <a:gs pos="100000">
                <a:schemeClr val="tx1">
                  <a:lumMod val="50000"/>
                  <a:lumOff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524741" y="3694559"/>
            <a:ext cx="940886" cy="940886"/>
            <a:chOff x="950259" y="2474259"/>
            <a:chExt cx="1147482" cy="1147482"/>
          </a:xfrm>
        </p:grpSpPr>
        <p:sp>
          <p:nvSpPr>
            <p:cNvPr id="9" name="椭圆 8"/>
            <p:cNvSpPr/>
            <p:nvPr/>
          </p:nvSpPr>
          <p:spPr>
            <a:xfrm>
              <a:off x="950259" y="2474259"/>
              <a:ext cx="1147482" cy="1147482"/>
            </a:xfrm>
            <a:prstGeom prst="ellipse">
              <a:avLst/>
            </a:prstGeom>
            <a:solidFill>
              <a:schemeClr val="bg1">
                <a:lumMod val="95000"/>
              </a:schemeClr>
            </a:solidFill>
            <a:ln>
              <a:noFill/>
            </a:ln>
            <a:effectLst>
              <a:innerShdw blurRad="889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239981" y="2760518"/>
              <a:ext cx="574964" cy="574964"/>
            </a:xfrm>
            <a:prstGeom prst="ellipse">
              <a:avLst/>
            </a:prstGeom>
            <a:solidFill>
              <a:schemeClr val="accent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mn-ea"/>
                </a:rPr>
                <a:t>1</a:t>
              </a:r>
              <a:endParaRPr lang="zh-CN" altLang="en-US" b="1" dirty="0">
                <a:solidFill>
                  <a:schemeClr val="bg1"/>
                </a:solidFill>
                <a:latin typeface="+mn-ea"/>
              </a:endParaRPr>
            </a:p>
          </p:txBody>
        </p:sp>
      </p:grpSp>
      <p:grpSp>
        <p:nvGrpSpPr>
          <p:cNvPr id="18" name="组合 17"/>
          <p:cNvGrpSpPr/>
          <p:nvPr/>
        </p:nvGrpSpPr>
        <p:grpSpPr>
          <a:xfrm>
            <a:off x="2287172" y="3694559"/>
            <a:ext cx="940886" cy="940886"/>
            <a:chOff x="950259" y="2474259"/>
            <a:chExt cx="1147482" cy="1147482"/>
          </a:xfrm>
        </p:grpSpPr>
        <p:sp>
          <p:nvSpPr>
            <p:cNvPr id="19" name="椭圆 18"/>
            <p:cNvSpPr/>
            <p:nvPr/>
          </p:nvSpPr>
          <p:spPr>
            <a:xfrm>
              <a:off x="950259" y="2474259"/>
              <a:ext cx="1147482" cy="1147482"/>
            </a:xfrm>
            <a:prstGeom prst="ellipse">
              <a:avLst/>
            </a:prstGeom>
            <a:solidFill>
              <a:schemeClr val="bg1">
                <a:lumMod val="95000"/>
              </a:schemeClr>
            </a:solidFill>
            <a:ln>
              <a:noFill/>
            </a:ln>
            <a:effectLst>
              <a:innerShdw blurRad="889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lumMod val="40000"/>
                    <a:lumOff val="60000"/>
                  </a:schemeClr>
                </a:solidFill>
              </a:endParaRPr>
            </a:p>
          </p:txBody>
        </p:sp>
        <p:sp>
          <p:nvSpPr>
            <p:cNvPr id="20" name="椭圆 19"/>
            <p:cNvSpPr/>
            <p:nvPr/>
          </p:nvSpPr>
          <p:spPr>
            <a:xfrm>
              <a:off x="1239982" y="2760518"/>
              <a:ext cx="574964" cy="574964"/>
            </a:xfrm>
            <a:prstGeom prst="ellipse">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mn-ea"/>
                </a:rPr>
                <a:t>2</a:t>
              </a:r>
              <a:endParaRPr lang="zh-CN" altLang="en-US" b="1" dirty="0">
                <a:solidFill>
                  <a:schemeClr val="bg1"/>
                </a:solidFill>
                <a:latin typeface="+mn-ea"/>
              </a:endParaRPr>
            </a:p>
          </p:txBody>
        </p:sp>
      </p:grpSp>
      <p:grpSp>
        <p:nvGrpSpPr>
          <p:cNvPr id="21" name="组合 20"/>
          <p:cNvGrpSpPr/>
          <p:nvPr/>
        </p:nvGrpSpPr>
        <p:grpSpPr>
          <a:xfrm>
            <a:off x="4049603" y="3694559"/>
            <a:ext cx="940886" cy="940886"/>
            <a:chOff x="950259" y="2474259"/>
            <a:chExt cx="1147482" cy="1147482"/>
          </a:xfrm>
        </p:grpSpPr>
        <p:sp>
          <p:nvSpPr>
            <p:cNvPr id="22" name="椭圆 21"/>
            <p:cNvSpPr/>
            <p:nvPr/>
          </p:nvSpPr>
          <p:spPr>
            <a:xfrm>
              <a:off x="950259" y="2474259"/>
              <a:ext cx="1147482" cy="1147482"/>
            </a:xfrm>
            <a:prstGeom prst="ellipse">
              <a:avLst/>
            </a:prstGeom>
            <a:solidFill>
              <a:schemeClr val="bg1">
                <a:lumMod val="95000"/>
              </a:schemeClr>
            </a:solidFill>
            <a:ln>
              <a:noFill/>
            </a:ln>
            <a:effectLst>
              <a:innerShdw blurRad="889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lumMod val="40000"/>
                    <a:lumOff val="60000"/>
                  </a:schemeClr>
                </a:solidFill>
              </a:endParaRPr>
            </a:p>
          </p:txBody>
        </p:sp>
        <p:sp>
          <p:nvSpPr>
            <p:cNvPr id="23" name="椭圆 22"/>
            <p:cNvSpPr/>
            <p:nvPr/>
          </p:nvSpPr>
          <p:spPr>
            <a:xfrm>
              <a:off x="1239982" y="2760518"/>
              <a:ext cx="574964" cy="574964"/>
            </a:xfrm>
            <a:prstGeom prst="ellipse">
              <a:avLst/>
            </a:pr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mn-ea"/>
                </a:rPr>
                <a:t>3</a:t>
              </a:r>
              <a:endParaRPr lang="zh-CN" altLang="en-US" b="1" dirty="0">
                <a:solidFill>
                  <a:schemeClr val="bg1"/>
                </a:solidFill>
                <a:latin typeface="+mn-ea"/>
              </a:endParaRPr>
            </a:p>
          </p:txBody>
        </p:sp>
      </p:grpSp>
      <p:grpSp>
        <p:nvGrpSpPr>
          <p:cNvPr id="24" name="组合 23"/>
          <p:cNvGrpSpPr/>
          <p:nvPr/>
        </p:nvGrpSpPr>
        <p:grpSpPr>
          <a:xfrm>
            <a:off x="5812034" y="3694559"/>
            <a:ext cx="940886" cy="940886"/>
            <a:chOff x="950259" y="2474259"/>
            <a:chExt cx="1147482" cy="1147482"/>
          </a:xfrm>
        </p:grpSpPr>
        <p:sp>
          <p:nvSpPr>
            <p:cNvPr id="25" name="椭圆 24"/>
            <p:cNvSpPr/>
            <p:nvPr/>
          </p:nvSpPr>
          <p:spPr>
            <a:xfrm>
              <a:off x="950259" y="2474259"/>
              <a:ext cx="1147482" cy="1147482"/>
            </a:xfrm>
            <a:prstGeom prst="ellipse">
              <a:avLst/>
            </a:prstGeom>
            <a:solidFill>
              <a:schemeClr val="bg1">
                <a:lumMod val="95000"/>
              </a:schemeClr>
            </a:solidFill>
            <a:ln>
              <a:noFill/>
            </a:ln>
            <a:effectLst>
              <a:innerShdw blurRad="889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1239982" y="2760518"/>
              <a:ext cx="574964" cy="574964"/>
            </a:xfrm>
            <a:prstGeom prst="ellipse">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mn-ea"/>
                </a:rPr>
                <a:t>4</a:t>
              </a:r>
              <a:endParaRPr lang="zh-CN" altLang="en-US" b="1" dirty="0">
                <a:solidFill>
                  <a:schemeClr val="bg1"/>
                </a:solidFill>
                <a:latin typeface="+mn-ea"/>
              </a:endParaRPr>
            </a:p>
          </p:txBody>
        </p:sp>
      </p:grpSp>
      <p:grpSp>
        <p:nvGrpSpPr>
          <p:cNvPr id="27" name="组合 26"/>
          <p:cNvGrpSpPr/>
          <p:nvPr/>
        </p:nvGrpSpPr>
        <p:grpSpPr>
          <a:xfrm>
            <a:off x="7574464" y="3694559"/>
            <a:ext cx="940886" cy="940886"/>
            <a:chOff x="950259" y="2474259"/>
            <a:chExt cx="1147482" cy="1147482"/>
          </a:xfrm>
        </p:grpSpPr>
        <p:sp>
          <p:nvSpPr>
            <p:cNvPr id="28" name="椭圆 27"/>
            <p:cNvSpPr/>
            <p:nvPr/>
          </p:nvSpPr>
          <p:spPr>
            <a:xfrm>
              <a:off x="950259" y="2474259"/>
              <a:ext cx="1147482" cy="1147482"/>
            </a:xfrm>
            <a:prstGeom prst="ellipse">
              <a:avLst/>
            </a:prstGeom>
            <a:solidFill>
              <a:schemeClr val="bg1">
                <a:lumMod val="95000"/>
              </a:schemeClr>
            </a:solidFill>
            <a:ln>
              <a:noFill/>
            </a:ln>
            <a:effectLst>
              <a:innerShdw blurRad="889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1239982" y="2760518"/>
              <a:ext cx="574964" cy="574964"/>
            </a:xfrm>
            <a:prstGeom prst="ellipse">
              <a:avLst/>
            </a:prstGeom>
            <a:solidFill>
              <a:schemeClr val="accent6">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mn-ea"/>
                </a:rPr>
                <a:t>5</a:t>
              </a:r>
              <a:endParaRPr lang="zh-CN" altLang="en-US" b="1" dirty="0">
                <a:solidFill>
                  <a:schemeClr val="bg1"/>
                </a:solidFill>
                <a:latin typeface="+mn-ea"/>
              </a:endParaRPr>
            </a:p>
          </p:txBody>
        </p:sp>
      </p:grpSp>
      <p:sp>
        <p:nvSpPr>
          <p:cNvPr id="36" name="等腰三角形 35"/>
          <p:cNvSpPr/>
          <p:nvPr/>
        </p:nvSpPr>
        <p:spPr>
          <a:xfrm rot="10800000" flipH="1" flipV="1">
            <a:off x="2712027" y="3518833"/>
            <a:ext cx="91175" cy="102860"/>
          </a:xfrm>
          <a:prstGeom prst="triangl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rot="10800000" flipH="1" flipV="1">
            <a:off x="6236889" y="3518833"/>
            <a:ext cx="91175" cy="102860"/>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3910564" y="1023704"/>
            <a:ext cx="1093221" cy="132426"/>
            <a:chOff x="3910564" y="926684"/>
            <a:chExt cx="1093221" cy="132426"/>
          </a:xfrm>
          <a:solidFill>
            <a:schemeClr val="tx1">
              <a:lumMod val="65000"/>
              <a:lumOff val="35000"/>
            </a:schemeClr>
          </a:solidFill>
        </p:grpSpPr>
        <p:sp>
          <p:nvSpPr>
            <p:cNvPr id="38" name="椭圆 37"/>
            <p:cNvSpPr/>
            <p:nvPr/>
          </p:nvSpPr>
          <p:spPr>
            <a:xfrm>
              <a:off x="3910564" y="929901"/>
              <a:ext cx="129209" cy="12920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4151567" y="929901"/>
              <a:ext cx="129209" cy="129209"/>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4392570" y="926685"/>
              <a:ext cx="129209" cy="12920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nvSpPr>
          <p:spPr>
            <a:xfrm>
              <a:off x="4633573" y="926685"/>
              <a:ext cx="129209" cy="129209"/>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椭圆 47"/>
            <p:cNvSpPr/>
            <p:nvPr/>
          </p:nvSpPr>
          <p:spPr>
            <a:xfrm>
              <a:off x="4874576" y="926684"/>
              <a:ext cx="129209" cy="129209"/>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腰三角形 49"/>
          <p:cNvSpPr/>
          <p:nvPr/>
        </p:nvSpPr>
        <p:spPr>
          <a:xfrm rot="10800000" flipH="1" flipV="1">
            <a:off x="938033" y="3518833"/>
            <a:ext cx="91175" cy="102860"/>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51"/>
          <p:cNvSpPr/>
          <p:nvPr/>
        </p:nvSpPr>
        <p:spPr>
          <a:xfrm rot="10800000" flipH="1" flipV="1">
            <a:off x="4526412" y="3518833"/>
            <a:ext cx="91175" cy="10286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等腰三角形 52"/>
          <p:cNvSpPr/>
          <p:nvPr/>
        </p:nvSpPr>
        <p:spPr>
          <a:xfrm rot="10800000" flipH="1" flipV="1">
            <a:off x="7999319" y="3518833"/>
            <a:ext cx="91175" cy="102860"/>
          </a:xfrm>
          <a:prstGeom prs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2021915" y="1575078"/>
            <a:ext cx="1470895" cy="1721711"/>
            <a:chOff x="2021915" y="1575078"/>
            <a:chExt cx="1470895" cy="1721711"/>
          </a:xfrm>
        </p:grpSpPr>
        <p:sp>
          <p:nvSpPr>
            <p:cNvPr id="32" name="流程图: 离页连接符 31"/>
            <p:cNvSpPr/>
            <p:nvPr/>
          </p:nvSpPr>
          <p:spPr>
            <a:xfrm>
              <a:off x="2021915" y="1575079"/>
              <a:ext cx="1470895" cy="1721710"/>
            </a:xfrm>
            <a:prstGeom prst="flowChartOffpageConnector">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全渠道客户服务全面提升服务能力</a:t>
              </a:r>
              <a:endParaRPr lang="en-US" altLang="zh-CN"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63" name="矩形 62"/>
            <p:cNvSpPr/>
            <p:nvPr/>
          </p:nvSpPr>
          <p:spPr>
            <a:xfrm>
              <a:off x="2021915" y="1575078"/>
              <a:ext cx="1470894" cy="231687"/>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p:cNvGrpSpPr/>
          <p:nvPr/>
        </p:nvGrpSpPr>
        <p:grpSpPr>
          <a:xfrm>
            <a:off x="3784429" y="1575078"/>
            <a:ext cx="1470895" cy="1721711"/>
            <a:chOff x="3784429" y="1575078"/>
            <a:chExt cx="1470895" cy="1721711"/>
          </a:xfrm>
        </p:grpSpPr>
        <p:sp>
          <p:nvSpPr>
            <p:cNvPr id="41" name="流程图: 离页连接符 40"/>
            <p:cNvSpPr/>
            <p:nvPr/>
          </p:nvSpPr>
          <p:spPr>
            <a:xfrm>
              <a:off x="3784429" y="1575079"/>
              <a:ext cx="1470895" cy="1721710"/>
            </a:xfrm>
            <a:prstGeom prst="flowChartOffpageConnector">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zh-CN" altLang="en-US" b="1" dirty="0">
                  <a:solidFill>
                    <a:schemeClr val="accent2"/>
                  </a:solidFill>
                  <a:latin typeface="微软雅黑" panose="020B0503020204020204" pitchFamily="34" charset="-122"/>
                  <a:ea typeface="微软雅黑" panose="020B0503020204020204" pitchFamily="34" charset="-122"/>
                </a:rPr>
                <a:t>社交媒体客户服务促进营销</a:t>
              </a:r>
              <a:endParaRPr lang="en-US" altLang="zh-CN" b="1" dirty="0">
                <a:solidFill>
                  <a:schemeClr val="accent2"/>
                </a:solidFill>
                <a:latin typeface="微软雅黑" panose="020B0503020204020204" pitchFamily="34" charset="-122"/>
                <a:ea typeface="微软雅黑" panose="020B0503020204020204" pitchFamily="34" charset="-122"/>
              </a:endParaRPr>
            </a:p>
          </p:txBody>
        </p:sp>
        <p:sp>
          <p:nvSpPr>
            <p:cNvPr id="64" name="矩形 63"/>
            <p:cNvSpPr/>
            <p:nvPr/>
          </p:nvSpPr>
          <p:spPr>
            <a:xfrm>
              <a:off x="3784429" y="1575078"/>
              <a:ext cx="1470894" cy="2316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a:off x="5546943" y="1575078"/>
            <a:ext cx="1470895" cy="1721711"/>
            <a:chOff x="5546943" y="1575078"/>
            <a:chExt cx="1470895" cy="1721711"/>
          </a:xfrm>
        </p:grpSpPr>
        <p:sp>
          <p:nvSpPr>
            <p:cNvPr id="42" name="流程图: 离页连接符 41"/>
            <p:cNvSpPr/>
            <p:nvPr/>
          </p:nvSpPr>
          <p:spPr>
            <a:xfrm>
              <a:off x="5546943" y="1575079"/>
              <a:ext cx="1470895" cy="1721710"/>
            </a:xfrm>
            <a:prstGeom prst="flowChartOffpageConnector">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zh-CN" altLang="en-US" b="1" dirty="0">
                  <a:solidFill>
                    <a:schemeClr val="accent1"/>
                  </a:solidFill>
                  <a:latin typeface="+mj-ea"/>
                  <a:ea typeface="+mj-ea"/>
                </a:rPr>
                <a:t>自助服务更好地节省客服成本</a:t>
              </a:r>
              <a:endParaRPr lang="en-US" altLang="zh-CN" b="1" dirty="0">
                <a:solidFill>
                  <a:schemeClr val="accent1"/>
                </a:solidFill>
                <a:latin typeface="+mj-ea"/>
                <a:ea typeface="+mj-ea"/>
              </a:endParaRPr>
            </a:p>
          </p:txBody>
        </p:sp>
        <p:sp>
          <p:nvSpPr>
            <p:cNvPr id="65" name="矩形 64"/>
            <p:cNvSpPr/>
            <p:nvPr/>
          </p:nvSpPr>
          <p:spPr>
            <a:xfrm>
              <a:off x="5546944" y="1575078"/>
              <a:ext cx="1470894" cy="23168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5" name="组合 14"/>
          <p:cNvGrpSpPr/>
          <p:nvPr/>
        </p:nvGrpSpPr>
        <p:grpSpPr>
          <a:xfrm>
            <a:off x="7309458" y="1575078"/>
            <a:ext cx="1470895" cy="1721711"/>
            <a:chOff x="7309458" y="1575078"/>
            <a:chExt cx="1470895" cy="1721711"/>
          </a:xfrm>
        </p:grpSpPr>
        <p:sp>
          <p:nvSpPr>
            <p:cNvPr id="44" name="流程图: 离页连接符 43"/>
            <p:cNvSpPr/>
            <p:nvPr/>
          </p:nvSpPr>
          <p:spPr>
            <a:xfrm>
              <a:off x="7309458" y="1575079"/>
              <a:ext cx="1470895" cy="1721710"/>
            </a:xfrm>
            <a:prstGeom prst="flowChartOffpageConnector">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altLang="zh-CN" b="1" dirty="0">
                  <a:solidFill>
                    <a:schemeClr val="accent6"/>
                  </a:solidFill>
                  <a:latin typeface="微软雅黑" panose="020B0503020204020204" pitchFamily="34" charset="-122"/>
                  <a:ea typeface="微软雅黑" panose="020B0503020204020204" pitchFamily="34" charset="-122"/>
                </a:rPr>
                <a:t>SaaS</a:t>
              </a:r>
              <a:r>
                <a:rPr lang="zh-CN" altLang="en-US" b="1" dirty="0">
                  <a:solidFill>
                    <a:schemeClr val="accent6"/>
                  </a:solidFill>
                  <a:latin typeface="微软雅黑" panose="020B0503020204020204" pitchFamily="34" charset="-122"/>
                  <a:ea typeface="微软雅黑" panose="020B0503020204020204" pitchFamily="34" charset="-122"/>
                </a:rPr>
                <a:t>化服务时代即将到来</a:t>
              </a:r>
            </a:p>
          </p:txBody>
        </p:sp>
        <p:sp>
          <p:nvSpPr>
            <p:cNvPr id="66" name="矩形 65"/>
            <p:cNvSpPr/>
            <p:nvPr/>
          </p:nvSpPr>
          <p:spPr>
            <a:xfrm>
              <a:off x="7309459" y="1575078"/>
              <a:ext cx="1470894" cy="231687"/>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238145" y="1575079"/>
            <a:ext cx="1492151" cy="1721710"/>
            <a:chOff x="238145" y="1575079"/>
            <a:chExt cx="1492151" cy="1721710"/>
          </a:xfrm>
        </p:grpSpPr>
        <p:grpSp>
          <p:nvGrpSpPr>
            <p:cNvPr id="3" name="组合 2"/>
            <p:cNvGrpSpPr/>
            <p:nvPr/>
          </p:nvGrpSpPr>
          <p:grpSpPr>
            <a:xfrm>
              <a:off x="259401" y="1575079"/>
              <a:ext cx="1470895" cy="1721710"/>
              <a:chOff x="259401" y="1575079"/>
              <a:chExt cx="1470895" cy="1721710"/>
            </a:xfrm>
          </p:grpSpPr>
          <p:sp>
            <p:nvSpPr>
              <p:cNvPr id="4" name="流程图: 离页连接符 3"/>
              <p:cNvSpPr/>
              <p:nvPr/>
            </p:nvSpPr>
            <p:spPr>
              <a:xfrm>
                <a:off x="259401" y="1575079"/>
                <a:ext cx="1470895" cy="1721710"/>
              </a:xfrm>
              <a:prstGeom prst="flowChartOffpageConnector">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en-US" altLang="zh-CN" b="1" dirty="0">
                  <a:solidFill>
                    <a:schemeClr val="tx2">
                      <a:lumMod val="75000"/>
                    </a:schemeClr>
                  </a:solidFill>
                  <a:latin typeface="+mj-ea"/>
                  <a:ea typeface="+mj-ea"/>
                </a:endParaRPr>
              </a:p>
            </p:txBody>
          </p:sp>
          <p:sp>
            <p:nvSpPr>
              <p:cNvPr id="5" name="矩形 4"/>
              <p:cNvSpPr/>
              <p:nvPr/>
            </p:nvSpPr>
            <p:spPr>
              <a:xfrm>
                <a:off x="259401" y="1575079"/>
                <a:ext cx="1470894" cy="2316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3" name="矩形 12"/>
            <p:cNvSpPr/>
            <p:nvPr/>
          </p:nvSpPr>
          <p:spPr>
            <a:xfrm>
              <a:off x="238145" y="2103829"/>
              <a:ext cx="1490950" cy="646331"/>
            </a:xfrm>
            <a:prstGeom prst="rect">
              <a:avLst/>
            </a:prstGeom>
          </p:spPr>
          <p:txBody>
            <a:bodyPr wrap="square">
              <a:spAutoFit/>
            </a:bodyPr>
            <a:lstStyle/>
            <a:p>
              <a:pPr algn="ctr"/>
              <a:r>
                <a:rPr lang="zh-CN" altLang="en-US" b="1" dirty="0">
                  <a:solidFill>
                    <a:schemeClr val="accent4"/>
                  </a:solidFill>
                  <a:latin typeface="微软雅黑" panose="020B0503020204020204" pitchFamily="34" charset="-122"/>
                  <a:ea typeface="微软雅黑" panose="020B0503020204020204" pitchFamily="34" charset="-122"/>
                </a:rPr>
                <a:t>客户服务新趋势概览</a:t>
              </a:r>
              <a:endParaRPr lang="en-US" altLang="zh-CN" b="1" dirty="0">
                <a:solidFill>
                  <a:schemeClr val="accent4"/>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750831105"/>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10000" fill="hold" nodeType="afterEffect" p14:presetBounceEnd="50000">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14:bounceEnd="50000">
                                          <p:cBhvr additive="base">
                                            <p:cTn id="7" dur="1500" fill="hold"/>
                                            <p:tgtEl>
                                              <p:spTgt spid="11"/>
                                            </p:tgtEl>
                                            <p:attrNameLst>
                                              <p:attrName>ppt_x</p:attrName>
                                            </p:attrNameLst>
                                          </p:cBhvr>
                                          <p:tavLst>
                                            <p:tav tm="0">
                                              <p:val>
                                                <p:strVal val="#ppt_x"/>
                                              </p:val>
                                            </p:tav>
                                            <p:tav tm="100000">
                                              <p:val>
                                                <p:strVal val="#ppt_x"/>
                                              </p:val>
                                            </p:tav>
                                          </p:tavLst>
                                        </p:anim>
                                        <p:anim calcmode="lin" valueType="num" p14:bounceEnd="50000">
                                          <p:cBhvr additive="base">
                                            <p:cTn id="8" dur="1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accel="10000" fill="hold" nodeType="withEffect" p14:presetBounceEnd="50000">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14:bounceEnd="50000">
                                          <p:cBhvr additive="base">
                                            <p:cTn id="11" dur="1500" fill="hold"/>
                                            <p:tgtEl>
                                              <p:spTgt spid="21"/>
                                            </p:tgtEl>
                                            <p:attrNameLst>
                                              <p:attrName>ppt_x</p:attrName>
                                            </p:attrNameLst>
                                          </p:cBhvr>
                                          <p:tavLst>
                                            <p:tav tm="0">
                                              <p:val>
                                                <p:strVal val="#ppt_x"/>
                                              </p:val>
                                            </p:tav>
                                            <p:tav tm="100000">
                                              <p:val>
                                                <p:strVal val="#ppt_x"/>
                                              </p:val>
                                            </p:tav>
                                          </p:tavLst>
                                        </p:anim>
                                        <p:anim calcmode="lin" valueType="num" p14:bounceEnd="50000">
                                          <p:cBhvr additive="base">
                                            <p:cTn id="12" dur="1500" fill="hold"/>
                                            <p:tgtEl>
                                              <p:spTgt spid="21"/>
                                            </p:tgtEl>
                                            <p:attrNameLst>
                                              <p:attrName>ppt_y</p:attrName>
                                            </p:attrNameLst>
                                          </p:cBhvr>
                                          <p:tavLst>
                                            <p:tav tm="0">
                                              <p:val>
                                                <p:strVal val="1+#ppt_h/2"/>
                                              </p:val>
                                            </p:tav>
                                            <p:tav tm="100000">
                                              <p:val>
                                                <p:strVal val="#ppt_y"/>
                                              </p:val>
                                            </p:tav>
                                          </p:tavLst>
                                        </p:anim>
                                      </p:childTnLst>
                                    </p:cTn>
                                  </p:par>
                                  <p:par>
                                    <p:cTn id="13" presetID="2" presetClass="entr" presetSubtype="4" accel="10000" fill="hold" nodeType="withEffect" p14:presetBounceEnd="50000">
                                      <p:stCondLst>
                                        <p:cond delay="0"/>
                                      </p:stCondLst>
                                      <p:childTnLst>
                                        <p:set>
                                          <p:cBhvr>
                                            <p:cTn id="14" dur="1" fill="hold">
                                              <p:stCondLst>
                                                <p:cond delay="0"/>
                                              </p:stCondLst>
                                            </p:cTn>
                                            <p:tgtEl>
                                              <p:spTgt spid="27"/>
                                            </p:tgtEl>
                                            <p:attrNameLst>
                                              <p:attrName>style.visibility</p:attrName>
                                            </p:attrNameLst>
                                          </p:cBhvr>
                                          <p:to>
                                            <p:strVal val="visible"/>
                                          </p:to>
                                        </p:set>
                                        <p:anim calcmode="lin" valueType="num" p14:bounceEnd="50000">
                                          <p:cBhvr additive="base">
                                            <p:cTn id="15" dur="1500" fill="hold"/>
                                            <p:tgtEl>
                                              <p:spTgt spid="27"/>
                                            </p:tgtEl>
                                            <p:attrNameLst>
                                              <p:attrName>ppt_x</p:attrName>
                                            </p:attrNameLst>
                                          </p:cBhvr>
                                          <p:tavLst>
                                            <p:tav tm="0">
                                              <p:val>
                                                <p:strVal val="#ppt_x"/>
                                              </p:val>
                                            </p:tav>
                                            <p:tav tm="100000">
                                              <p:val>
                                                <p:strVal val="#ppt_x"/>
                                              </p:val>
                                            </p:tav>
                                          </p:tavLst>
                                        </p:anim>
                                        <p:anim calcmode="lin" valueType="num" p14:bounceEnd="50000">
                                          <p:cBhvr additive="base">
                                            <p:cTn id="16" dur="1500" fill="hold"/>
                                            <p:tgtEl>
                                              <p:spTgt spid="27"/>
                                            </p:tgtEl>
                                            <p:attrNameLst>
                                              <p:attrName>ppt_y</p:attrName>
                                            </p:attrNameLst>
                                          </p:cBhvr>
                                          <p:tavLst>
                                            <p:tav tm="0">
                                              <p:val>
                                                <p:strVal val="1+#ppt_h/2"/>
                                              </p:val>
                                            </p:tav>
                                            <p:tav tm="100000">
                                              <p:val>
                                                <p:strVal val="#ppt_y"/>
                                              </p:val>
                                            </p:tav>
                                          </p:tavLst>
                                        </p:anim>
                                      </p:childTnLst>
                                    </p:cTn>
                                  </p:par>
                                  <p:par>
                                    <p:cTn id="17" presetID="2" presetClass="entr" presetSubtype="1" accel="10000" fill="hold" nodeType="withEffect" p14:presetBounceEnd="50000">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14:bounceEnd="50000">
                                          <p:cBhvr additive="base">
                                            <p:cTn id="19" dur="1500" fill="hold"/>
                                            <p:tgtEl>
                                              <p:spTgt spid="18"/>
                                            </p:tgtEl>
                                            <p:attrNameLst>
                                              <p:attrName>ppt_x</p:attrName>
                                            </p:attrNameLst>
                                          </p:cBhvr>
                                          <p:tavLst>
                                            <p:tav tm="0">
                                              <p:val>
                                                <p:strVal val="#ppt_x"/>
                                              </p:val>
                                            </p:tav>
                                            <p:tav tm="100000">
                                              <p:val>
                                                <p:strVal val="#ppt_x"/>
                                              </p:val>
                                            </p:tav>
                                          </p:tavLst>
                                        </p:anim>
                                        <p:anim calcmode="lin" valueType="num" p14:bounceEnd="50000">
                                          <p:cBhvr additive="base">
                                            <p:cTn id="20" dur="1500" fill="hold"/>
                                            <p:tgtEl>
                                              <p:spTgt spid="18"/>
                                            </p:tgtEl>
                                            <p:attrNameLst>
                                              <p:attrName>ppt_y</p:attrName>
                                            </p:attrNameLst>
                                          </p:cBhvr>
                                          <p:tavLst>
                                            <p:tav tm="0">
                                              <p:val>
                                                <p:strVal val="0-#ppt_h/2"/>
                                              </p:val>
                                            </p:tav>
                                            <p:tav tm="100000">
                                              <p:val>
                                                <p:strVal val="#ppt_y"/>
                                              </p:val>
                                            </p:tav>
                                          </p:tavLst>
                                        </p:anim>
                                      </p:childTnLst>
                                    </p:cTn>
                                  </p:par>
                                  <p:par>
                                    <p:cTn id="21" presetID="2" presetClass="entr" presetSubtype="1" accel="10000" fill="hold" nodeType="withEffect" p14:presetBounceEnd="50000">
                                      <p:stCondLst>
                                        <p:cond delay="0"/>
                                      </p:stCondLst>
                                      <p:childTnLst>
                                        <p:set>
                                          <p:cBhvr>
                                            <p:cTn id="22" dur="1" fill="hold">
                                              <p:stCondLst>
                                                <p:cond delay="0"/>
                                              </p:stCondLst>
                                            </p:cTn>
                                            <p:tgtEl>
                                              <p:spTgt spid="24"/>
                                            </p:tgtEl>
                                            <p:attrNameLst>
                                              <p:attrName>style.visibility</p:attrName>
                                            </p:attrNameLst>
                                          </p:cBhvr>
                                          <p:to>
                                            <p:strVal val="visible"/>
                                          </p:to>
                                        </p:set>
                                        <p:anim calcmode="lin" valueType="num" p14:bounceEnd="50000">
                                          <p:cBhvr additive="base">
                                            <p:cTn id="23" dur="1500" fill="hold"/>
                                            <p:tgtEl>
                                              <p:spTgt spid="24"/>
                                            </p:tgtEl>
                                            <p:attrNameLst>
                                              <p:attrName>ppt_x</p:attrName>
                                            </p:attrNameLst>
                                          </p:cBhvr>
                                          <p:tavLst>
                                            <p:tav tm="0">
                                              <p:val>
                                                <p:strVal val="#ppt_x"/>
                                              </p:val>
                                            </p:tav>
                                            <p:tav tm="100000">
                                              <p:val>
                                                <p:strVal val="#ppt_x"/>
                                              </p:val>
                                            </p:tav>
                                          </p:tavLst>
                                        </p:anim>
                                        <p:anim calcmode="lin" valueType="num" p14:bounceEnd="50000">
                                          <p:cBhvr additive="base">
                                            <p:cTn id="24" dur="1500" fill="hold"/>
                                            <p:tgtEl>
                                              <p:spTgt spid="24"/>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stCondLst>
                                        <p:cond delay="50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750" fill="hold"/>
                                            <p:tgtEl>
                                              <p:spTgt spid="2"/>
                                            </p:tgtEl>
                                            <p:attrNameLst>
                                              <p:attrName>ppt_x</p:attrName>
                                            </p:attrNameLst>
                                          </p:cBhvr>
                                          <p:tavLst>
                                            <p:tav tm="0">
                                              <p:val>
                                                <p:strVal val="#ppt_x"/>
                                              </p:val>
                                            </p:tav>
                                            <p:tav tm="100000">
                                              <p:val>
                                                <p:strVal val="#ppt_x"/>
                                              </p:val>
                                            </p:tav>
                                          </p:tavLst>
                                        </p:anim>
                                        <p:anim calcmode="lin" valueType="num">
                                          <p:cBhvr additive="base">
                                            <p:cTn id="28" dur="750" fill="hold"/>
                                            <p:tgtEl>
                                              <p:spTgt spid="2"/>
                                            </p:tgtEl>
                                            <p:attrNameLst>
                                              <p:attrName>ppt_y</p:attrName>
                                            </p:attrNameLst>
                                          </p:cBhvr>
                                          <p:tavLst>
                                            <p:tav tm="0">
                                              <p:val>
                                                <p:strVal val="0-#ppt_h/2"/>
                                              </p:val>
                                            </p:tav>
                                            <p:tav tm="100000">
                                              <p:val>
                                                <p:strVal val="#ppt_y"/>
                                              </p:val>
                                            </p:tav>
                                          </p:tavLst>
                                        </p:anim>
                                      </p:childTnLst>
                                    </p:cTn>
                                  </p:par>
                                  <p:par>
                                    <p:cTn id="29" presetID="10" presetClass="entr" presetSubtype="0" fill="hold" nodeType="withEffect">
                                      <p:stCondLst>
                                        <p:cond delay="100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750"/>
                                            <p:tgtEl>
                                              <p:spTgt spid="12"/>
                                            </p:tgtEl>
                                          </p:cBhvr>
                                        </p:animEffect>
                                      </p:childTnLst>
                                    </p:cTn>
                                  </p:par>
                                  <p:par>
                                    <p:cTn id="32" presetID="32" presetClass="emph" presetSubtype="0" repeatCount="indefinite" fill="hold" nodeType="withEffect">
                                      <p:stCondLst>
                                        <p:cond delay="1000"/>
                                      </p:stCondLst>
                                      <p:childTnLst>
                                        <p:animRot by="120000">
                                          <p:cBhvr>
                                            <p:cTn id="33" dur="100" fill="hold">
                                              <p:stCondLst>
                                                <p:cond delay="0"/>
                                              </p:stCondLst>
                                            </p:cTn>
                                            <p:tgtEl>
                                              <p:spTgt spid="12"/>
                                            </p:tgtEl>
                                            <p:attrNameLst>
                                              <p:attrName>r</p:attrName>
                                            </p:attrNameLst>
                                          </p:cBhvr>
                                        </p:animRot>
                                        <p:animRot by="-240000">
                                          <p:cBhvr>
                                            <p:cTn id="34" dur="200" fill="hold">
                                              <p:stCondLst>
                                                <p:cond delay="200"/>
                                              </p:stCondLst>
                                            </p:cTn>
                                            <p:tgtEl>
                                              <p:spTgt spid="12"/>
                                            </p:tgtEl>
                                            <p:attrNameLst>
                                              <p:attrName>r</p:attrName>
                                            </p:attrNameLst>
                                          </p:cBhvr>
                                        </p:animRot>
                                        <p:animRot by="240000">
                                          <p:cBhvr>
                                            <p:cTn id="35" dur="200" fill="hold">
                                              <p:stCondLst>
                                                <p:cond delay="400"/>
                                              </p:stCondLst>
                                            </p:cTn>
                                            <p:tgtEl>
                                              <p:spTgt spid="12"/>
                                            </p:tgtEl>
                                            <p:attrNameLst>
                                              <p:attrName>r</p:attrName>
                                            </p:attrNameLst>
                                          </p:cBhvr>
                                        </p:animRot>
                                        <p:animRot by="-240000">
                                          <p:cBhvr>
                                            <p:cTn id="36" dur="200" fill="hold">
                                              <p:stCondLst>
                                                <p:cond delay="600"/>
                                              </p:stCondLst>
                                            </p:cTn>
                                            <p:tgtEl>
                                              <p:spTgt spid="12"/>
                                            </p:tgtEl>
                                            <p:attrNameLst>
                                              <p:attrName>r</p:attrName>
                                            </p:attrNameLst>
                                          </p:cBhvr>
                                        </p:animRot>
                                        <p:animRot by="120000">
                                          <p:cBhvr>
                                            <p:cTn id="37" dur="200" fill="hold">
                                              <p:stCondLst>
                                                <p:cond delay="800"/>
                                              </p:stCondLst>
                                            </p:cTn>
                                            <p:tgtEl>
                                              <p:spTgt spid="12"/>
                                            </p:tgtEl>
                                            <p:attrNameLst>
                                              <p:attrName>r</p:attrName>
                                            </p:attrNameLst>
                                          </p:cBhvr>
                                        </p:animRot>
                                      </p:childTnLst>
                                    </p:cTn>
                                  </p:par>
                                  <p:par>
                                    <p:cTn id="38" presetID="10" presetClass="entr" presetSubtype="0" fill="hold" grpId="0" nodeType="withEffect">
                                      <p:stCondLst>
                                        <p:cond delay="1000"/>
                                      </p:stCondLst>
                                      <p:childTnLst>
                                        <p:set>
                                          <p:cBhvr>
                                            <p:cTn id="39" dur="1" fill="hold">
                                              <p:stCondLst>
                                                <p:cond delay="0"/>
                                              </p:stCondLst>
                                            </p:cTn>
                                            <p:tgtEl>
                                              <p:spTgt spid="50"/>
                                            </p:tgtEl>
                                            <p:attrNameLst>
                                              <p:attrName>style.visibility</p:attrName>
                                            </p:attrNameLst>
                                          </p:cBhvr>
                                          <p:to>
                                            <p:strVal val="visible"/>
                                          </p:to>
                                        </p:set>
                                        <p:animEffect transition="in" filter="fade">
                                          <p:cBhvr>
                                            <p:cTn id="40" dur="500"/>
                                            <p:tgtEl>
                                              <p:spTgt spid="50"/>
                                            </p:tgtEl>
                                          </p:cBhvr>
                                        </p:animEffect>
                                      </p:childTnLst>
                                    </p:cTn>
                                  </p:par>
                                  <p:par>
                                    <p:cTn id="41" presetID="10" presetClass="entr" presetSubtype="0" fill="hold" grpId="0" nodeType="withEffect">
                                      <p:stCondLst>
                                        <p:cond delay="1000"/>
                                      </p:stCondLst>
                                      <p:childTnLst>
                                        <p:set>
                                          <p:cBhvr>
                                            <p:cTn id="42" dur="1" fill="hold">
                                              <p:stCondLst>
                                                <p:cond delay="0"/>
                                              </p:stCondLst>
                                            </p:cTn>
                                            <p:tgtEl>
                                              <p:spTgt spid="36"/>
                                            </p:tgtEl>
                                            <p:attrNameLst>
                                              <p:attrName>style.visibility</p:attrName>
                                            </p:attrNameLst>
                                          </p:cBhvr>
                                          <p:to>
                                            <p:strVal val="visible"/>
                                          </p:to>
                                        </p:set>
                                        <p:animEffect transition="in" filter="fade">
                                          <p:cBhvr>
                                            <p:cTn id="43" dur="500"/>
                                            <p:tgtEl>
                                              <p:spTgt spid="36"/>
                                            </p:tgtEl>
                                          </p:cBhvr>
                                        </p:animEffect>
                                      </p:childTnLst>
                                    </p:cTn>
                                  </p:par>
                                  <p:par>
                                    <p:cTn id="44" presetID="10" presetClass="entr" presetSubtype="0" fill="hold" grpId="0" nodeType="withEffect">
                                      <p:stCondLst>
                                        <p:cond delay="1000"/>
                                      </p:stCondLst>
                                      <p:childTnLst>
                                        <p:set>
                                          <p:cBhvr>
                                            <p:cTn id="45" dur="1" fill="hold">
                                              <p:stCondLst>
                                                <p:cond delay="0"/>
                                              </p:stCondLst>
                                            </p:cTn>
                                            <p:tgtEl>
                                              <p:spTgt spid="52"/>
                                            </p:tgtEl>
                                            <p:attrNameLst>
                                              <p:attrName>style.visibility</p:attrName>
                                            </p:attrNameLst>
                                          </p:cBhvr>
                                          <p:to>
                                            <p:strVal val="visible"/>
                                          </p:to>
                                        </p:set>
                                        <p:animEffect transition="in" filter="fade">
                                          <p:cBhvr>
                                            <p:cTn id="46" dur="500"/>
                                            <p:tgtEl>
                                              <p:spTgt spid="52"/>
                                            </p:tgtEl>
                                          </p:cBhvr>
                                        </p:animEffect>
                                      </p:childTnLst>
                                    </p:cTn>
                                  </p:par>
                                  <p:par>
                                    <p:cTn id="47" presetID="10" presetClass="entr" presetSubtype="0" fill="hold" grpId="0" nodeType="withEffect">
                                      <p:stCondLst>
                                        <p:cond delay="1000"/>
                                      </p:stCondLst>
                                      <p:childTnLst>
                                        <p:set>
                                          <p:cBhvr>
                                            <p:cTn id="48" dur="1" fill="hold">
                                              <p:stCondLst>
                                                <p:cond delay="0"/>
                                              </p:stCondLst>
                                            </p:cTn>
                                            <p:tgtEl>
                                              <p:spTgt spid="37"/>
                                            </p:tgtEl>
                                            <p:attrNameLst>
                                              <p:attrName>style.visibility</p:attrName>
                                            </p:attrNameLst>
                                          </p:cBhvr>
                                          <p:to>
                                            <p:strVal val="visible"/>
                                          </p:to>
                                        </p:set>
                                        <p:animEffect transition="in" filter="fade">
                                          <p:cBhvr>
                                            <p:cTn id="49" dur="500"/>
                                            <p:tgtEl>
                                              <p:spTgt spid="37"/>
                                            </p:tgtEl>
                                          </p:cBhvr>
                                        </p:animEffect>
                                      </p:childTnLst>
                                    </p:cTn>
                                  </p:par>
                                  <p:par>
                                    <p:cTn id="50" presetID="10" presetClass="entr" presetSubtype="0" fill="hold" grpId="0" nodeType="withEffect">
                                      <p:stCondLst>
                                        <p:cond delay="1000"/>
                                      </p:stCondLst>
                                      <p:childTnLst>
                                        <p:set>
                                          <p:cBhvr>
                                            <p:cTn id="51" dur="1" fill="hold">
                                              <p:stCondLst>
                                                <p:cond delay="0"/>
                                              </p:stCondLst>
                                            </p:cTn>
                                            <p:tgtEl>
                                              <p:spTgt spid="53"/>
                                            </p:tgtEl>
                                            <p:attrNameLst>
                                              <p:attrName>style.visibility</p:attrName>
                                            </p:attrNameLst>
                                          </p:cBhvr>
                                          <p:to>
                                            <p:strVal val="visible"/>
                                          </p:to>
                                        </p:set>
                                        <p:animEffect transition="in" filter="fade">
                                          <p:cBhvr>
                                            <p:cTn id="52" dur="500"/>
                                            <p:tgtEl>
                                              <p:spTgt spid="53"/>
                                            </p:tgtEl>
                                          </p:cBhvr>
                                        </p:animEffect>
                                      </p:childTnLst>
                                    </p:cTn>
                                  </p:par>
                                  <p:par>
                                    <p:cTn id="53" presetID="53" presetClass="entr" presetSubtype="16" fill="hold" nodeType="withEffect">
                                      <p:stCondLst>
                                        <p:cond delay="1250"/>
                                      </p:stCondLst>
                                      <p:childTnLst>
                                        <p:set>
                                          <p:cBhvr>
                                            <p:cTn id="54" dur="1" fill="hold">
                                              <p:stCondLst>
                                                <p:cond delay="0"/>
                                              </p:stCondLst>
                                            </p:cTn>
                                            <p:tgtEl>
                                              <p:spTgt spid="16"/>
                                            </p:tgtEl>
                                            <p:attrNameLst>
                                              <p:attrName>style.visibility</p:attrName>
                                            </p:attrNameLst>
                                          </p:cBhvr>
                                          <p:to>
                                            <p:strVal val="visible"/>
                                          </p:to>
                                        </p:set>
                                        <p:anim calcmode="lin" valueType="num">
                                          <p:cBhvr>
                                            <p:cTn id="55" dur="750" fill="hold"/>
                                            <p:tgtEl>
                                              <p:spTgt spid="16"/>
                                            </p:tgtEl>
                                            <p:attrNameLst>
                                              <p:attrName>ppt_w</p:attrName>
                                            </p:attrNameLst>
                                          </p:cBhvr>
                                          <p:tavLst>
                                            <p:tav tm="0">
                                              <p:val>
                                                <p:fltVal val="0"/>
                                              </p:val>
                                            </p:tav>
                                            <p:tav tm="100000">
                                              <p:val>
                                                <p:strVal val="#ppt_w"/>
                                              </p:val>
                                            </p:tav>
                                          </p:tavLst>
                                        </p:anim>
                                        <p:anim calcmode="lin" valueType="num">
                                          <p:cBhvr>
                                            <p:cTn id="56" dur="750" fill="hold"/>
                                            <p:tgtEl>
                                              <p:spTgt spid="16"/>
                                            </p:tgtEl>
                                            <p:attrNameLst>
                                              <p:attrName>ppt_h</p:attrName>
                                            </p:attrNameLst>
                                          </p:cBhvr>
                                          <p:tavLst>
                                            <p:tav tm="0">
                                              <p:val>
                                                <p:fltVal val="0"/>
                                              </p:val>
                                            </p:tav>
                                            <p:tav tm="100000">
                                              <p:val>
                                                <p:strVal val="#ppt_h"/>
                                              </p:val>
                                            </p:tav>
                                          </p:tavLst>
                                        </p:anim>
                                        <p:animEffect transition="in" filter="fade">
                                          <p:cBhvr>
                                            <p:cTn id="57" dur="750"/>
                                            <p:tgtEl>
                                              <p:spTgt spid="16"/>
                                            </p:tgtEl>
                                          </p:cBhvr>
                                        </p:animEffect>
                                      </p:childTnLst>
                                    </p:cTn>
                                  </p:par>
                                  <p:par>
                                    <p:cTn id="58" presetID="53" presetClass="entr" presetSubtype="16" fill="hold" nodeType="withEffect">
                                      <p:stCondLst>
                                        <p:cond delay="1250"/>
                                      </p:stCondLst>
                                      <p:childTnLst>
                                        <p:set>
                                          <p:cBhvr>
                                            <p:cTn id="59" dur="1" fill="hold">
                                              <p:stCondLst>
                                                <p:cond delay="0"/>
                                              </p:stCondLst>
                                            </p:cTn>
                                            <p:tgtEl>
                                              <p:spTgt spid="6"/>
                                            </p:tgtEl>
                                            <p:attrNameLst>
                                              <p:attrName>style.visibility</p:attrName>
                                            </p:attrNameLst>
                                          </p:cBhvr>
                                          <p:to>
                                            <p:strVal val="visible"/>
                                          </p:to>
                                        </p:set>
                                        <p:anim calcmode="lin" valueType="num">
                                          <p:cBhvr>
                                            <p:cTn id="60" dur="750" fill="hold"/>
                                            <p:tgtEl>
                                              <p:spTgt spid="6"/>
                                            </p:tgtEl>
                                            <p:attrNameLst>
                                              <p:attrName>ppt_w</p:attrName>
                                            </p:attrNameLst>
                                          </p:cBhvr>
                                          <p:tavLst>
                                            <p:tav tm="0">
                                              <p:val>
                                                <p:fltVal val="0"/>
                                              </p:val>
                                            </p:tav>
                                            <p:tav tm="100000">
                                              <p:val>
                                                <p:strVal val="#ppt_w"/>
                                              </p:val>
                                            </p:tav>
                                          </p:tavLst>
                                        </p:anim>
                                        <p:anim calcmode="lin" valueType="num">
                                          <p:cBhvr>
                                            <p:cTn id="61" dur="750" fill="hold"/>
                                            <p:tgtEl>
                                              <p:spTgt spid="6"/>
                                            </p:tgtEl>
                                            <p:attrNameLst>
                                              <p:attrName>ppt_h</p:attrName>
                                            </p:attrNameLst>
                                          </p:cBhvr>
                                          <p:tavLst>
                                            <p:tav tm="0">
                                              <p:val>
                                                <p:fltVal val="0"/>
                                              </p:val>
                                            </p:tav>
                                            <p:tav tm="100000">
                                              <p:val>
                                                <p:strVal val="#ppt_h"/>
                                              </p:val>
                                            </p:tav>
                                          </p:tavLst>
                                        </p:anim>
                                        <p:animEffect transition="in" filter="fade">
                                          <p:cBhvr>
                                            <p:cTn id="62" dur="750"/>
                                            <p:tgtEl>
                                              <p:spTgt spid="6"/>
                                            </p:tgtEl>
                                          </p:cBhvr>
                                        </p:animEffect>
                                      </p:childTnLst>
                                    </p:cTn>
                                  </p:par>
                                  <p:par>
                                    <p:cTn id="63" presetID="53" presetClass="entr" presetSubtype="16" fill="hold" nodeType="withEffect">
                                      <p:stCondLst>
                                        <p:cond delay="1250"/>
                                      </p:stCondLst>
                                      <p:childTnLst>
                                        <p:set>
                                          <p:cBhvr>
                                            <p:cTn id="64" dur="1" fill="hold">
                                              <p:stCondLst>
                                                <p:cond delay="0"/>
                                              </p:stCondLst>
                                            </p:cTn>
                                            <p:tgtEl>
                                              <p:spTgt spid="7"/>
                                            </p:tgtEl>
                                            <p:attrNameLst>
                                              <p:attrName>style.visibility</p:attrName>
                                            </p:attrNameLst>
                                          </p:cBhvr>
                                          <p:to>
                                            <p:strVal val="visible"/>
                                          </p:to>
                                        </p:set>
                                        <p:anim calcmode="lin" valueType="num">
                                          <p:cBhvr>
                                            <p:cTn id="65" dur="750" fill="hold"/>
                                            <p:tgtEl>
                                              <p:spTgt spid="7"/>
                                            </p:tgtEl>
                                            <p:attrNameLst>
                                              <p:attrName>ppt_w</p:attrName>
                                            </p:attrNameLst>
                                          </p:cBhvr>
                                          <p:tavLst>
                                            <p:tav tm="0">
                                              <p:val>
                                                <p:fltVal val="0"/>
                                              </p:val>
                                            </p:tav>
                                            <p:tav tm="100000">
                                              <p:val>
                                                <p:strVal val="#ppt_w"/>
                                              </p:val>
                                            </p:tav>
                                          </p:tavLst>
                                        </p:anim>
                                        <p:anim calcmode="lin" valueType="num">
                                          <p:cBhvr>
                                            <p:cTn id="66" dur="750" fill="hold"/>
                                            <p:tgtEl>
                                              <p:spTgt spid="7"/>
                                            </p:tgtEl>
                                            <p:attrNameLst>
                                              <p:attrName>ppt_h</p:attrName>
                                            </p:attrNameLst>
                                          </p:cBhvr>
                                          <p:tavLst>
                                            <p:tav tm="0">
                                              <p:val>
                                                <p:fltVal val="0"/>
                                              </p:val>
                                            </p:tav>
                                            <p:tav tm="100000">
                                              <p:val>
                                                <p:strVal val="#ppt_h"/>
                                              </p:val>
                                            </p:tav>
                                          </p:tavLst>
                                        </p:anim>
                                        <p:animEffect transition="in" filter="fade">
                                          <p:cBhvr>
                                            <p:cTn id="67" dur="750"/>
                                            <p:tgtEl>
                                              <p:spTgt spid="7"/>
                                            </p:tgtEl>
                                          </p:cBhvr>
                                        </p:animEffect>
                                      </p:childTnLst>
                                    </p:cTn>
                                  </p:par>
                                  <p:par>
                                    <p:cTn id="68" presetID="53" presetClass="entr" presetSubtype="16" fill="hold" nodeType="withEffect">
                                      <p:stCondLst>
                                        <p:cond delay="1250"/>
                                      </p:stCondLst>
                                      <p:childTnLst>
                                        <p:set>
                                          <p:cBhvr>
                                            <p:cTn id="69" dur="1" fill="hold">
                                              <p:stCondLst>
                                                <p:cond delay="0"/>
                                              </p:stCondLst>
                                            </p:cTn>
                                            <p:tgtEl>
                                              <p:spTgt spid="14"/>
                                            </p:tgtEl>
                                            <p:attrNameLst>
                                              <p:attrName>style.visibility</p:attrName>
                                            </p:attrNameLst>
                                          </p:cBhvr>
                                          <p:to>
                                            <p:strVal val="visible"/>
                                          </p:to>
                                        </p:set>
                                        <p:anim calcmode="lin" valueType="num">
                                          <p:cBhvr>
                                            <p:cTn id="70" dur="750" fill="hold"/>
                                            <p:tgtEl>
                                              <p:spTgt spid="14"/>
                                            </p:tgtEl>
                                            <p:attrNameLst>
                                              <p:attrName>ppt_w</p:attrName>
                                            </p:attrNameLst>
                                          </p:cBhvr>
                                          <p:tavLst>
                                            <p:tav tm="0">
                                              <p:val>
                                                <p:fltVal val="0"/>
                                              </p:val>
                                            </p:tav>
                                            <p:tav tm="100000">
                                              <p:val>
                                                <p:strVal val="#ppt_w"/>
                                              </p:val>
                                            </p:tav>
                                          </p:tavLst>
                                        </p:anim>
                                        <p:anim calcmode="lin" valueType="num">
                                          <p:cBhvr>
                                            <p:cTn id="71" dur="750" fill="hold"/>
                                            <p:tgtEl>
                                              <p:spTgt spid="14"/>
                                            </p:tgtEl>
                                            <p:attrNameLst>
                                              <p:attrName>ppt_h</p:attrName>
                                            </p:attrNameLst>
                                          </p:cBhvr>
                                          <p:tavLst>
                                            <p:tav tm="0">
                                              <p:val>
                                                <p:fltVal val="0"/>
                                              </p:val>
                                            </p:tav>
                                            <p:tav tm="100000">
                                              <p:val>
                                                <p:strVal val="#ppt_h"/>
                                              </p:val>
                                            </p:tav>
                                          </p:tavLst>
                                        </p:anim>
                                        <p:animEffect transition="in" filter="fade">
                                          <p:cBhvr>
                                            <p:cTn id="72" dur="750"/>
                                            <p:tgtEl>
                                              <p:spTgt spid="14"/>
                                            </p:tgtEl>
                                          </p:cBhvr>
                                        </p:animEffect>
                                      </p:childTnLst>
                                    </p:cTn>
                                  </p:par>
                                  <p:par>
                                    <p:cTn id="73" presetID="53" presetClass="entr" presetSubtype="16" fill="hold" nodeType="withEffect">
                                      <p:stCondLst>
                                        <p:cond delay="1250"/>
                                      </p:stCondLst>
                                      <p:childTnLst>
                                        <p:set>
                                          <p:cBhvr>
                                            <p:cTn id="74" dur="1" fill="hold">
                                              <p:stCondLst>
                                                <p:cond delay="0"/>
                                              </p:stCondLst>
                                            </p:cTn>
                                            <p:tgtEl>
                                              <p:spTgt spid="15"/>
                                            </p:tgtEl>
                                            <p:attrNameLst>
                                              <p:attrName>style.visibility</p:attrName>
                                            </p:attrNameLst>
                                          </p:cBhvr>
                                          <p:to>
                                            <p:strVal val="visible"/>
                                          </p:to>
                                        </p:set>
                                        <p:anim calcmode="lin" valueType="num">
                                          <p:cBhvr>
                                            <p:cTn id="75" dur="750" fill="hold"/>
                                            <p:tgtEl>
                                              <p:spTgt spid="15"/>
                                            </p:tgtEl>
                                            <p:attrNameLst>
                                              <p:attrName>ppt_w</p:attrName>
                                            </p:attrNameLst>
                                          </p:cBhvr>
                                          <p:tavLst>
                                            <p:tav tm="0">
                                              <p:val>
                                                <p:fltVal val="0"/>
                                              </p:val>
                                            </p:tav>
                                            <p:tav tm="100000">
                                              <p:val>
                                                <p:strVal val="#ppt_w"/>
                                              </p:val>
                                            </p:tav>
                                          </p:tavLst>
                                        </p:anim>
                                        <p:anim calcmode="lin" valueType="num">
                                          <p:cBhvr>
                                            <p:cTn id="76" dur="750" fill="hold"/>
                                            <p:tgtEl>
                                              <p:spTgt spid="15"/>
                                            </p:tgtEl>
                                            <p:attrNameLst>
                                              <p:attrName>ppt_h</p:attrName>
                                            </p:attrNameLst>
                                          </p:cBhvr>
                                          <p:tavLst>
                                            <p:tav tm="0">
                                              <p:val>
                                                <p:fltVal val="0"/>
                                              </p:val>
                                            </p:tav>
                                            <p:tav tm="100000">
                                              <p:val>
                                                <p:strVal val="#ppt_h"/>
                                              </p:val>
                                            </p:tav>
                                          </p:tavLst>
                                        </p:anim>
                                        <p:animEffect transition="in" filter="fade">
                                          <p:cBhvr>
                                            <p:cTn id="77" dur="7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6" grpId="0" animBg="1"/>
          <p:bldP spid="37" grpId="0" animBg="1"/>
          <p:bldP spid="50" grpId="0" animBg="1"/>
          <p:bldP spid="52" grpId="0" animBg="1"/>
          <p:bldP spid="53"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1000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500" fill="hold"/>
                                            <p:tgtEl>
                                              <p:spTgt spid="11"/>
                                            </p:tgtEl>
                                            <p:attrNameLst>
                                              <p:attrName>ppt_x</p:attrName>
                                            </p:attrNameLst>
                                          </p:cBhvr>
                                          <p:tavLst>
                                            <p:tav tm="0">
                                              <p:val>
                                                <p:strVal val="#ppt_x"/>
                                              </p:val>
                                            </p:tav>
                                            <p:tav tm="100000">
                                              <p:val>
                                                <p:strVal val="#ppt_x"/>
                                              </p:val>
                                            </p:tav>
                                          </p:tavLst>
                                        </p:anim>
                                        <p:anim calcmode="lin" valueType="num">
                                          <p:cBhvr additive="base">
                                            <p:cTn id="8" dur="1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accel="10000"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1500" fill="hold"/>
                                            <p:tgtEl>
                                              <p:spTgt spid="21"/>
                                            </p:tgtEl>
                                            <p:attrNameLst>
                                              <p:attrName>ppt_x</p:attrName>
                                            </p:attrNameLst>
                                          </p:cBhvr>
                                          <p:tavLst>
                                            <p:tav tm="0">
                                              <p:val>
                                                <p:strVal val="#ppt_x"/>
                                              </p:val>
                                            </p:tav>
                                            <p:tav tm="100000">
                                              <p:val>
                                                <p:strVal val="#ppt_x"/>
                                              </p:val>
                                            </p:tav>
                                          </p:tavLst>
                                        </p:anim>
                                        <p:anim calcmode="lin" valueType="num">
                                          <p:cBhvr additive="base">
                                            <p:cTn id="12" dur="1500" fill="hold"/>
                                            <p:tgtEl>
                                              <p:spTgt spid="21"/>
                                            </p:tgtEl>
                                            <p:attrNameLst>
                                              <p:attrName>ppt_y</p:attrName>
                                            </p:attrNameLst>
                                          </p:cBhvr>
                                          <p:tavLst>
                                            <p:tav tm="0">
                                              <p:val>
                                                <p:strVal val="1+#ppt_h/2"/>
                                              </p:val>
                                            </p:tav>
                                            <p:tav tm="100000">
                                              <p:val>
                                                <p:strVal val="#ppt_y"/>
                                              </p:val>
                                            </p:tav>
                                          </p:tavLst>
                                        </p:anim>
                                      </p:childTnLst>
                                    </p:cTn>
                                  </p:par>
                                  <p:par>
                                    <p:cTn id="13" presetID="2" presetClass="entr" presetSubtype="4" accel="10000"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anim calcmode="lin" valueType="num">
                                          <p:cBhvr additive="base">
                                            <p:cTn id="15" dur="1500" fill="hold"/>
                                            <p:tgtEl>
                                              <p:spTgt spid="27"/>
                                            </p:tgtEl>
                                            <p:attrNameLst>
                                              <p:attrName>ppt_x</p:attrName>
                                            </p:attrNameLst>
                                          </p:cBhvr>
                                          <p:tavLst>
                                            <p:tav tm="0">
                                              <p:val>
                                                <p:strVal val="#ppt_x"/>
                                              </p:val>
                                            </p:tav>
                                            <p:tav tm="100000">
                                              <p:val>
                                                <p:strVal val="#ppt_x"/>
                                              </p:val>
                                            </p:tav>
                                          </p:tavLst>
                                        </p:anim>
                                        <p:anim calcmode="lin" valueType="num">
                                          <p:cBhvr additive="base">
                                            <p:cTn id="16" dur="1500" fill="hold"/>
                                            <p:tgtEl>
                                              <p:spTgt spid="27"/>
                                            </p:tgtEl>
                                            <p:attrNameLst>
                                              <p:attrName>ppt_y</p:attrName>
                                            </p:attrNameLst>
                                          </p:cBhvr>
                                          <p:tavLst>
                                            <p:tav tm="0">
                                              <p:val>
                                                <p:strVal val="1+#ppt_h/2"/>
                                              </p:val>
                                            </p:tav>
                                            <p:tav tm="100000">
                                              <p:val>
                                                <p:strVal val="#ppt_y"/>
                                              </p:val>
                                            </p:tav>
                                          </p:tavLst>
                                        </p:anim>
                                      </p:childTnLst>
                                    </p:cTn>
                                  </p:par>
                                  <p:par>
                                    <p:cTn id="17" presetID="2" presetClass="entr" presetSubtype="1" accel="1000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1500" fill="hold"/>
                                            <p:tgtEl>
                                              <p:spTgt spid="18"/>
                                            </p:tgtEl>
                                            <p:attrNameLst>
                                              <p:attrName>ppt_x</p:attrName>
                                            </p:attrNameLst>
                                          </p:cBhvr>
                                          <p:tavLst>
                                            <p:tav tm="0">
                                              <p:val>
                                                <p:strVal val="#ppt_x"/>
                                              </p:val>
                                            </p:tav>
                                            <p:tav tm="100000">
                                              <p:val>
                                                <p:strVal val="#ppt_x"/>
                                              </p:val>
                                            </p:tav>
                                          </p:tavLst>
                                        </p:anim>
                                        <p:anim calcmode="lin" valueType="num">
                                          <p:cBhvr additive="base">
                                            <p:cTn id="20" dur="1500" fill="hold"/>
                                            <p:tgtEl>
                                              <p:spTgt spid="18"/>
                                            </p:tgtEl>
                                            <p:attrNameLst>
                                              <p:attrName>ppt_y</p:attrName>
                                            </p:attrNameLst>
                                          </p:cBhvr>
                                          <p:tavLst>
                                            <p:tav tm="0">
                                              <p:val>
                                                <p:strVal val="0-#ppt_h/2"/>
                                              </p:val>
                                            </p:tav>
                                            <p:tav tm="100000">
                                              <p:val>
                                                <p:strVal val="#ppt_y"/>
                                              </p:val>
                                            </p:tav>
                                          </p:tavLst>
                                        </p:anim>
                                      </p:childTnLst>
                                    </p:cTn>
                                  </p:par>
                                  <p:par>
                                    <p:cTn id="21" presetID="2" presetClass="entr" presetSubtype="1" accel="1000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anim calcmode="lin" valueType="num">
                                          <p:cBhvr additive="base">
                                            <p:cTn id="23" dur="1500" fill="hold"/>
                                            <p:tgtEl>
                                              <p:spTgt spid="24"/>
                                            </p:tgtEl>
                                            <p:attrNameLst>
                                              <p:attrName>ppt_x</p:attrName>
                                            </p:attrNameLst>
                                          </p:cBhvr>
                                          <p:tavLst>
                                            <p:tav tm="0">
                                              <p:val>
                                                <p:strVal val="#ppt_x"/>
                                              </p:val>
                                            </p:tav>
                                            <p:tav tm="100000">
                                              <p:val>
                                                <p:strVal val="#ppt_x"/>
                                              </p:val>
                                            </p:tav>
                                          </p:tavLst>
                                        </p:anim>
                                        <p:anim calcmode="lin" valueType="num">
                                          <p:cBhvr additive="base">
                                            <p:cTn id="24" dur="1500" fill="hold"/>
                                            <p:tgtEl>
                                              <p:spTgt spid="24"/>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stCondLst>
                                        <p:cond delay="50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750" fill="hold"/>
                                            <p:tgtEl>
                                              <p:spTgt spid="2"/>
                                            </p:tgtEl>
                                            <p:attrNameLst>
                                              <p:attrName>ppt_x</p:attrName>
                                            </p:attrNameLst>
                                          </p:cBhvr>
                                          <p:tavLst>
                                            <p:tav tm="0">
                                              <p:val>
                                                <p:strVal val="#ppt_x"/>
                                              </p:val>
                                            </p:tav>
                                            <p:tav tm="100000">
                                              <p:val>
                                                <p:strVal val="#ppt_x"/>
                                              </p:val>
                                            </p:tav>
                                          </p:tavLst>
                                        </p:anim>
                                        <p:anim calcmode="lin" valueType="num">
                                          <p:cBhvr additive="base">
                                            <p:cTn id="28" dur="750" fill="hold"/>
                                            <p:tgtEl>
                                              <p:spTgt spid="2"/>
                                            </p:tgtEl>
                                            <p:attrNameLst>
                                              <p:attrName>ppt_y</p:attrName>
                                            </p:attrNameLst>
                                          </p:cBhvr>
                                          <p:tavLst>
                                            <p:tav tm="0">
                                              <p:val>
                                                <p:strVal val="0-#ppt_h/2"/>
                                              </p:val>
                                            </p:tav>
                                            <p:tav tm="100000">
                                              <p:val>
                                                <p:strVal val="#ppt_y"/>
                                              </p:val>
                                            </p:tav>
                                          </p:tavLst>
                                        </p:anim>
                                      </p:childTnLst>
                                    </p:cTn>
                                  </p:par>
                                  <p:par>
                                    <p:cTn id="29" presetID="10" presetClass="entr" presetSubtype="0" fill="hold" nodeType="withEffect">
                                      <p:stCondLst>
                                        <p:cond delay="100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750"/>
                                            <p:tgtEl>
                                              <p:spTgt spid="12"/>
                                            </p:tgtEl>
                                          </p:cBhvr>
                                        </p:animEffect>
                                      </p:childTnLst>
                                    </p:cTn>
                                  </p:par>
                                  <p:par>
                                    <p:cTn id="32" presetID="32" presetClass="emph" presetSubtype="0" repeatCount="indefinite" fill="hold" nodeType="withEffect">
                                      <p:stCondLst>
                                        <p:cond delay="1000"/>
                                      </p:stCondLst>
                                      <p:childTnLst>
                                        <p:animRot by="120000">
                                          <p:cBhvr>
                                            <p:cTn id="33" dur="100" fill="hold">
                                              <p:stCondLst>
                                                <p:cond delay="0"/>
                                              </p:stCondLst>
                                            </p:cTn>
                                            <p:tgtEl>
                                              <p:spTgt spid="12"/>
                                            </p:tgtEl>
                                            <p:attrNameLst>
                                              <p:attrName>r</p:attrName>
                                            </p:attrNameLst>
                                          </p:cBhvr>
                                        </p:animRot>
                                        <p:animRot by="-240000">
                                          <p:cBhvr>
                                            <p:cTn id="34" dur="200" fill="hold">
                                              <p:stCondLst>
                                                <p:cond delay="200"/>
                                              </p:stCondLst>
                                            </p:cTn>
                                            <p:tgtEl>
                                              <p:spTgt spid="12"/>
                                            </p:tgtEl>
                                            <p:attrNameLst>
                                              <p:attrName>r</p:attrName>
                                            </p:attrNameLst>
                                          </p:cBhvr>
                                        </p:animRot>
                                        <p:animRot by="240000">
                                          <p:cBhvr>
                                            <p:cTn id="35" dur="200" fill="hold">
                                              <p:stCondLst>
                                                <p:cond delay="400"/>
                                              </p:stCondLst>
                                            </p:cTn>
                                            <p:tgtEl>
                                              <p:spTgt spid="12"/>
                                            </p:tgtEl>
                                            <p:attrNameLst>
                                              <p:attrName>r</p:attrName>
                                            </p:attrNameLst>
                                          </p:cBhvr>
                                        </p:animRot>
                                        <p:animRot by="-240000">
                                          <p:cBhvr>
                                            <p:cTn id="36" dur="200" fill="hold">
                                              <p:stCondLst>
                                                <p:cond delay="600"/>
                                              </p:stCondLst>
                                            </p:cTn>
                                            <p:tgtEl>
                                              <p:spTgt spid="12"/>
                                            </p:tgtEl>
                                            <p:attrNameLst>
                                              <p:attrName>r</p:attrName>
                                            </p:attrNameLst>
                                          </p:cBhvr>
                                        </p:animRot>
                                        <p:animRot by="120000">
                                          <p:cBhvr>
                                            <p:cTn id="37" dur="200" fill="hold">
                                              <p:stCondLst>
                                                <p:cond delay="800"/>
                                              </p:stCondLst>
                                            </p:cTn>
                                            <p:tgtEl>
                                              <p:spTgt spid="12"/>
                                            </p:tgtEl>
                                            <p:attrNameLst>
                                              <p:attrName>r</p:attrName>
                                            </p:attrNameLst>
                                          </p:cBhvr>
                                        </p:animRot>
                                      </p:childTnLst>
                                    </p:cTn>
                                  </p:par>
                                  <p:par>
                                    <p:cTn id="38" presetID="10" presetClass="entr" presetSubtype="0" fill="hold" grpId="0" nodeType="withEffect">
                                      <p:stCondLst>
                                        <p:cond delay="1000"/>
                                      </p:stCondLst>
                                      <p:childTnLst>
                                        <p:set>
                                          <p:cBhvr>
                                            <p:cTn id="39" dur="1" fill="hold">
                                              <p:stCondLst>
                                                <p:cond delay="0"/>
                                              </p:stCondLst>
                                            </p:cTn>
                                            <p:tgtEl>
                                              <p:spTgt spid="50"/>
                                            </p:tgtEl>
                                            <p:attrNameLst>
                                              <p:attrName>style.visibility</p:attrName>
                                            </p:attrNameLst>
                                          </p:cBhvr>
                                          <p:to>
                                            <p:strVal val="visible"/>
                                          </p:to>
                                        </p:set>
                                        <p:animEffect transition="in" filter="fade">
                                          <p:cBhvr>
                                            <p:cTn id="40" dur="500"/>
                                            <p:tgtEl>
                                              <p:spTgt spid="50"/>
                                            </p:tgtEl>
                                          </p:cBhvr>
                                        </p:animEffect>
                                      </p:childTnLst>
                                    </p:cTn>
                                  </p:par>
                                  <p:par>
                                    <p:cTn id="41" presetID="10" presetClass="entr" presetSubtype="0" fill="hold" grpId="0" nodeType="withEffect">
                                      <p:stCondLst>
                                        <p:cond delay="1000"/>
                                      </p:stCondLst>
                                      <p:childTnLst>
                                        <p:set>
                                          <p:cBhvr>
                                            <p:cTn id="42" dur="1" fill="hold">
                                              <p:stCondLst>
                                                <p:cond delay="0"/>
                                              </p:stCondLst>
                                            </p:cTn>
                                            <p:tgtEl>
                                              <p:spTgt spid="36"/>
                                            </p:tgtEl>
                                            <p:attrNameLst>
                                              <p:attrName>style.visibility</p:attrName>
                                            </p:attrNameLst>
                                          </p:cBhvr>
                                          <p:to>
                                            <p:strVal val="visible"/>
                                          </p:to>
                                        </p:set>
                                        <p:animEffect transition="in" filter="fade">
                                          <p:cBhvr>
                                            <p:cTn id="43" dur="500"/>
                                            <p:tgtEl>
                                              <p:spTgt spid="36"/>
                                            </p:tgtEl>
                                          </p:cBhvr>
                                        </p:animEffect>
                                      </p:childTnLst>
                                    </p:cTn>
                                  </p:par>
                                  <p:par>
                                    <p:cTn id="44" presetID="10" presetClass="entr" presetSubtype="0" fill="hold" grpId="0" nodeType="withEffect">
                                      <p:stCondLst>
                                        <p:cond delay="1000"/>
                                      </p:stCondLst>
                                      <p:childTnLst>
                                        <p:set>
                                          <p:cBhvr>
                                            <p:cTn id="45" dur="1" fill="hold">
                                              <p:stCondLst>
                                                <p:cond delay="0"/>
                                              </p:stCondLst>
                                            </p:cTn>
                                            <p:tgtEl>
                                              <p:spTgt spid="52"/>
                                            </p:tgtEl>
                                            <p:attrNameLst>
                                              <p:attrName>style.visibility</p:attrName>
                                            </p:attrNameLst>
                                          </p:cBhvr>
                                          <p:to>
                                            <p:strVal val="visible"/>
                                          </p:to>
                                        </p:set>
                                        <p:animEffect transition="in" filter="fade">
                                          <p:cBhvr>
                                            <p:cTn id="46" dur="500"/>
                                            <p:tgtEl>
                                              <p:spTgt spid="52"/>
                                            </p:tgtEl>
                                          </p:cBhvr>
                                        </p:animEffect>
                                      </p:childTnLst>
                                    </p:cTn>
                                  </p:par>
                                  <p:par>
                                    <p:cTn id="47" presetID="10" presetClass="entr" presetSubtype="0" fill="hold" grpId="0" nodeType="withEffect">
                                      <p:stCondLst>
                                        <p:cond delay="1000"/>
                                      </p:stCondLst>
                                      <p:childTnLst>
                                        <p:set>
                                          <p:cBhvr>
                                            <p:cTn id="48" dur="1" fill="hold">
                                              <p:stCondLst>
                                                <p:cond delay="0"/>
                                              </p:stCondLst>
                                            </p:cTn>
                                            <p:tgtEl>
                                              <p:spTgt spid="37"/>
                                            </p:tgtEl>
                                            <p:attrNameLst>
                                              <p:attrName>style.visibility</p:attrName>
                                            </p:attrNameLst>
                                          </p:cBhvr>
                                          <p:to>
                                            <p:strVal val="visible"/>
                                          </p:to>
                                        </p:set>
                                        <p:animEffect transition="in" filter="fade">
                                          <p:cBhvr>
                                            <p:cTn id="49" dur="500"/>
                                            <p:tgtEl>
                                              <p:spTgt spid="37"/>
                                            </p:tgtEl>
                                          </p:cBhvr>
                                        </p:animEffect>
                                      </p:childTnLst>
                                    </p:cTn>
                                  </p:par>
                                  <p:par>
                                    <p:cTn id="50" presetID="10" presetClass="entr" presetSubtype="0" fill="hold" grpId="0" nodeType="withEffect">
                                      <p:stCondLst>
                                        <p:cond delay="1000"/>
                                      </p:stCondLst>
                                      <p:childTnLst>
                                        <p:set>
                                          <p:cBhvr>
                                            <p:cTn id="51" dur="1" fill="hold">
                                              <p:stCondLst>
                                                <p:cond delay="0"/>
                                              </p:stCondLst>
                                            </p:cTn>
                                            <p:tgtEl>
                                              <p:spTgt spid="53"/>
                                            </p:tgtEl>
                                            <p:attrNameLst>
                                              <p:attrName>style.visibility</p:attrName>
                                            </p:attrNameLst>
                                          </p:cBhvr>
                                          <p:to>
                                            <p:strVal val="visible"/>
                                          </p:to>
                                        </p:set>
                                        <p:animEffect transition="in" filter="fade">
                                          <p:cBhvr>
                                            <p:cTn id="52" dur="500"/>
                                            <p:tgtEl>
                                              <p:spTgt spid="53"/>
                                            </p:tgtEl>
                                          </p:cBhvr>
                                        </p:animEffect>
                                      </p:childTnLst>
                                    </p:cTn>
                                  </p:par>
                                  <p:par>
                                    <p:cTn id="53" presetID="53" presetClass="entr" presetSubtype="16" fill="hold" nodeType="withEffect">
                                      <p:stCondLst>
                                        <p:cond delay="1250"/>
                                      </p:stCondLst>
                                      <p:childTnLst>
                                        <p:set>
                                          <p:cBhvr>
                                            <p:cTn id="54" dur="1" fill="hold">
                                              <p:stCondLst>
                                                <p:cond delay="0"/>
                                              </p:stCondLst>
                                            </p:cTn>
                                            <p:tgtEl>
                                              <p:spTgt spid="16"/>
                                            </p:tgtEl>
                                            <p:attrNameLst>
                                              <p:attrName>style.visibility</p:attrName>
                                            </p:attrNameLst>
                                          </p:cBhvr>
                                          <p:to>
                                            <p:strVal val="visible"/>
                                          </p:to>
                                        </p:set>
                                        <p:anim calcmode="lin" valueType="num">
                                          <p:cBhvr>
                                            <p:cTn id="55" dur="750" fill="hold"/>
                                            <p:tgtEl>
                                              <p:spTgt spid="16"/>
                                            </p:tgtEl>
                                            <p:attrNameLst>
                                              <p:attrName>ppt_w</p:attrName>
                                            </p:attrNameLst>
                                          </p:cBhvr>
                                          <p:tavLst>
                                            <p:tav tm="0">
                                              <p:val>
                                                <p:fltVal val="0"/>
                                              </p:val>
                                            </p:tav>
                                            <p:tav tm="100000">
                                              <p:val>
                                                <p:strVal val="#ppt_w"/>
                                              </p:val>
                                            </p:tav>
                                          </p:tavLst>
                                        </p:anim>
                                        <p:anim calcmode="lin" valueType="num">
                                          <p:cBhvr>
                                            <p:cTn id="56" dur="750" fill="hold"/>
                                            <p:tgtEl>
                                              <p:spTgt spid="16"/>
                                            </p:tgtEl>
                                            <p:attrNameLst>
                                              <p:attrName>ppt_h</p:attrName>
                                            </p:attrNameLst>
                                          </p:cBhvr>
                                          <p:tavLst>
                                            <p:tav tm="0">
                                              <p:val>
                                                <p:fltVal val="0"/>
                                              </p:val>
                                            </p:tav>
                                            <p:tav tm="100000">
                                              <p:val>
                                                <p:strVal val="#ppt_h"/>
                                              </p:val>
                                            </p:tav>
                                          </p:tavLst>
                                        </p:anim>
                                        <p:animEffect transition="in" filter="fade">
                                          <p:cBhvr>
                                            <p:cTn id="57" dur="750"/>
                                            <p:tgtEl>
                                              <p:spTgt spid="16"/>
                                            </p:tgtEl>
                                          </p:cBhvr>
                                        </p:animEffect>
                                      </p:childTnLst>
                                    </p:cTn>
                                  </p:par>
                                  <p:par>
                                    <p:cTn id="58" presetID="53" presetClass="entr" presetSubtype="16" fill="hold" nodeType="withEffect">
                                      <p:stCondLst>
                                        <p:cond delay="1250"/>
                                      </p:stCondLst>
                                      <p:childTnLst>
                                        <p:set>
                                          <p:cBhvr>
                                            <p:cTn id="59" dur="1" fill="hold">
                                              <p:stCondLst>
                                                <p:cond delay="0"/>
                                              </p:stCondLst>
                                            </p:cTn>
                                            <p:tgtEl>
                                              <p:spTgt spid="6"/>
                                            </p:tgtEl>
                                            <p:attrNameLst>
                                              <p:attrName>style.visibility</p:attrName>
                                            </p:attrNameLst>
                                          </p:cBhvr>
                                          <p:to>
                                            <p:strVal val="visible"/>
                                          </p:to>
                                        </p:set>
                                        <p:anim calcmode="lin" valueType="num">
                                          <p:cBhvr>
                                            <p:cTn id="60" dur="750" fill="hold"/>
                                            <p:tgtEl>
                                              <p:spTgt spid="6"/>
                                            </p:tgtEl>
                                            <p:attrNameLst>
                                              <p:attrName>ppt_w</p:attrName>
                                            </p:attrNameLst>
                                          </p:cBhvr>
                                          <p:tavLst>
                                            <p:tav tm="0">
                                              <p:val>
                                                <p:fltVal val="0"/>
                                              </p:val>
                                            </p:tav>
                                            <p:tav tm="100000">
                                              <p:val>
                                                <p:strVal val="#ppt_w"/>
                                              </p:val>
                                            </p:tav>
                                          </p:tavLst>
                                        </p:anim>
                                        <p:anim calcmode="lin" valueType="num">
                                          <p:cBhvr>
                                            <p:cTn id="61" dur="750" fill="hold"/>
                                            <p:tgtEl>
                                              <p:spTgt spid="6"/>
                                            </p:tgtEl>
                                            <p:attrNameLst>
                                              <p:attrName>ppt_h</p:attrName>
                                            </p:attrNameLst>
                                          </p:cBhvr>
                                          <p:tavLst>
                                            <p:tav tm="0">
                                              <p:val>
                                                <p:fltVal val="0"/>
                                              </p:val>
                                            </p:tav>
                                            <p:tav tm="100000">
                                              <p:val>
                                                <p:strVal val="#ppt_h"/>
                                              </p:val>
                                            </p:tav>
                                          </p:tavLst>
                                        </p:anim>
                                        <p:animEffect transition="in" filter="fade">
                                          <p:cBhvr>
                                            <p:cTn id="62" dur="750"/>
                                            <p:tgtEl>
                                              <p:spTgt spid="6"/>
                                            </p:tgtEl>
                                          </p:cBhvr>
                                        </p:animEffect>
                                      </p:childTnLst>
                                    </p:cTn>
                                  </p:par>
                                  <p:par>
                                    <p:cTn id="63" presetID="53" presetClass="entr" presetSubtype="16" fill="hold" nodeType="withEffect">
                                      <p:stCondLst>
                                        <p:cond delay="1250"/>
                                      </p:stCondLst>
                                      <p:childTnLst>
                                        <p:set>
                                          <p:cBhvr>
                                            <p:cTn id="64" dur="1" fill="hold">
                                              <p:stCondLst>
                                                <p:cond delay="0"/>
                                              </p:stCondLst>
                                            </p:cTn>
                                            <p:tgtEl>
                                              <p:spTgt spid="7"/>
                                            </p:tgtEl>
                                            <p:attrNameLst>
                                              <p:attrName>style.visibility</p:attrName>
                                            </p:attrNameLst>
                                          </p:cBhvr>
                                          <p:to>
                                            <p:strVal val="visible"/>
                                          </p:to>
                                        </p:set>
                                        <p:anim calcmode="lin" valueType="num">
                                          <p:cBhvr>
                                            <p:cTn id="65" dur="750" fill="hold"/>
                                            <p:tgtEl>
                                              <p:spTgt spid="7"/>
                                            </p:tgtEl>
                                            <p:attrNameLst>
                                              <p:attrName>ppt_w</p:attrName>
                                            </p:attrNameLst>
                                          </p:cBhvr>
                                          <p:tavLst>
                                            <p:tav tm="0">
                                              <p:val>
                                                <p:fltVal val="0"/>
                                              </p:val>
                                            </p:tav>
                                            <p:tav tm="100000">
                                              <p:val>
                                                <p:strVal val="#ppt_w"/>
                                              </p:val>
                                            </p:tav>
                                          </p:tavLst>
                                        </p:anim>
                                        <p:anim calcmode="lin" valueType="num">
                                          <p:cBhvr>
                                            <p:cTn id="66" dur="750" fill="hold"/>
                                            <p:tgtEl>
                                              <p:spTgt spid="7"/>
                                            </p:tgtEl>
                                            <p:attrNameLst>
                                              <p:attrName>ppt_h</p:attrName>
                                            </p:attrNameLst>
                                          </p:cBhvr>
                                          <p:tavLst>
                                            <p:tav tm="0">
                                              <p:val>
                                                <p:fltVal val="0"/>
                                              </p:val>
                                            </p:tav>
                                            <p:tav tm="100000">
                                              <p:val>
                                                <p:strVal val="#ppt_h"/>
                                              </p:val>
                                            </p:tav>
                                          </p:tavLst>
                                        </p:anim>
                                        <p:animEffect transition="in" filter="fade">
                                          <p:cBhvr>
                                            <p:cTn id="67" dur="750"/>
                                            <p:tgtEl>
                                              <p:spTgt spid="7"/>
                                            </p:tgtEl>
                                          </p:cBhvr>
                                        </p:animEffect>
                                      </p:childTnLst>
                                    </p:cTn>
                                  </p:par>
                                  <p:par>
                                    <p:cTn id="68" presetID="53" presetClass="entr" presetSubtype="16" fill="hold" nodeType="withEffect">
                                      <p:stCondLst>
                                        <p:cond delay="1250"/>
                                      </p:stCondLst>
                                      <p:childTnLst>
                                        <p:set>
                                          <p:cBhvr>
                                            <p:cTn id="69" dur="1" fill="hold">
                                              <p:stCondLst>
                                                <p:cond delay="0"/>
                                              </p:stCondLst>
                                            </p:cTn>
                                            <p:tgtEl>
                                              <p:spTgt spid="14"/>
                                            </p:tgtEl>
                                            <p:attrNameLst>
                                              <p:attrName>style.visibility</p:attrName>
                                            </p:attrNameLst>
                                          </p:cBhvr>
                                          <p:to>
                                            <p:strVal val="visible"/>
                                          </p:to>
                                        </p:set>
                                        <p:anim calcmode="lin" valueType="num">
                                          <p:cBhvr>
                                            <p:cTn id="70" dur="750" fill="hold"/>
                                            <p:tgtEl>
                                              <p:spTgt spid="14"/>
                                            </p:tgtEl>
                                            <p:attrNameLst>
                                              <p:attrName>ppt_w</p:attrName>
                                            </p:attrNameLst>
                                          </p:cBhvr>
                                          <p:tavLst>
                                            <p:tav tm="0">
                                              <p:val>
                                                <p:fltVal val="0"/>
                                              </p:val>
                                            </p:tav>
                                            <p:tav tm="100000">
                                              <p:val>
                                                <p:strVal val="#ppt_w"/>
                                              </p:val>
                                            </p:tav>
                                          </p:tavLst>
                                        </p:anim>
                                        <p:anim calcmode="lin" valueType="num">
                                          <p:cBhvr>
                                            <p:cTn id="71" dur="750" fill="hold"/>
                                            <p:tgtEl>
                                              <p:spTgt spid="14"/>
                                            </p:tgtEl>
                                            <p:attrNameLst>
                                              <p:attrName>ppt_h</p:attrName>
                                            </p:attrNameLst>
                                          </p:cBhvr>
                                          <p:tavLst>
                                            <p:tav tm="0">
                                              <p:val>
                                                <p:fltVal val="0"/>
                                              </p:val>
                                            </p:tav>
                                            <p:tav tm="100000">
                                              <p:val>
                                                <p:strVal val="#ppt_h"/>
                                              </p:val>
                                            </p:tav>
                                          </p:tavLst>
                                        </p:anim>
                                        <p:animEffect transition="in" filter="fade">
                                          <p:cBhvr>
                                            <p:cTn id="72" dur="750"/>
                                            <p:tgtEl>
                                              <p:spTgt spid="14"/>
                                            </p:tgtEl>
                                          </p:cBhvr>
                                        </p:animEffect>
                                      </p:childTnLst>
                                    </p:cTn>
                                  </p:par>
                                  <p:par>
                                    <p:cTn id="73" presetID="53" presetClass="entr" presetSubtype="16" fill="hold" nodeType="withEffect">
                                      <p:stCondLst>
                                        <p:cond delay="1250"/>
                                      </p:stCondLst>
                                      <p:childTnLst>
                                        <p:set>
                                          <p:cBhvr>
                                            <p:cTn id="74" dur="1" fill="hold">
                                              <p:stCondLst>
                                                <p:cond delay="0"/>
                                              </p:stCondLst>
                                            </p:cTn>
                                            <p:tgtEl>
                                              <p:spTgt spid="15"/>
                                            </p:tgtEl>
                                            <p:attrNameLst>
                                              <p:attrName>style.visibility</p:attrName>
                                            </p:attrNameLst>
                                          </p:cBhvr>
                                          <p:to>
                                            <p:strVal val="visible"/>
                                          </p:to>
                                        </p:set>
                                        <p:anim calcmode="lin" valueType="num">
                                          <p:cBhvr>
                                            <p:cTn id="75" dur="750" fill="hold"/>
                                            <p:tgtEl>
                                              <p:spTgt spid="15"/>
                                            </p:tgtEl>
                                            <p:attrNameLst>
                                              <p:attrName>ppt_w</p:attrName>
                                            </p:attrNameLst>
                                          </p:cBhvr>
                                          <p:tavLst>
                                            <p:tav tm="0">
                                              <p:val>
                                                <p:fltVal val="0"/>
                                              </p:val>
                                            </p:tav>
                                            <p:tav tm="100000">
                                              <p:val>
                                                <p:strVal val="#ppt_w"/>
                                              </p:val>
                                            </p:tav>
                                          </p:tavLst>
                                        </p:anim>
                                        <p:anim calcmode="lin" valueType="num">
                                          <p:cBhvr>
                                            <p:cTn id="76" dur="750" fill="hold"/>
                                            <p:tgtEl>
                                              <p:spTgt spid="15"/>
                                            </p:tgtEl>
                                            <p:attrNameLst>
                                              <p:attrName>ppt_h</p:attrName>
                                            </p:attrNameLst>
                                          </p:cBhvr>
                                          <p:tavLst>
                                            <p:tav tm="0">
                                              <p:val>
                                                <p:fltVal val="0"/>
                                              </p:val>
                                            </p:tav>
                                            <p:tav tm="100000">
                                              <p:val>
                                                <p:strVal val="#ppt_h"/>
                                              </p:val>
                                            </p:tav>
                                          </p:tavLst>
                                        </p:anim>
                                        <p:animEffect transition="in" filter="fade">
                                          <p:cBhvr>
                                            <p:cTn id="77" dur="7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6" grpId="0" animBg="1"/>
          <p:bldP spid="37" grpId="0" animBg="1"/>
          <p:bldP spid="50" grpId="0" animBg="1"/>
          <p:bldP spid="52" grpId="0" animBg="1"/>
          <p:bldP spid="53" grpId="0" animBg="1"/>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离页连接符 4"/>
          <p:cNvSpPr/>
          <p:nvPr/>
        </p:nvSpPr>
        <p:spPr>
          <a:xfrm>
            <a:off x="466887" y="0"/>
            <a:ext cx="1855838" cy="3034650"/>
          </a:xfrm>
          <a:prstGeom prst="flowChartOffpageConnector">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lnSpc>
                <a:spcPct val="150000"/>
              </a:lnSpc>
            </a:pPr>
            <a:endParaRPr lang="en-US" altLang="zh-CN" sz="2000" b="1" dirty="0">
              <a:solidFill>
                <a:schemeClr val="tx2">
                  <a:lumMod val="75000"/>
                </a:schemeClr>
              </a:solidFill>
              <a:latin typeface="微软雅黑" panose="020B0503020204020204" pitchFamily="34" charset="-122"/>
              <a:ea typeface="微软雅黑" panose="020B0503020204020204" pitchFamily="34" charset="-122"/>
            </a:endParaRPr>
          </a:p>
        </p:txBody>
      </p:sp>
      <p:sp>
        <p:nvSpPr>
          <p:cNvPr id="11" name="矩形 10"/>
          <p:cNvSpPr/>
          <p:nvPr/>
        </p:nvSpPr>
        <p:spPr>
          <a:xfrm>
            <a:off x="466888" y="6563"/>
            <a:ext cx="1855838" cy="29406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2908454" y="1517325"/>
            <a:ext cx="5585550" cy="3260993"/>
          </a:xfrm>
          <a:prstGeom prst="rect">
            <a:avLst/>
          </a:prstGeom>
          <a:noFill/>
        </p:spPr>
        <p:txBody>
          <a:bodyPr wrap="square" rtlCol="0">
            <a:prstTxWarp prst="textPlain">
              <a:avLst/>
            </a:prstTxWarp>
            <a:spAutoFit/>
          </a:bodyPr>
          <a:lstStyle/>
          <a:p>
            <a:r>
              <a:rPr lang="en-US" altLang="zh-CN" b="1" dirty="0">
                <a:blipFill dpi="0" rotWithShape="1">
                  <a:blip r:embed="rId2"/>
                  <a:srcRect/>
                  <a:stretch>
                    <a:fillRect/>
                  </a:stretch>
                </a:blipFill>
                <a:effectLst>
                  <a:outerShdw blurRad="50800" dist="38100" dir="2700000" algn="tl" rotWithShape="0">
                    <a:prstClr val="black">
                      <a:alpha val="40000"/>
                    </a:prstClr>
                  </a:outerShdw>
                </a:effectLst>
                <a:latin typeface="Microsoft JhengHei" panose="020B0604030504040204" pitchFamily="34" charset="-120"/>
                <a:ea typeface="Microsoft JhengHei" panose="020B0604030504040204" pitchFamily="34" charset="-120"/>
              </a:rPr>
              <a:t>——————————————</a:t>
            </a:r>
            <a:endParaRPr lang="zh-CN" altLang="en-US" b="1" dirty="0">
              <a:blipFill dpi="0" rotWithShape="1">
                <a:blip r:embed="rId2"/>
                <a:srcRect/>
                <a:stretch>
                  <a:fillRect/>
                </a:stretch>
              </a:blipFill>
              <a:effectLst>
                <a:outerShdw blurRad="50800" dist="38100" dir="2700000" algn="tl" rotWithShape="0">
                  <a:prstClr val="black">
                    <a:alpha val="40000"/>
                  </a:prstClr>
                </a:outerShdw>
              </a:effectLst>
              <a:latin typeface="Microsoft JhengHei" panose="020B0604030504040204" pitchFamily="34" charset="-120"/>
              <a:ea typeface="Microsoft JhengHei" panose="020B0604030504040204" pitchFamily="34" charset="-120"/>
            </a:endParaRPr>
          </a:p>
        </p:txBody>
      </p:sp>
      <p:sp>
        <p:nvSpPr>
          <p:cNvPr id="10" name="文本框 9"/>
          <p:cNvSpPr txBox="1"/>
          <p:nvPr/>
        </p:nvSpPr>
        <p:spPr>
          <a:xfrm>
            <a:off x="1086402" y="409329"/>
            <a:ext cx="936434" cy="1107996"/>
          </a:xfrm>
          <a:prstGeom prst="rect">
            <a:avLst/>
          </a:prstGeom>
          <a:noFill/>
        </p:spPr>
        <p:txBody>
          <a:bodyPr wrap="square" rtlCol="0">
            <a:spAutoFit/>
          </a:bodyPr>
          <a:lstStyle/>
          <a:p>
            <a:r>
              <a:rPr lang="en-US" altLang="zh-CN" sz="6600" dirty="0">
                <a:solidFill>
                  <a:schemeClr val="accent4"/>
                </a:solidFill>
                <a:latin typeface="+mn-ea"/>
              </a:rPr>
              <a:t>1</a:t>
            </a:r>
            <a:endParaRPr lang="zh-CN" altLang="en-US" sz="6600" dirty="0">
              <a:solidFill>
                <a:schemeClr val="accent4"/>
              </a:solidFill>
              <a:latin typeface="+mn-ea"/>
            </a:endParaRPr>
          </a:p>
        </p:txBody>
      </p:sp>
      <p:sp>
        <p:nvSpPr>
          <p:cNvPr id="23" name="矩形 22"/>
          <p:cNvSpPr/>
          <p:nvPr/>
        </p:nvSpPr>
        <p:spPr>
          <a:xfrm>
            <a:off x="2908455" y="1123720"/>
            <a:ext cx="5585549" cy="393605"/>
          </a:xfrm>
          <a:prstGeom prst="rect">
            <a:avLst/>
          </a:prstGeom>
          <a:solidFill>
            <a:schemeClr val="accent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466887" y="-1"/>
            <a:ext cx="1855838" cy="294061"/>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3" name="直接连接符 2"/>
          <p:cNvCxnSpPr>
            <a:cxnSpLocks/>
          </p:cNvCxnSpPr>
          <p:nvPr/>
        </p:nvCxnSpPr>
        <p:spPr>
          <a:xfrm>
            <a:off x="466887" y="1408204"/>
            <a:ext cx="1855838" cy="0"/>
          </a:xfrm>
          <a:prstGeom prst="line">
            <a:avLst/>
          </a:prstGeom>
          <a:ln>
            <a:solidFill>
              <a:schemeClr val="tx1">
                <a:lumMod val="65000"/>
                <a:lumOff val="35000"/>
              </a:schemeClr>
            </a:solidFill>
          </a:ln>
        </p:spPr>
        <p:style>
          <a:lnRef idx="1">
            <a:schemeClr val="accent3"/>
          </a:lnRef>
          <a:fillRef idx="0">
            <a:schemeClr val="accent3"/>
          </a:fillRef>
          <a:effectRef idx="0">
            <a:schemeClr val="accent3"/>
          </a:effectRef>
          <a:fontRef idx="minor">
            <a:schemeClr val="tx1"/>
          </a:fontRef>
        </p:style>
      </p:cxnSp>
      <p:sp>
        <p:nvSpPr>
          <p:cNvPr id="46" name="椭圆 45"/>
          <p:cNvSpPr/>
          <p:nvPr/>
        </p:nvSpPr>
        <p:spPr>
          <a:xfrm>
            <a:off x="2908454" y="669032"/>
            <a:ext cx="129209" cy="12920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3149457" y="669032"/>
            <a:ext cx="129209" cy="129209"/>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3390460" y="665816"/>
            <a:ext cx="129209" cy="12920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3631463" y="665816"/>
            <a:ext cx="129209" cy="129209"/>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0" name="椭圆 49"/>
          <p:cNvSpPr/>
          <p:nvPr/>
        </p:nvSpPr>
        <p:spPr>
          <a:xfrm>
            <a:off x="3872466" y="665815"/>
            <a:ext cx="129209" cy="129209"/>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681905" y="1599019"/>
            <a:ext cx="1425802" cy="923330"/>
          </a:xfrm>
          <a:prstGeom prst="rect">
            <a:avLst/>
          </a:prstGeom>
        </p:spPr>
        <p:txBody>
          <a:bodyPr wrap="square">
            <a:spAutoFit/>
          </a:bodyPr>
          <a:lstStyle/>
          <a:p>
            <a:pPr algn="ct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客户服务</a:t>
            </a:r>
            <a:endParaRPr lang="en-US" altLang="zh-CN"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20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新趋势概览</a:t>
            </a:r>
            <a:endParaRPr lang="en-US" altLang="zh-CN"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75" name="组合 74"/>
          <p:cNvGrpSpPr/>
          <p:nvPr/>
        </p:nvGrpSpPr>
        <p:grpSpPr>
          <a:xfrm>
            <a:off x="7264097" y="4949496"/>
            <a:ext cx="1023255" cy="648772"/>
            <a:chOff x="1419243" y="4456566"/>
            <a:chExt cx="1731363" cy="1097733"/>
          </a:xfrm>
          <a:solidFill>
            <a:schemeClr val="tx1">
              <a:lumMod val="75000"/>
              <a:lumOff val="25000"/>
            </a:schemeClr>
          </a:solidFill>
          <a:effectLst>
            <a:outerShdw blurRad="63500" sx="102000" sy="102000" algn="ctr" rotWithShape="0">
              <a:prstClr val="black">
                <a:alpha val="40000"/>
              </a:prstClr>
            </a:outerShdw>
          </a:effectLst>
        </p:grpSpPr>
        <p:sp>
          <p:nvSpPr>
            <p:cNvPr id="76" name="椭圆 75"/>
            <p:cNvSpPr/>
            <p:nvPr/>
          </p:nvSpPr>
          <p:spPr>
            <a:xfrm>
              <a:off x="1865015" y="4925084"/>
              <a:ext cx="153909" cy="153909"/>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nvSpPr>
          <p:spPr>
            <a:xfrm>
              <a:off x="2087730"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nvSpPr>
          <p:spPr>
            <a:xfrm>
              <a:off x="2310445" y="4925084"/>
              <a:ext cx="153909" cy="15390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nvSpPr>
          <p:spPr>
            <a:xfrm>
              <a:off x="2533160"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p:cNvSpPr/>
            <p:nvPr/>
          </p:nvSpPr>
          <p:spPr>
            <a:xfrm>
              <a:off x="2755875" y="4925084"/>
              <a:ext cx="153909" cy="15390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a:off x="2996697"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nvSpPr>
          <p:spPr>
            <a:xfrm>
              <a:off x="2865422" y="4766648"/>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p:nvSpPr>
          <p:spPr>
            <a:xfrm>
              <a:off x="2736411" y="4610475"/>
              <a:ext cx="153909" cy="153909"/>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p:nvSpPr>
          <p:spPr>
            <a:xfrm>
              <a:off x="2865422" y="50857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p:cNvSpPr/>
            <p:nvPr/>
          </p:nvSpPr>
          <p:spPr>
            <a:xfrm>
              <a:off x="2736411" y="5251011"/>
              <a:ext cx="153909" cy="15390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p:nvSpPr>
          <p:spPr>
            <a:xfrm>
              <a:off x="2601966" y="4456566"/>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nvSpPr>
          <p:spPr>
            <a:xfrm>
              <a:off x="2601966" y="5400390"/>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a:off x="1644563"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p:cNvSpPr/>
            <p:nvPr/>
          </p:nvSpPr>
          <p:spPr>
            <a:xfrm>
              <a:off x="1419243"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139325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1000"/>
                                        <p:tgtEl>
                                          <p:spTgt spid="5"/>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par>
                          <p:cTn id="12" fill="hold">
                            <p:stCondLst>
                              <p:cond delay="1500"/>
                            </p:stCondLst>
                            <p:childTnLst>
                              <p:par>
                                <p:cTn id="13" presetID="17" presetClass="entr" presetSubtype="8" fill="hold" grpId="0" nodeType="afterEffect">
                                  <p:stCondLst>
                                    <p:cond delay="0"/>
                                  </p:stCondLst>
                                  <p:childTnLst>
                                    <p:set>
                                      <p:cBhvr>
                                        <p:cTn id="14" dur="1" fill="hold">
                                          <p:stCondLst>
                                            <p:cond delay="0"/>
                                          </p:stCondLst>
                                        </p:cTn>
                                        <p:tgtEl>
                                          <p:spTgt spid="45"/>
                                        </p:tgtEl>
                                        <p:attrNameLst>
                                          <p:attrName>style.visibility</p:attrName>
                                        </p:attrNameLst>
                                      </p:cBhvr>
                                      <p:to>
                                        <p:strVal val="visible"/>
                                      </p:to>
                                    </p:set>
                                    <p:anim calcmode="lin" valueType="num">
                                      <p:cBhvr>
                                        <p:cTn id="15" dur="750" fill="hold"/>
                                        <p:tgtEl>
                                          <p:spTgt spid="45"/>
                                        </p:tgtEl>
                                        <p:attrNameLst>
                                          <p:attrName>ppt_x</p:attrName>
                                        </p:attrNameLst>
                                      </p:cBhvr>
                                      <p:tavLst>
                                        <p:tav tm="0">
                                          <p:val>
                                            <p:strVal val="#ppt_x-#ppt_w/2"/>
                                          </p:val>
                                        </p:tav>
                                        <p:tav tm="100000">
                                          <p:val>
                                            <p:strVal val="#ppt_x"/>
                                          </p:val>
                                        </p:tav>
                                      </p:tavLst>
                                    </p:anim>
                                    <p:anim calcmode="lin" valueType="num">
                                      <p:cBhvr>
                                        <p:cTn id="16" dur="750" fill="hold"/>
                                        <p:tgtEl>
                                          <p:spTgt spid="45"/>
                                        </p:tgtEl>
                                        <p:attrNameLst>
                                          <p:attrName>ppt_y</p:attrName>
                                        </p:attrNameLst>
                                      </p:cBhvr>
                                      <p:tavLst>
                                        <p:tav tm="0">
                                          <p:val>
                                            <p:strVal val="#ppt_y"/>
                                          </p:val>
                                        </p:tav>
                                        <p:tav tm="100000">
                                          <p:val>
                                            <p:strVal val="#ppt_y"/>
                                          </p:val>
                                        </p:tav>
                                      </p:tavLst>
                                    </p:anim>
                                    <p:anim calcmode="lin" valueType="num">
                                      <p:cBhvr>
                                        <p:cTn id="17" dur="750" fill="hold"/>
                                        <p:tgtEl>
                                          <p:spTgt spid="45"/>
                                        </p:tgtEl>
                                        <p:attrNameLst>
                                          <p:attrName>ppt_w</p:attrName>
                                        </p:attrNameLst>
                                      </p:cBhvr>
                                      <p:tavLst>
                                        <p:tav tm="0">
                                          <p:val>
                                            <p:fltVal val="0"/>
                                          </p:val>
                                        </p:tav>
                                        <p:tav tm="100000">
                                          <p:val>
                                            <p:strVal val="#ppt_w"/>
                                          </p:val>
                                        </p:tav>
                                      </p:tavLst>
                                    </p:anim>
                                    <p:anim calcmode="lin" valueType="num">
                                      <p:cBhvr>
                                        <p:cTn id="18" dur="750" fill="hold"/>
                                        <p:tgtEl>
                                          <p:spTgt spid="45"/>
                                        </p:tgtEl>
                                        <p:attrNameLst>
                                          <p:attrName>ppt_h</p:attrName>
                                        </p:attrNameLst>
                                      </p:cBhvr>
                                      <p:tavLst>
                                        <p:tav tm="0">
                                          <p:val>
                                            <p:strVal val="#ppt_h"/>
                                          </p:val>
                                        </p:tav>
                                        <p:tav tm="100000">
                                          <p:val>
                                            <p:strVal val="#ppt_h"/>
                                          </p:val>
                                        </p:tav>
                                      </p:tavLst>
                                    </p:anim>
                                  </p:childTnLst>
                                </p:cTn>
                              </p:par>
                            </p:childTnLst>
                          </p:cTn>
                        </p:par>
                        <p:par>
                          <p:cTn id="19" fill="hold">
                            <p:stCondLst>
                              <p:cond delay="2250"/>
                            </p:stCondLst>
                            <p:childTnLst>
                              <p:par>
                                <p:cTn id="20" presetID="10" presetClass="entr" presetSubtype="0" fill="hold"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p:cTn id="25" dur="1000" fill="hold"/>
                                        <p:tgtEl>
                                          <p:spTgt spid="10"/>
                                        </p:tgtEl>
                                        <p:attrNameLst>
                                          <p:attrName>ppt_w</p:attrName>
                                        </p:attrNameLst>
                                      </p:cBhvr>
                                      <p:tavLst>
                                        <p:tav tm="0">
                                          <p:val>
                                            <p:fltVal val="0"/>
                                          </p:val>
                                        </p:tav>
                                        <p:tav tm="100000">
                                          <p:val>
                                            <p:strVal val="#ppt_w"/>
                                          </p:val>
                                        </p:tav>
                                      </p:tavLst>
                                    </p:anim>
                                    <p:anim calcmode="lin" valueType="num">
                                      <p:cBhvr>
                                        <p:cTn id="26" dur="1000" fill="hold"/>
                                        <p:tgtEl>
                                          <p:spTgt spid="10"/>
                                        </p:tgtEl>
                                        <p:attrNameLst>
                                          <p:attrName>ppt_h</p:attrName>
                                        </p:attrNameLst>
                                      </p:cBhvr>
                                      <p:tavLst>
                                        <p:tav tm="0">
                                          <p:val>
                                            <p:fltVal val="0"/>
                                          </p:val>
                                        </p:tav>
                                        <p:tav tm="100000">
                                          <p:val>
                                            <p:strVal val="#ppt_h"/>
                                          </p:val>
                                        </p:tav>
                                      </p:tavLst>
                                    </p:anim>
                                    <p:animEffect transition="in" filter="fade">
                                      <p:cBhvr>
                                        <p:cTn id="27" dur="1000"/>
                                        <p:tgtEl>
                                          <p:spTgt spid="10"/>
                                        </p:tgtEl>
                                      </p:cBhvr>
                                    </p:animEffect>
                                  </p:childTnLst>
                                </p:cTn>
                              </p:par>
                              <p:par>
                                <p:cTn id="28" presetID="42" presetClass="entr" presetSubtype="0" fill="hold" grpId="0" nodeType="with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fade">
                                      <p:cBhvr>
                                        <p:cTn id="30" dur="1000"/>
                                        <p:tgtEl>
                                          <p:spTgt spid="2"/>
                                        </p:tgtEl>
                                      </p:cBhvr>
                                    </p:animEffect>
                                    <p:anim calcmode="lin" valueType="num">
                                      <p:cBhvr>
                                        <p:cTn id="31" dur="1000" fill="hold"/>
                                        <p:tgtEl>
                                          <p:spTgt spid="2"/>
                                        </p:tgtEl>
                                        <p:attrNameLst>
                                          <p:attrName>ppt_x</p:attrName>
                                        </p:attrNameLst>
                                      </p:cBhvr>
                                      <p:tavLst>
                                        <p:tav tm="0">
                                          <p:val>
                                            <p:strVal val="#ppt_x"/>
                                          </p:val>
                                        </p:tav>
                                        <p:tav tm="100000">
                                          <p:val>
                                            <p:strVal val="#ppt_x"/>
                                          </p:val>
                                        </p:tav>
                                      </p:tavLst>
                                    </p:anim>
                                    <p:anim calcmode="lin" valueType="num">
                                      <p:cBhvr>
                                        <p:cTn id="32" dur="1000" fill="hold"/>
                                        <p:tgtEl>
                                          <p:spTgt spid="2"/>
                                        </p:tgtEl>
                                        <p:attrNameLst>
                                          <p:attrName>ppt_y</p:attrName>
                                        </p:attrNameLst>
                                      </p:cBhvr>
                                      <p:tavLst>
                                        <p:tav tm="0">
                                          <p:val>
                                            <p:strVal val="#ppt_y+.1"/>
                                          </p:val>
                                        </p:tav>
                                        <p:tav tm="100000">
                                          <p:val>
                                            <p:strVal val="#ppt_y"/>
                                          </p:val>
                                        </p:tav>
                                      </p:tavLst>
                                    </p:anim>
                                  </p:childTnLst>
                                </p:cTn>
                              </p:par>
                              <p:par>
                                <p:cTn id="33" presetID="2" presetClass="entr" presetSubtype="1" fill="hold" grpId="0" nodeType="withEffect">
                                  <p:stCondLst>
                                    <p:cond delay="0"/>
                                  </p:stCondLst>
                                  <p:childTnLst>
                                    <p:set>
                                      <p:cBhvr>
                                        <p:cTn id="34" dur="1" fill="hold">
                                          <p:stCondLst>
                                            <p:cond delay="0"/>
                                          </p:stCondLst>
                                        </p:cTn>
                                        <p:tgtEl>
                                          <p:spTgt spid="46"/>
                                        </p:tgtEl>
                                        <p:attrNameLst>
                                          <p:attrName>style.visibility</p:attrName>
                                        </p:attrNameLst>
                                      </p:cBhvr>
                                      <p:to>
                                        <p:strVal val="visible"/>
                                      </p:to>
                                    </p:set>
                                    <p:anim calcmode="lin" valueType="num">
                                      <p:cBhvr additive="base">
                                        <p:cTn id="35" dur="750" fill="hold"/>
                                        <p:tgtEl>
                                          <p:spTgt spid="46"/>
                                        </p:tgtEl>
                                        <p:attrNameLst>
                                          <p:attrName>ppt_x</p:attrName>
                                        </p:attrNameLst>
                                      </p:cBhvr>
                                      <p:tavLst>
                                        <p:tav tm="0">
                                          <p:val>
                                            <p:strVal val="#ppt_x"/>
                                          </p:val>
                                        </p:tav>
                                        <p:tav tm="100000">
                                          <p:val>
                                            <p:strVal val="#ppt_x"/>
                                          </p:val>
                                        </p:tav>
                                      </p:tavLst>
                                    </p:anim>
                                    <p:anim calcmode="lin" valueType="num">
                                      <p:cBhvr additive="base">
                                        <p:cTn id="36" dur="750" fill="hold"/>
                                        <p:tgtEl>
                                          <p:spTgt spid="46"/>
                                        </p:tgtEl>
                                        <p:attrNameLst>
                                          <p:attrName>ppt_y</p:attrName>
                                        </p:attrNameLst>
                                      </p:cBhvr>
                                      <p:tavLst>
                                        <p:tav tm="0">
                                          <p:val>
                                            <p:strVal val="0-#ppt_h/2"/>
                                          </p:val>
                                        </p:tav>
                                        <p:tav tm="100000">
                                          <p:val>
                                            <p:strVal val="#ppt_y"/>
                                          </p:val>
                                        </p:tav>
                                      </p:tavLst>
                                    </p:anim>
                                  </p:childTnLst>
                                </p:cTn>
                              </p:par>
                              <p:par>
                                <p:cTn id="37" presetID="2" presetClass="entr" presetSubtype="1" fill="hold" grpId="0" nodeType="withEffect">
                                  <p:stCondLst>
                                    <p:cond delay="250"/>
                                  </p:stCondLst>
                                  <p:childTnLst>
                                    <p:set>
                                      <p:cBhvr>
                                        <p:cTn id="38" dur="1" fill="hold">
                                          <p:stCondLst>
                                            <p:cond delay="0"/>
                                          </p:stCondLst>
                                        </p:cTn>
                                        <p:tgtEl>
                                          <p:spTgt spid="47"/>
                                        </p:tgtEl>
                                        <p:attrNameLst>
                                          <p:attrName>style.visibility</p:attrName>
                                        </p:attrNameLst>
                                      </p:cBhvr>
                                      <p:to>
                                        <p:strVal val="visible"/>
                                      </p:to>
                                    </p:set>
                                    <p:anim calcmode="lin" valueType="num">
                                      <p:cBhvr additive="base">
                                        <p:cTn id="39" dur="750" fill="hold"/>
                                        <p:tgtEl>
                                          <p:spTgt spid="47"/>
                                        </p:tgtEl>
                                        <p:attrNameLst>
                                          <p:attrName>ppt_x</p:attrName>
                                        </p:attrNameLst>
                                      </p:cBhvr>
                                      <p:tavLst>
                                        <p:tav tm="0">
                                          <p:val>
                                            <p:strVal val="#ppt_x"/>
                                          </p:val>
                                        </p:tav>
                                        <p:tav tm="100000">
                                          <p:val>
                                            <p:strVal val="#ppt_x"/>
                                          </p:val>
                                        </p:tav>
                                      </p:tavLst>
                                    </p:anim>
                                    <p:anim calcmode="lin" valueType="num">
                                      <p:cBhvr additive="base">
                                        <p:cTn id="40" dur="750" fill="hold"/>
                                        <p:tgtEl>
                                          <p:spTgt spid="47"/>
                                        </p:tgtEl>
                                        <p:attrNameLst>
                                          <p:attrName>ppt_y</p:attrName>
                                        </p:attrNameLst>
                                      </p:cBhvr>
                                      <p:tavLst>
                                        <p:tav tm="0">
                                          <p:val>
                                            <p:strVal val="0-#ppt_h/2"/>
                                          </p:val>
                                        </p:tav>
                                        <p:tav tm="100000">
                                          <p:val>
                                            <p:strVal val="#ppt_y"/>
                                          </p:val>
                                        </p:tav>
                                      </p:tavLst>
                                    </p:anim>
                                  </p:childTnLst>
                                </p:cTn>
                              </p:par>
                              <p:par>
                                <p:cTn id="41" presetID="2" presetClass="entr" presetSubtype="1" fill="hold" grpId="0" nodeType="withEffect">
                                  <p:stCondLst>
                                    <p:cond delay="500"/>
                                  </p:stCondLst>
                                  <p:childTnLst>
                                    <p:set>
                                      <p:cBhvr>
                                        <p:cTn id="42" dur="1" fill="hold">
                                          <p:stCondLst>
                                            <p:cond delay="0"/>
                                          </p:stCondLst>
                                        </p:cTn>
                                        <p:tgtEl>
                                          <p:spTgt spid="48"/>
                                        </p:tgtEl>
                                        <p:attrNameLst>
                                          <p:attrName>style.visibility</p:attrName>
                                        </p:attrNameLst>
                                      </p:cBhvr>
                                      <p:to>
                                        <p:strVal val="visible"/>
                                      </p:to>
                                    </p:set>
                                    <p:anim calcmode="lin" valueType="num">
                                      <p:cBhvr additive="base">
                                        <p:cTn id="43" dur="750" fill="hold"/>
                                        <p:tgtEl>
                                          <p:spTgt spid="48"/>
                                        </p:tgtEl>
                                        <p:attrNameLst>
                                          <p:attrName>ppt_x</p:attrName>
                                        </p:attrNameLst>
                                      </p:cBhvr>
                                      <p:tavLst>
                                        <p:tav tm="0">
                                          <p:val>
                                            <p:strVal val="#ppt_x"/>
                                          </p:val>
                                        </p:tav>
                                        <p:tav tm="100000">
                                          <p:val>
                                            <p:strVal val="#ppt_x"/>
                                          </p:val>
                                        </p:tav>
                                      </p:tavLst>
                                    </p:anim>
                                    <p:anim calcmode="lin" valueType="num">
                                      <p:cBhvr additive="base">
                                        <p:cTn id="44" dur="750" fill="hold"/>
                                        <p:tgtEl>
                                          <p:spTgt spid="48"/>
                                        </p:tgtEl>
                                        <p:attrNameLst>
                                          <p:attrName>ppt_y</p:attrName>
                                        </p:attrNameLst>
                                      </p:cBhvr>
                                      <p:tavLst>
                                        <p:tav tm="0">
                                          <p:val>
                                            <p:strVal val="0-#ppt_h/2"/>
                                          </p:val>
                                        </p:tav>
                                        <p:tav tm="100000">
                                          <p:val>
                                            <p:strVal val="#ppt_y"/>
                                          </p:val>
                                        </p:tav>
                                      </p:tavLst>
                                    </p:anim>
                                  </p:childTnLst>
                                </p:cTn>
                              </p:par>
                              <p:par>
                                <p:cTn id="45" presetID="2" presetClass="entr" presetSubtype="1" fill="hold" grpId="0" nodeType="withEffect">
                                  <p:stCondLst>
                                    <p:cond delay="750"/>
                                  </p:stCondLst>
                                  <p:childTnLst>
                                    <p:set>
                                      <p:cBhvr>
                                        <p:cTn id="46" dur="1" fill="hold">
                                          <p:stCondLst>
                                            <p:cond delay="0"/>
                                          </p:stCondLst>
                                        </p:cTn>
                                        <p:tgtEl>
                                          <p:spTgt spid="49"/>
                                        </p:tgtEl>
                                        <p:attrNameLst>
                                          <p:attrName>style.visibility</p:attrName>
                                        </p:attrNameLst>
                                      </p:cBhvr>
                                      <p:to>
                                        <p:strVal val="visible"/>
                                      </p:to>
                                    </p:set>
                                    <p:anim calcmode="lin" valueType="num">
                                      <p:cBhvr additive="base">
                                        <p:cTn id="47" dur="750" fill="hold"/>
                                        <p:tgtEl>
                                          <p:spTgt spid="49"/>
                                        </p:tgtEl>
                                        <p:attrNameLst>
                                          <p:attrName>ppt_x</p:attrName>
                                        </p:attrNameLst>
                                      </p:cBhvr>
                                      <p:tavLst>
                                        <p:tav tm="0">
                                          <p:val>
                                            <p:strVal val="#ppt_x"/>
                                          </p:val>
                                        </p:tav>
                                        <p:tav tm="100000">
                                          <p:val>
                                            <p:strVal val="#ppt_x"/>
                                          </p:val>
                                        </p:tav>
                                      </p:tavLst>
                                    </p:anim>
                                    <p:anim calcmode="lin" valueType="num">
                                      <p:cBhvr additive="base">
                                        <p:cTn id="48" dur="750" fill="hold"/>
                                        <p:tgtEl>
                                          <p:spTgt spid="49"/>
                                        </p:tgtEl>
                                        <p:attrNameLst>
                                          <p:attrName>ppt_y</p:attrName>
                                        </p:attrNameLst>
                                      </p:cBhvr>
                                      <p:tavLst>
                                        <p:tav tm="0">
                                          <p:val>
                                            <p:strVal val="0-#ppt_h/2"/>
                                          </p:val>
                                        </p:tav>
                                        <p:tav tm="100000">
                                          <p:val>
                                            <p:strVal val="#ppt_y"/>
                                          </p:val>
                                        </p:tav>
                                      </p:tavLst>
                                    </p:anim>
                                  </p:childTnLst>
                                </p:cTn>
                              </p:par>
                              <p:par>
                                <p:cTn id="49" presetID="2" presetClass="entr" presetSubtype="1" fill="hold" grpId="0" nodeType="withEffect">
                                  <p:stCondLst>
                                    <p:cond delay="1000"/>
                                  </p:stCondLst>
                                  <p:childTnLst>
                                    <p:set>
                                      <p:cBhvr>
                                        <p:cTn id="50" dur="1" fill="hold">
                                          <p:stCondLst>
                                            <p:cond delay="0"/>
                                          </p:stCondLst>
                                        </p:cTn>
                                        <p:tgtEl>
                                          <p:spTgt spid="50"/>
                                        </p:tgtEl>
                                        <p:attrNameLst>
                                          <p:attrName>style.visibility</p:attrName>
                                        </p:attrNameLst>
                                      </p:cBhvr>
                                      <p:to>
                                        <p:strVal val="visible"/>
                                      </p:to>
                                    </p:set>
                                    <p:anim calcmode="lin" valueType="num">
                                      <p:cBhvr additive="base">
                                        <p:cTn id="51" dur="750" fill="hold"/>
                                        <p:tgtEl>
                                          <p:spTgt spid="50"/>
                                        </p:tgtEl>
                                        <p:attrNameLst>
                                          <p:attrName>ppt_x</p:attrName>
                                        </p:attrNameLst>
                                      </p:cBhvr>
                                      <p:tavLst>
                                        <p:tav tm="0">
                                          <p:val>
                                            <p:strVal val="#ppt_x"/>
                                          </p:val>
                                        </p:tav>
                                        <p:tav tm="100000">
                                          <p:val>
                                            <p:strVal val="#ppt_x"/>
                                          </p:val>
                                        </p:tav>
                                      </p:tavLst>
                                    </p:anim>
                                    <p:anim calcmode="lin" valueType="num">
                                      <p:cBhvr additive="base">
                                        <p:cTn id="52" dur="750" fill="hold"/>
                                        <p:tgtEl>
                                          <p:spTgt spid="50"/>
                                        </p:tgtEl>
                                        <p:attrNameLst>
                                          <p:attrName>ppt_y</p:attrName>
                                        </p:attrNameLst>
                                      </p:cBhvr>
                                      <p:tavLst>
                                        <p:tav tm="0">
                                          <p:val>
                                            <p:strVal val="0-#ppt_h/2"/>
                                          </p:val>
                                        </p:tav>
                                        <p:tav tm="100000">
                                          <p:val>
                                            <p:strVal val="#ppt_y"/>
                                          </p:val>
                                        </p:tav>
                                      </p:tavLst>
                                    </p:anim>
                                  </p:childTnLst>
                                </p:cTn>
                              </p:par>
                              <p:par>
                                <p:cTn id="53" presetID="47" presetClass="entr" presetSubtype="0" fill="hold" grpId="0" nodeType="withEffect">
                                  <p:stCondLst>
                                    <p:cond delay="100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1000"/>
                                        <p:tgtEl>
                                          <p:spTgt spid="23"/>
                                        </p:tgtEl>
                                      </p:cBhvr>
                                    </p:animEffect>
                                    <p:anim calcmode="lin" valueType="num">
                                      <p:cBhvr>
                                        <p:cTn id="56" dur="1000" fill="hold"/>
                                        <p:tgtEl>
                                          <p:spTgt spid="23"/>
                                        </p:tgtEl>
                                        <p:attrNameLst>
                                          <p:attrName>ppt_x</p:attrName>
                                        </p:attrNameLst>
                                      </p:cBhvr>
                                      <p:tavLst>
                                        <p:tav tm="0">
                                          <p:val>
                                            <p:strVal val="#ppt_x"/>
                                          </p:val>
                                        </p:tav>
                                        <p:tav tm="100000">
                                          <p:val>
                                            <p:strVal val="#ppt_x"/>
                                          </p:val>
                                        </p:tav>
                                      </p:tavLst>
                                    </p:anim>
                                    <p:anim calcmode="lin" valueType="num">
                                      <p:cBhvr>
                                        <p:cTn id="57" dur="1000" fill="hold"/>
                                        <p:tgtEl>
                                          <p:spTgt spid="23"/>
                                        </p:tgtEl>
                                        <p:attrNameLst>
                                          <p:attrName>ppt_y</p:attrName>
                                        </p:attrNameLst>
                                      </p:cBhvr>
                                      <p:tavLst>
                                        <p:tav tm="0">
                                          <p:val>
                                            <p:strVal val="#ppt_y-.1"/>
                                          </p:val>
                                        </p:tav>
                                        <p:tav tm="100000">
                                          <p:val>
                                            <p:strVal val="#ppt_y"/>
                                          </p:val>
                                        </p:tav>
                                      </p:tavLst>
                                    </p:anim>
                                  </p:childTnLst>
                                </p:cTn>
                              </p:par>
                              <p:par>
                                <p:cTn id="58" presetID="53" presetClass="entr" presetSubtype="16" fill="hold" grpId="0" nodeType="withEffect">
                                  <p:stCondLst>
                                    <p:cond delay="1000"/>
                                  </p:stCondLst>
                                  <p:iterate type="lt">
                                    <p:tmPct val="10000"/>
                                  </p:iterate>
                                  <p:childTnLst>
                                    <p:set>
                                      <p:cBhvr>
                                        <p:cTn id="59" dur="1" fill="hold">
                                          <p:stCondLst>
                                            <p:cond delay="0"/>
                                          </p:stCondLst>
                                        </p:cTn>
                                        <p:tgtEl>
                                          <p:spTgt spid="15">
                                            <p:txEl>
                                              <p:pRg st="0" end="0"/>
                                            </p:txEl>
                                          </p:spTgt>
                                        </p:tgtEl>
                                        <p:attrNameLst>
                                          <p:attrName>style.visibility</p:attrName>
                                        </p:attrNameLst>
                                      </p:cBhvr>
                                      <p:to>
                                        <p:strVal val="visible"/>
                                      </p:to>
                                    </p:set>
                                    <p:anim calcmode="lin" valueType="num">
                                      <p:cBhvr>
                                        <p:cTn id="60" dur="1000" fill="hold"/>
                                        <p:tgtEl>
                                          <p:spTgt spid="15">
                                            <p:txEl>
                                              <p:pRg st="0" end="0"/>
                                            </p:txEl>
                                          </p:spTgt>
                                        </p:tgtEl>
                                        <p:attrNameLst>
                                          <p:attrName>ppt_w</p:attrName>
                                        </p:attrNameLst>
                                      </p:cBhvr>
                                      <p:tavLst>
                                        <p:tav tm="0">
                                          <p:val>
                                            <p:fltVal val="0"/>
                                          </p:val>
                                        </p:tav>
                                        <p:tav tm="100000">
                                          <p:val>
                                            <p:strVal val="#ppt_w"/>
                                          </p:val>
                                        </p:tav>
                                      </p:tavLst>
                                    </p:anim>
                                    <p:anim calcmode="lin" valueType="num">
                                      <p:cBhvr>
                                        <p:cTn id="61" dur="1000" fill="hold"/>
                                        <p:tgtEl>
                                          <p:spTgt spid="15">
                                            <p:txEl>
                                              <p:pRg st="0" end="0"/>
                                            </p:txEl>
                                          </p:spTgt>
                                        </p:tgtEl>
                                        <p:attrNameLst>
                                          <p:attrName>ppt_h</p:attrName>
                                        </p:attrNameLst>
                                      </p:cBhvr>
                                      <p:tavLst>
                                        <p:tav tm="0">
                                          <p:val>
                                            <p:fltVal val="0"/>
                                          </p:val>
                                        </p:tav>
                                        <p:tav tm="100000">
                                          <p:val>
                                            <p:strVal val="#ppt_h"/>
                                          </p:val>
                                        </p:tav>
                                      </p:tavLst>
                                    </p:anim>
                                    <p:animEffect transition="in" filter="fade">
                                      <p:cBhvr>
                                        <p:cTn id="62" dur="1000"/>
                                        <p:tgtEl>
                                          <p:spTgt spid="15">
                                            <p:txEl>
                                              <p:pRg st="0" end="0"/>
                                            </p:txEl>
                                          </p:spTgt>
                                        </p:tgtEl>
                                      </p:cBhvr>
                                    </p:animEffect>
                                  </p:childTnLst>
                                </p:cTn>
                              </p:par>
                              <p:par>
                                <p:cTn id="63" presetID="10" presetClass="entr" presetSubtype="0" fill="hold" nodeType="withEffect">
                                  <p:stCondLst>
                                    <p:cond delay="3000"/>
                                  </p:stCondLst>
                                  <p:childTnLst>
                                    <p:set>
                                      <p:cBhvr>
                                        <p:cTn id="64" dur="1" fill="hold">
                                          <p:stCondLst>
                                            <p:cond delay="0"/>
                                          </p:stCondLst>
                                        </p:cTn>
                                        <p:tgtEl>
                                          <p:spTgt spid="75"/>
                                        </p:tgtEl>
                                        <p:attrNameLst>
                                          <p:attrName>style.visibility</p:attrName>
                                        </p:attrNameLst>
                                      </p:cBhvr>
                                      <p:to>
                                        <p:strVal val="visible"/>
                                      </p:to>
                                    </p:set>
                                    <p:animEffect transition="in" filter="fade">
                                      <p:cBhvr>
                                        <p:cTn id="65" dur="500"/>
                                        <p:tgtEl>
                                          <p:spTgt spid="75"/>
                                        </p:tgtEl>
                                      </p:cBhvr>
                                    </p:animEffect>
                                  </p:childTnLst>
                                </p:cTn>
                              </p:par>
                              <p:par>
                                <p:cTn id="66" presetID="42" presetClass="path" presetSubtype="0" repeatCount="indefinite" accel="50000" decel="50000" autoRev="1" fill="hold" nodeType="withEffect">
                                  <p:stCondLst>
                                    <p:cond delay="3250"/>
                                  </p:stCondLst>
                                  <p:childTnLst>
                                    <p:animMotion origin="layout" path="M 2.77778E-6 -2.22222E-6 L 0.06614 0.00334 " pathEditMode="relative" rAng="0" ptsTypes="AA">
                                      <p:cBhvr>
                                        <p:cTn id="67" dur="750" fill="hold"/>
                                        <p:tgtEl>
                                          <p:spTgt spid="75"/>
                                        </p:tgtEl>
                                        <p:attrNameLst>
                                          <p:attrName>ppt_x</p:attrName>
                                          <p:attrName>ppt_y</p:attrName>
                                        </p:attrNameLst>
                                      </p:cBhvr>
                                      <p:rCtr x="3299" y="16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5" grpId="0" build="p"/>
      <p:bldP spid="10" grpId="0"/>
      <p:bldP spid="23" grpId="0" animBg="1"/>
      <p:bldP spid="45" grpId="0" animBg="1"/>
      <p:bldP spid="46" grpId="0" animBg="1"/>
      <p:bldP spid="47" grpId="0" animBg="1"/>
      <p:bldP spid="48" grpId="0" animBg="1"/>
      <p:bldP spid="49" grpId="0" animBg="1"/>
      <p:bldP spid="50" grpId="0" animBg="1"/>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组合 84"/>
          <p:cNvGrpSpPr/>
          <p:nvPr/>
        </p:nvGrpSpPr>
        <p:grpSpPr>
          <a:xfrm>
            <a:off x="413116" y="4261302"/>
            <a:ext cx="1645040" cy="1043003"/>
            <a:chOff x="1419243" y="4456566"/>
            <a:chExt cx="1731363" cy="1097733"/>
          </a:xfrm>
          <a:solidFill>
            <a:schemeClr val="tx1">
              <a:lumMod val="65000"/>
              <a:lumOff val="35000"/>
            </a:schemeClr>
          </a:solidFill>
          <a:effectLst/>
        </p:grpSpPr>
        <p:sp>
          <p:nvSpPr>
            <p:cNvPr id="86" name="椭圆 85"/>
            <p:cNvSpPr/>
            <p:nvPr/>
          </p:nvSpPr>
          <p:spPr>
            <a:xfrm>
              <a:off x="1865015"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nvSpPr>
          <p:spPr>
            <a:xfrm>
              <a:off x="2087730"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a:off x="2310445"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p:cNvSpPr/>
            <p:nvPr/>
          </p:nvSpPr>
          <p:spPr>
            <a:xfrm>
              <a:off x="2533160"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p:cNvSpPr/>
            <p:nvPr/>
          </p:nvSpPr>
          <p:spPr>
            <a:xfrm>
              <a:off x="2755875"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p:cNvSpPr/>
            <p:nvPr/>
          </p:nvSpPr>
          <p:spPr>
            <a:xfrm>
              <a:off x="2996697"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p:cNvSpPr/>
            <p:nvPr/>
          </p:nvSpPr>
          <p:spPr>
            <a:xfrm>
              <a:off x="2865422" y="4766648"/>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p:cNvSpPr/>
            <p:nvPr/>
          </p:nvSpPr>
          <p:spPr>
            <a:xfrm>
              <a:off x="2736411" y="4610475"/>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p:cNvSpPr/>
            <p:nvPr/>
          </p:nvSpPr>
          <p:spPr>
            <a:xfrm>
              <a:off x="2865422" y="50857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椭圆 94"/>
            <p:cNvSpPr/>
            <p:nvPr/>
          </p:nvSpPr>
          <p:spPr>
            <a:xfrm>
              <a:off x="2736411" y="5251011"/>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p:cNvSpPr/>
            <p:nvPr/>
          </p:nvSpPr>
          <p:spPr>
            <a:xfrm>
              <a:off x="2601966" y="4456566"/>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p:cNvSpPr/>
            <p:nvPr/>
          </p:nvSpPr>
          <p:spPr>
            <a:xfrm>
              <a:off x="2601966" y="5400390"/>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椭圆 97"/>
            <p:cNvSpPr/>
            <p:nvPr/>
          </p:nvSpPr>
          <p:spPr>
            <a:xfrm>
              <a:off x="1644563"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椭圆 98"/>
            <p:cNvSpPr/>
            <p:nvPr/>
          </p:nvSpPr>
          <p:spPr>
            <a:xfrm>
              <a:off x="1419243"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文本占位符 2"/>
          <p:cNvSpPr>
            <a:spLocks noGrp="1"/>
          </p:cNvSpPr>
          <p:nvPr>
            <p:ph type="body" sz="quarter" idx="4294967295"/>
          </p:nvPr>
        </p:nvSpPr>
        <p:spPr>
          <a:xfrm>
            <a:off x="2625508" y="462715"/>
            <a:ext cx="4001090" cy="639926"/>
          </a:xfrm>
        </p:spPr>
        <p:txBody>
          <a:bodyPr anchor="ctr">
            <a:normAutofit/>
          </a:bodyPr>
          <a:lstStyle/>
          <a:p>
            <a:pPr marL="0" indent="0" algn="dist">
              <a:buNone/>
            </a:pP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客户服务行业四大趋势</a:t>
            </a:r>
          </a:p>
        </p:txBody>
      </p:sp>
      <p:sp>
        <p:nvSpPr>
          <p:cNvPr id="9" name="圆: 空心 8"/>
          <p:cNvSpPr/>
          <p:nvPr/>
        </p:nvSpPr>
        <p:spPr>
          <a:xfrm>
            <a:off x="343524" y="1662774"/>
            <a:ext cx="2290451" cy="2290451"/>
          </a:xfrm>
          <a:prstGeom prst="donut">
            <a:avLst>
              <a:gd name="adj" fmla="val 10431"/>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9" name="圆: 空心 48"/>
          <p:cNvSpPr/>
          <p:nvPr/>
        </p:nvSpPr>
        <p:spPr>
          <a:xfrm>
            <a:off x="2401742" y="1653046"/>
            <a:ext cx="2290451" cy="2290451"/>
          </a:xfrm>
          <a:prstGeom prst="donut">
            <a:avLst>
              <a:gd name="adj" fmla="val 1043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0" name="圆: 空心 49"/>
          <p:cNvSpPr/>
          <p:nvPr/>
        </p:nvSpPr>
        <p:spPr>
          <a:xfrm>
            <a:off x="4464193" y="1662774"/>
            <a:ext cx="2290451" cy="2290451"/>
          </a:xfrm>
          <a:prstGeom prst="donut">
            <a:avLst>
              <a:gd name="adj" fmla="val 10431"/>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圆: 空心 50"/>
          <p:cNvSpPr/>
          <p:nvPr/>
        </p:nvSpPr>
        <p:spPr>
          <a:xfrm>
            <a:off x="6529982" y="1667007"/>
            <a:ext cx="2290451" cy="2290451"/>
          </a:xfrm>
          <a:prstGeom prst="donut">
            <a:avLst>
              <a:gd name="adj" fmla="val 10431"/>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8" name="任意多边形: 形状 57"/>
          <p:cNvSpPr/>
          <p:nvPr/>
        </p:nvSpPr>
        <p:spPr>
          <a:xfrm>
            <a:off x="343524" y="1668200"/>
            <a:ext cx="2290450" cy="1160427"/>
          </a:xfrm>
          <a:custGeom>
            <a:avLst/>
            <a:gdLst>
              <a:gd name="connsiteX0" fmla="*/ 1039905 w 2079810"/>
              <a:gd name="connsiteY0" fmla="*/ 0 h 1039905"/>
              <a:gd name="connsiteX1" fmla="*/ 2079810 w 2079810"/>
              <a:gd name="connsiteY1" fmla="*/ 1039905 h 1039905"/>
              <a:gd name="connsiteX2" fmla="*/ 1862865 w 2079810"/>
              <a:gd name="connsiteY2" fmla="*/ 1039905 h 1039905"/>
              <a:gd name="connsiteX3" fmla="*/ 1039905 w 2079810"/>
              <a:gd name="connsiteY3" fmla="*/ 216945 h 1039905"/>
              <a:gd name="connsiteX4" fmla="*/ 216945 w 2079810"/>
              <a:gd name="connsiteY4" fmla="*/ 1039905 h 1039905"/>
              <a:gd name="connsiteX5" fmla="*/ 0 w 2079810"/>
              <a:gd name="connsiteY5" fmla="*/ 1039905 h 1039905"/>
              <a:gd name="connsiteX6" fmla="*/ 1039905 w 2079810"/>
              <a:gd name="connsiteY6" fmla="*/ 0 h 1039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79810" h="1039905">
                <a:moveTo>
                  <a:pt x="1039905" y="0"/>
                </a:moveTo>
                <a:cubicBezTo>
                  <a:pt x="1614229" y="0"/>
                  <a:pt x="2079810" y="465581"/>
                  <a:pt x="2079810" y="1039905"/>
                </a:cubicBezTo>
                <a:lnTo>
                  <a:pt x="1862865" y="1039905"/>
                </a:lnTo>
                <a:cubicBezTo>
                  <a:pt x="1862865" y="585397"/>
                  <a:pt x="1494413" y="216945"/>
                  <a:pt x="1039905" y="216945"/>
                </a:cubicBezTo>
                <a:cubicBezTo>
                  <a:pt x="585397" y="216945"/>
                  <a:pt x="216945" y="585397"/>
                  <a:pt x="216945" y="1039905"/>
                </a:cubicBezTo>
                <a:lnTo>
                  <a:pt x="0" y="1039905"/>
                </a:lnTo>
                <a:cubicBezTo>
                  <a:pt x="0" y="465581"/>
                  <a:pt x="465581" y="0"/>
                  <a:pt x="1039905" y="0"/>
                </a:cubicBez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任意多边形: 形状 53"/>
          <p:cNvSpPr/>
          <p:nvPr/>
        </p:nvSpPr>
        <p:spPr>
          <a:xfrm>
            <a:off x="2397508" y="2817052"/>
            <a:ext cx="2298918" cy="1139075"/>
          </a:xfrm>
          <a:custGeom>
            <a:avLst/>
            <a:gdLst>
              <a:gd name="connsiteX0" fmla="*/ 0 w 2075192"/>
              <a:gd name="connsiteY0" fmla="*/ 0 h 994186"/>
              <a:gd name="connsiteX1" fmla="*/ 216945 w 2075192"/>
              <a:gd name="connsiteY1" fmla="*/ 0 h 994186"/>
              <a:gd name="connsiteX2" fmla="*/ 218885 w 2075192"/>
              <a:gd name="connsiteY2" fmla="*/ 38424 h 994186"/>
              <a:gd name="connsiteX3" fmla="*/ 1037596 w 2075192"/>
              <a:gd name="connsiteY3" fmla="*/ 777241 h 994186"/>
              <a:gd name="connsiteX4" fmla="*/ 1856307 w 2075192"/>
              <a:gd name="connsiteY4" fmla="*/ 38424 h 994186"/>
              <a:gd name="connsiteX5" fmla="*/ 1858247 w 2075192"/>
              <a:gd name="connsiteY5" fmla="*/ 0 h 994186"/>
              <a:gd name="connsiteX6" fmla="*/ 2075192 w 2075192"/>
              <a:gd name="connsiteY6" fmla="*/ 0 h 994186"/>
              <a:gd name="connsiteX7" fmla="*/ 2072132 w 2075192"/>
              <a:gd name="connsiteY7" fmla="*/ 60605 h 994186"/>
              <a:gd name="connsiteX8" fmla="*/ 1037596 w 2075192"/>
              <a:gd name="connsiteY8" fmla="*/ 994186 h 994186"/>
              <a:gd name="connsiteX9" fmla="*/ 3060 w 2075192"/>
              <a:gd name="connsiteY9" fmla="*/ 60605 h 994186"/>
              <a:gd name="connsiteX10" fmla="*/ 0 w 2075192"/>
              <a:gd name="connsiteY10" fmla="*/ 0 h 994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5192" h="994186">
                <a:moveTo>
                  <a:pt x="0" y="0"/>
                </a:moveTo>
                <a:lnTo>
                  <a:pt x="216945" y="0"/>
                </a:lnTo>
                <a:lnTo>
                  <a:pt x="218885" y="38424"/>
                </a:lnTo>
                <a:cubicBezTo>
                  <a:pt x="261029" y="453406"/>
                  <a:pt x="611495" y="777241"/>
                  <a:pt x="1037596" y="777241"/>
                </a:cubicBezTo>
                <a:cubicBezTo>
                  <a:pt x="1463697" y="777241"/>
                  <a:pt x="1814163" y="453406"/>
                  <a:pt x="1856307" y="38424"/>
                </a:cubicBezTo>
                <a:lnTo>
                  <a:pt x="1858247" y="0"/>
                </a:lnTo>
                <a:lnTo>
                  <a:pt x="2075192" y="0"/>
                </a:lnTo>
                <a:lnTo>
                  <a:pt x="2072132" y="60605"/>
                </a:lnTo>
                <a:cubicBezTo>
                  <a:pt x="2018879" y="584984"/>
                  <a:pt x="1576025" y="994186"/>
                  <a:pt x="1037596" y="994186"/>
                </a:cubicBezTo>
                <a:cubicBezTo>
                  <a:pt x="499167" y="994186"/>
                  <a:pt x="56313" y="584984"/>
                  <a:pt x="3060" y="60605"/>
                </a:cubicBezTo>
                <a:lnTo>
                  <a:pt x="0" y="0"/>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任意多边形: 形状 62"/>
          <p:cNvSpPr/>
          <p:nvPr/>
        </p:nvSpPr>
        <p:spPr>
          <a:xfrm>
            <a:off x="6521516" y="2829181"/>
            <a:ext cx="2302089" cy="1130022"/>
          </a:xfrm>
          <a:custGeom>
            <a:avLst/>
            <a:gdLst>
              <a:gd name="connsiteX0" fmla="*/ 0 w 2075192"/>
              <a:gd name="connsiteY0" fmla="*/ 0 h 994186"/>
              <a:gd name="connsiteX1" fmla="*/ 216945 w 2075192"/>
              <a:gd name="connsiteY1" fmla="*/ 0 h 994186"/>
              <a:gd name="connsiteX2" fmla="*/ 218885 w 2075192"/>
              <a:gd name="connsiteY2" fmla="*/ 38424 h 994186"/>
              <a:gd name="connsiteX3" fmla="*/ 1037596 w 2075192"/>
              <a:gd name="connsiteY3" fmla="*/ 777241 h 994186"/>
              <a:gd name="connsiteX4" fmla="*/ 1856307 w 2075192"/>
              <a:gd name="connsiteY4" fmla="*/ 38424 h 994186"/>
              <a:gd name="connsiteX5" fmla="*/ 1858247 w 2075192"/>
              <a:gd name="connsiteY5" fmla="*/ 0 h 994186"/>
              <a:gd name="connsiteX6" fmla="*/ 2075192 w 2075192"/>
              <a:gd name="connsiteY6" fmla="*/ 0 h 994186"/>
              <a:gd name="connsiteX7" fmla="*/ 2072132 w 2075192"/>
              <a:gd name="connsiteY7" fmla="*/ 60605 h 994186"/>
              <a:gd name="connsiteX8" fmla="*/ 1037596 w 2075192"/>
              <a:gd name="connsiteY8" fmla="*/ 994186 h 994186"/>
              <a:gd name="connsiteX9" fmla="*/ 3060 w 2075192"/>
              <a:gd name="connsiteY9" fmla="*/ 60605 h 994186"/>
              <a:gd name="connsiteX10" fmla="*/ 0 w 2075192"/>
              <a:gd name="connsiteY10" fmla="*/ 0 h 994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5192" h="994186">
                <a:moveTo>
                  <a:pt x="0" y="0"/>
                </a:moveTo>
                <a:lnTo>
                  <a:pt x="216945" y="0"/>
                </a:lnTo>
                <a:lnTo>
                  <a:pt x="218885" y="38424"/>
                </a:lnTo>
                <a:cubicBezTo>
                  <a:pt x="261029" y="453406"/>
                  <a:pt x="611495" y="777241"/>
                  <a:pt x="1037596" y="777241"/>
                </a:cubicBezTo>
                <a:cubicBezTo>
                  <a:pt x="1463697" y="777241"/>
                  <a:pt x="1814163" y="453406"/>
                  <a:pt x="1856307" y="38424"/>
                </a:cubicBezTo>
                <a:lnTo>
                  <a:pt x="1858247" y="0"/>
                </a:lnTo>
                <a:lnTo>
                  <a:pt x="2075192" y="0"/>
                </a:lnTo>
                <a:lnTo>
                  <a:pt x="2072132" y="60605"/>
                </a:lnTo>
                <a:cubicBezTo>
                  <a:pt x="2018879" y="584984"/>
                  <a:pt x="1576025" y="994186"/>
                  <a:pt x="1037596" y="994186"/>
                </a:cubicBezTo>
                <a:cubicBezTo>
                  <a:pt x="499167" y="994186"/>
                  <a:pt x="56313" y="584984"/>
                  <a:pt x="3060" y="60605"/>
                </a:cubicBezTo>
                <a:lnTo>
                  <a:pt x="0" y="0"/>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任意多边形: 形状 63"/>
          <p:cNvSpPr/>
          <p:nvPr/>
        </p:nvSpPr>
        <p:spPr>
          <a:xfrm>
            <a:off x="4456501" y="1654790"/>
            <a:ext cx="2307174" cy="1180368"/>
          </a:xfrm>
          <a:custGeom>
            <a:avLst/>
            <a:gdLst>
              <a:gd name="connsiteX0" fmla="*/ 1039905 w 2079810"/>
              <a:gd name="connsiteY0" fmla="*/ 0 h 1039905"/>
              <a:gd name="connsiteX1" fmla="*/ 2079810 w 2079810"/>
              <a:gd name="connsiteY1" fmla="*/ 1039905 h 1039905"/>
              <a:gd name="connsiteX2" fmla="*/ 1862865 w 2079810"/>
              <a:gd name="connsiteY2" fmla="*/ 1039905 h 1039905"/>
              <a:gd name="connsiteX3" fmla="*/ 1039905 w 2079810"/>
              <a:gd name="connsiteY3" fmla="*/ 216945 h 1039905"/>
              <a:gd name="connsiteX4" fmla="*/ 216945 w 2079810"/>
              <a:gd name="connsiteY4" fmla="*/ 1039905 h 1039905"/>
              <a:gd name="connsiteX5" fmla="*/ 0 w 2079810"/>
              <a:gd name="connsiteY5" fmla="*/ 1039905 h 1039905"/>
              <a:gd name="connsiteX6" fmla="*/ 1039905 w 2079810"/>
              <a:gd name="connsiteY6" fmla="*/ 0 h 1039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79810" h="1039905">
                <a:moveTo>
                  <a:pt x="1039905" y="0"/>
                </a:moveTo>
                <a:cubicBezTo>
                  <a:pt x="1614229" y="0"/>
                  <a:pt x="2079810" y="465581"/>
                  <a:pt x="2079810" y="1039905"/>
                </a:cubicBezTo>
                <a:lnTo>
                  <a:pt x="1862865" y="1039905"/>
                </a:lnTo>
                <a:cubicBezTo>
                  <a:pt x="1862865" y="585397"/>
                  <a:pt x="1494413" y="216945"/>
                  <a:pt x="1039905" y="216945"/>
                </a:cubicBezTo>
                <a:cubicBezTo>
                  <a:pt x="585397" y="216945"/>
                  <a:pt x="216945" y="585397"/>
                  <a:pt x="216945" y="1039905"/>
                </a:cubicBezTo>
                <a:lnTo>
                  <a:pt x="0" y="1039905"/>
                </a:lnTo>
                <a:cubicBezTo>
                  <a:pt x="0" y="465581"/>
                  <a:pt x="465581" y="0"/>
                  <a:pt x="1039905" y="0"/>
                </a:cubicBez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p:nvSpPr>
        <p:spPr>
          <a:xfrm>
            <a:off x="781826" y="2363198"/>
            <a:ext cx="1415772" cy="830997"/>
          </a:xfrm>
          <a:prstGeom prst="rect">
            <a:avLst/>
          </a:prstGeom>
        </p:spPr>
        <p:txBody>
          <a:bodyPr wrap="none">
            <a:spAutoFit/>
          </a:bodyPr>
          <a:lstStyle/>
          <a:p>
            <a:pPr lvl="0"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全渠道</a:t>
            </a:r>
            <a:endPar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endParaRPr>
          </a:p>
          <a:p>
            <a:pPr lvl="0"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客户服务</a:t>
            </a:r>
          </a:p>
        </p:txBody>
      </p:sp>
      <p:sp>
        <p:nvSpPr>
          <p:cNvPr id="67" name="矩形 66"/>
          <p:cNvSpPr/>
          <p:nvPr/>
        </p:nvSpPr>
        <p:spPr>
          <a:xfrm>
            <a:off x="2839534" y="2376113"/>
            <a:ext cx="1415772" cy="830997"/>
          </a:xfrm>
          <a:prstGeom prst="rect">
            <a:avLst/>
          </a:prstGeom>
        </p:spPr>
        <p:txBody>
          <a:bodyPr wrap="none">
            <a:spAutoFit/>
          </a:bodyPr>
          <a:lstStyle/>
          <a:p>
            <a:pPr algn="ctr"/>
            <a:r>
              <a:rPr lang="zh-CN" altLang="en-US" sz="2400" b="1" dirty="0">
                <a:solidFill>
                  <a:schemeClr val="accent2"/>
                </a:solidFill>
                <a:latin typeface="微软雅黑" panose="020B0503020204020204" pitchFamily="34" charset="-122"/>
                <a:ea typeface="微软雅黑" panose="020B0503020204020204" pitchFamily="34" charset="-122"/>
              </a:rPr>
              <a:t>社交媒体</a:t>
            </a:r>
            <a:endParaRPr lang="en-US" altLang="zh-CN" sz="2400" b="1" dirty="0">
              <a:solidFill>
                <a:schemeClr val="accent2"/>
              </a:solidFill>
              <a:latin typeface="微软雅黑" panose="020B0503020204020204" pitchFamily="34" charset="-122"/>
              <a:ea typeface="微软雅黑" panose="020B0503020204020204" pitchFamily="34" charset="-122"/>
            </a:endParaRPr>
          </a:p>
          <a:p>
            <a:pPr algn="ctr"/>
            <a:r>
              <a:rPr lang="zh-CN" altLang="en-US" sz="2400" b="1" dirty="0">
                <a:solidFill>
                  <a:schemeClr val="accent2"/>
                </a:solidFill>
                <a:latin typeface="微软雅黑" panose="020B0503020204020204" pitchFamily="34" charset="-122"/>
                <a:ea typeface="微软雅黑" panose="020B0503020204020204" pitchFamily="34" charset="-122"/>
              </a:rPr>
              <a:t>客户服务</a:t>
            </a:r>
          </a:p>
        </p:txBody>
      </p:sp>
      <p:sp>
        <p:nvSpPr>
          <p:cNvPr id="68" name="矩形 67"/>
          <p:cNvSpPr/>
          <p:nvPr/>
        </p:nvSpPr>
        <p:spPr>
          <a:xfrm>
            <a:off x="4906316" y="2593856"/>
            <a:ext cx="1415772" cy="461665"/>
          </a:xfrm>
          <a:prstGeom prst="rect">
            <a:avLst/>
          </a:prstGeom>
        </p:spPr>
        <p:txBody>
          <a:bodyPr wrap="none">
            <a:spAutoFit/>
          </a:bodyPr>
          <a:lstStyle/>
          <a:p>
            <a:pPr lvl="0"/>
            <a:r>
              <a:rPr lang="zh-CN" altLang="en-US" sz="2400" b="1" dirty="0">
                <a:solidFill>
                  <a:schemeClr val="accent1"/>
                </a:solidFill>
                <a:latin typeface="微软雅黑" panose="020B0503020204020204" pitchFamily="34" charset="-122"/>
                <a:ea typeface="微软雅黑" panose="020B0503020204020204" pitchFamily="34" charset="-122"/>
              </a:rPr>
              <a:t>自助服务</a:t>
            </a:r>
          </a:p>
        </p:txBody>
      </p:sp>
      <p:sp>
        <p:nvSpPr>
          <p:cNvPr id="69" name="矩形 68"/>
          <p:cNvSpPr/>
          <p:nvPr/>
        </p:nvSpPr>
        <p:spPr>
          <a:xfrm>
            <a:off x="7083386" y="2425865"/>
            <a:ext cx="1220206" cy="830997"/>
          </a:xfrm>
          <a:prstGeom prst="rect">
            <a:avLst/>
          </a:prstGeom>
        </p:spPr>
        <p:txBody>
          <a:bodyPr wrap="none">
            <a:spAutoFit/>
          </a:bodyPr>
          <a:lstStyle/>
          <a:p>
            <a:pPr lvl="0"/>
            <a:r>
              <a:rPr lang="en-US" altLang="zh-CN" sz="2400" b="1" dirty="0">
                <a:solidFill>
                  <a:schemeClr val="accent6"/>
                </a:solidFill>
                <a:latin typeface="微软雅黑" panose="020B0503020204020204" pitchFamily="34" charset="-122"/>
                <a:ea typeface="微软雅黑" panose="020B0503020204020204" pitchFamily="34" charset="-122"/>
              </a:rPr>
              <a:t>SaaS</a:t>
            </a:r>
            <a:r>
              <a:rPr lang="zh-CN" altLang="en-US" sz="2400" b="1" dirty="0">
                <a:solidFill>
                  <a:schemeClr val="accent6"/>
                </a:solidFill>
                <a:latin typeface="微软雅黑" panose="020B0503020204020204" pitchFamily="34" charset="-122"/>
                <a:ea typeface="微软雅黑" panose="020B0503020204020204" pitchFamily="34" charset="-122"/>
              </a:rPr>
              <a:t>化</a:t>
            </a:r>
            <a:endParaRPr lang="en-US" altLang="zh-CN" sz="2400" b="1" dirty="0">
              <a:solidFill>
                <a:schemeClr val="accent6"/>
              </a:solidFill>
              <a:latin typeface="微软雅黑" panose="020B0503020204020204" pitchFamily="34" charset="-122"/>
              <a:ea typeface="微软雅黑" panose="020B0503020204020204" pitchFamily="34" charset="-122"/>
            </a:endParaRPr>
          </a:p>
          <a:p>
            <a:pPr lvl="0" algn="ctr"/>
            <a:r>
              <a:rPr lang="zh-CN" altLang="en-US" sz="2400" b="1" dirty="0">
                <a:solidFill>
                  <a:schemeClr val="accent6"/>
                </a:solidFill>
                <a:latin typeface="微软雅黑" panose="020B0503020204020204" pitchFamily="34" charset="-122"/>
                <a:ea typeface="微软雅黑" panose="020B0503020204020204" pitchFamily="34" charset="-122"/>
              </a:rPr>
              <a:t>服务</a:t>
            </a:r>
          </a:p>
        </p:txBody>
      </p:sp>
      <p:grpSp>
        <p:nvGrpSpPr>
          <p:cNvPr id="115" name="组合 114"/>
          <p:cNvGrpSpPr/>
          <p:nvPr/>
        </p:nvGrpSpPr>
        <p:grpSpPr>
          <a:xfrm>
            <a:off x="3365603" y="4564313"/>
            <a:ext cx="1167127" cy="739992"/>
            <a:chOff x="1419243" y="4456566"/>
            <a:chExt cx="1731363" cy="1097733"/>
          </a:xfrm>
          <a:solidFill>
            <a:schemeClr val="accent2">
              <a:alpha val="70000"/>
            </a:schemeClr>
          </a:solidFill>
          <a:effectLst/>
        </p:grpSpPr>
        <p:sp>
          <p:nvSpPr>
            <p:cNvPr id="116" name="椭圆 115"/>
            <p:cNvSpPr/>
            <p:nvPr/>
          </p:nvSpPr>
          <p:spPr>
            <a:xfrm>
              <a:off x="1865015"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椭圆 116"/>
            <p:cNvSpPr/>
            <p:nvPr/>
          </p:nvSpPr>
          <p:spPr>
            <a:xfrm>
              <a:off x="2087730"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椭圆 117"/>
            <p:cNvSpPr/>
            <p:nvPr/>
          </p:nvSpPr>
          <p:spPr>
            <a:xfrm>
              <a:off x="2310445"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椭圆 118"/>
            <p:cNvSpPr/>
            <p:nvPr/>
          </p:nvSpPr>
          <p:spPr>
            <a:xfrm>
              <a:off x="2533160"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2755875"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椭圆 120"/>
            <p:cNvSpPr/>
            <p:nvPr/>
          </p:nvSpPr>
          <p:spPr>
            <a:xfrm>
              <a:off x="2996697"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椭圆 121"/>
            <p:cNvSpPr/>
            <p:nvPr/>
          </p:nvSpPr>
          <p:spPr>
            <a:xfrm>
              <a:off x="2865422" y="4766648"/>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椭圆 122"/>
            <p:cNvSpPr/>
            <p:nvPr/>
          </p:nvSpPr>
          <p:spPr>
            <a:xfrm>
              <a:off x="2736411" y="4610475"/>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椭圆 123"/>
            <p:cNvSpPr/>
            <p:nvPr/>
          </p:nvSpPr>
          <p:spPr>
            <a:xfrm>
              <a:off x="2865422" y="50857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椭圆 124"/>
            <p:cNvSpPr/>
            <p:nvPr/>
          </p:nvSpPr>
          <p:spPr>
            <a:xfrm>
              <a:off x="2736411" y="5251011"/>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椭圆 125"/>
            <p:cNvSpPr/>
            <p:nvPr/>
          </p:nvSpPr>
          <p:spPr>
            <a:xfrm>
              <a:off x="2601966" y="4456566"/>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椭圆 126"/>
            <p:cNvSpPr/>
            <p:nvPr/>
          </p:nvSpPr>
          <p:spPr>
            <a:xfrm>
              <a:off x="2601966" y="5400390"/>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椭圆 127"/>
            <p:cNvSpPr/>
            <p:nvPr/>
          </p:nvSpPr>
          <p:spPr>
            <a:xfrm>
              <a:off x="1644563"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椭圆 128"/>
            <p:cNvSpPr/>
            <p:nvPr/>
          </p:nvSpPr>
          <p:spPr>
            <a:xfrm>
              <a:off x="1419243"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0" name="组合 129"/>
          <p:cNvGrpSpPr/>
          <p:nvPr/>
        </p:nvGrpSpPr>
        <p:grpSpPr>
          <a:xfrm>
            <a:off x="5840177" y="4800683"/>
            <a:ext cx="794319" cy="503622"/>
            <a:chOff x="1419243" y="4456566"/>
            <a:chExt cx="1731363" cy="1097733"/>
          </a:xfrm>
          <a:solidFill>
            <a:schemeClr val="tx1">
              <a:lumMod val="50000"/>
              <a:lumOff val="50000"/>
              <a:alpha val="40000"/>
            </a:schemeClr>
          </a:solidFill>
          <a:effectLst/>
        </p:grpSpPr>
        <p:sp>
          <p:nvSpPr>
            <p:cNvPr id="131" name="椭圆 130"/>
            <p:cNvSpPr/>
            <p:nvPr/>
          </p:nvSpPr>
          <p:spPr>
            <a:xfrm>
              <a:off x="1865015"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椭圆 131"/>
            <p:cNvSpPr/>
            <p:nvPr/>
          </p:nvSpPr>
          <p:spPr>
            <a:xfrm>
              <a:off x="2087730"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椭圆 132"/>
            <p:cNvSpPr/>
            <p:nvPr/>
          </p:nvSpPr>
          <p:spPr>
            <a:xfrm>
              <a:off x="2310445"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椭圆 133"/>
            <p:cNvSpPr/>
            <p:nvPr/>
          </p:nvSpPr>
          <p:spPr>
            <a:xfrm>
              <a:off x="2533160"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椭圆 134"/>
            <p:cNvSpPr/>
            <p:nvPr/>
          </p:nvSpPr>
          <p:spPr>
            <a:xfrm>
              <a:off x="2755875"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椭圆 135"/>
            <p:cNvSpPr/>
            <p:nvPr/>
          </p:nvSpPr>
          <p:spPr>
            <a:xfrm>
              <a:off x="2996697"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椭圆 136"/>
            <p:cNvSpPr/>
            <p:nvPr/>
          </p:nvSpPr>
          <p:spPr>
            <a:xfrm>
              <a:off x="2865422" y="4766648"/>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椭圆 137"/>
            <p:cNvSpPr/>
            <p:nvPr/>
          </p:nvSpPr>
          <p:spPr>
            <a:xfrm>
              <a:off x="2736411" y="4610475"/>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椭圆 138"/>
            <p:cNvSpPr/>
            <p:nvPr/>
          </p:nvSpPr>
          <p:spPr>
            <a:xfrm>
              <a:off x="2865422" y="50857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椭圆 139"/>
            <p:cNvSpPr/>
            <p:nvPr/>
          </p:nvSpPr>
          <p:spPr>
            <a:xfrm>
              <a:off x="2736411" y="5251011"/>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椭圆 140"/>
            <p:cNvSpPr/>
            <p:nvPr/>
          </p:nvSpPr>
          <p:spPr>
            <a:xfrm>
              <a:off x="2601966" y="4456566"/>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椭圆 141"/>
            <p:cNvSpPr/>
            <p:nvPr/>
          </p:nvSpPr>
          <p:spPr>
            <a:xfrm>
              <a:off x="2601966" y="5400390"/>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椭圆 142"/>
            <p:cNvSpPr/>
            <p:nvPr/>
          </p:nvSpPr>
          <p:spPr>
            <a:xfrm>
              <a:off x="1644563"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椭圆 143"/>
            <p:cNvSpPr/>
            <p:nvPr/>
          </p:nvSpPr>
          <p:spPr>
            <a:xfrm>
              <a:off x="1419243"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5" name="组合 144"/>
          <p:cNvGrpSpPr/>
          <p:nvPr/>
        </p:nvGrpSpPr>
        <p:grpSpPr>
          <a:xfrm>
            <a:off x="7941943" y="4967275"/>
            <a:ext cx="531568" cy="337030"/>
            <a:chOff x="1419243" y="4456566"/>
            <a:chExt cx="1731363" cy="1097733"/>
          </a:xfrm>
          <a:solidFill>
            <a:schemeClr val="accent2"/>
          </a:solidFill>
          <a:effectLst/>
        </p:grpSpPr>
        <p:sp>
          <p:nvSpPr>
            <p:cNvPr id="146" name="椭圆 145"/>
            <p:cNvSpPr/>
            <p:nvPr/>
          </p:nvSpPr>
          <p:spPr>
            <a:xfrm>
              <a:off x="1865015"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椭圆 146"/>
            <p:cNvSpPr/>
            <p:nvPr/>
          </p:nvSpPr>
          <p:spPr>
            <a:xfrm>
              <a:off x="2087730"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椭圆 147"/>
            <p:cNvSpPr/>
            <p:nvPr/>
          </p:nvSpPr>
          <p:spPr>
            <a:xfrm>
              <a:off x="2310445"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椭圆 148"/>
            <p:cNvSpPr/>
            <p:nvPr/>
          </p:nvSpPr>
          <p:spPr>
            <a:xfrm>
              <a:off x="2533160"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椭圆 149"/>
            <p:cNvSpPr/>
            <p:nvPr/>
          </p:nvSpPr>
          <p:spPr>
            <a:xfrm>
              <a:off x="2755875"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椭圆 150"/>
            <p:cNvSpPr/>
            <p:nvPr/>
          </p:nvSpPr>
          <p:spPr>
            <a:xfrm>
              <a:off x="2996697"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椭圆 151"/>
            <p:cNvSpPr/>
            <p:nvPr/>
          </p:nvSpPr>
          <p:spPr>
            <a:xfrm>
              <a:off x="2865422" y="4766648"/>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椭圆 152"/>
            <p:cNvSpPr/>
            <p:nvPr/>
          </p:nvSpPr>
          <p:spPr>
            <a:xfrm>
              <a:off x="2736411" y="4610475"/>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椭圆 153"/>
            <p:cNvSpPr/>
            <p:nvPr/>
          </p:nvSpPr>
          <p:spPr>
            <a:xfrm>
              <a:off x="2865422" y="50857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椭圆 154"/>
            <p:cNvSpPr/>
            <p:nvPr/>
          </p:nvSpPr>
          <p:spPr>
            <a:xfrm>
              <a:off x="2736411" y="5251011"/>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椭圆 155"/>
            <p:cNvSpPr/>
            <p:nvPr/>
          </p:nvSpPr>
          <p:spPr>
            <a:xfrm>
              <a:off x="2601966" y="4456566"/>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椭圆 156"/>
            <p:cNvSpPr/>
            <p:nvPr/>
          </p:nvSpPr>
          <p:spPr>
            <a:xfrm>
              <a:off x="2601966" y="5400390"/>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椭圆 157"/>
            <p:cNvSpPr/>
            <p:nvPr/>
          </p:nvSpPr>
          <p:spPr>
            <a:xfrm>
              <a:off x="1644563"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椭圆 158"/>
            <p:cNvSpPr/>
            <p:nvPr/>
          </p:nvSpPr>
          <p:spPr>
            <a:xfrm>
              <a:off x="1419243"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837009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22" presetClass="entr" presetSubtype="8" fill="hold" grpId="0" nodeType="withEffect">
                                  <p:stCondLst>
                                    <p:cond delay="0"/>
                                  </p:stCondLst>
                                  <p:childTnLst>
                                    <p:set>
                                      <p:cBhvr>
                                        <p:cTn id="11" dur="1" fill="hold">
                                          <p:stCondLst>
                                            <p:cond delay="0"/>
                                          </p:stCondLst>
                                        </p:cTn>
                                        <p:tgtEl>
                                          <p:spTgt spid="58"/>
                                        </p:tgtEl>
                                        <p:attrNameLst>
                                          <p:attrName>style.visibility</p:attrName>
                                        </p:attrNameLst>
                                      </p:cBhvr>
                                      <p:to>
                                        <p:strVal val="visible"/>
                                      </p:to>
                                    </p:set>
                                    <p:animEffect transition="in" filter="wipe(left)">
                                      <p:cBhvr>
                                        <p:cTn id="12" dur="500"/>
                                        <p:tgtEl>
                                          <p:spTgt spid="58"/>
                                        </p:tgtEl>
                                      </p:cBhvr>
                                    </p:animEffect>
                                  </p:childTnLst>
                                </p:cTn>
                              </p:par>
                              <p:par>
                                <p:cTn id="13" presetID="22" presetClass="entr" presetSubtype="8" fill="hold" grpId="0" nodeType="withEffect">
                                  <p:stCondLst>
                                    <p:cond delay="500"/>
                                  </p:stCondLst>
                                  <p:childTnLst>
                                    <p:set>
                                      <p:cBhvr>
                                        <p:cTn id="14" dur="1" fill="hold">
                                          <p:stCondLst>
                                            <p:cond delay="0"/>
                                          </p:stCondLst>
                                        </p:cTn>
                                        <p:tgtEl>
                                          <p:spTgt spid="54"/>
                                        </p:tgtEl>
                                        <p:attrNameLst>
                                          <p:attrName>style.visibility</p:attrName>
                                        </p:attrNameLst>
                                      </p:cBhvr>
                                      <p:to>
                                        <p:strVal val="visible"/>
                                      </p:to>
                                    </p:set>
                                    <p:animEffect transition="in" filter="wipe(left)">
                                      <p:cBhvr>
                                        <p:cTn id="15" dur="500"/>
                                        <p:tgtEl>
                                          <p:spTgt spid="54"/>
                                        </p:tgtEl>
                                      </p:cBhvr>
                                    </p:animEffect>
                                  </p:childTnLst>
                                </p:cTn>
                              </p:par>
                            </p:childTnLst>
                          </p:cTn>
                        </p:par>
                        <p:par>
                          <p:cTn id="16" fill="hold">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64"/>
                                        </p:tgtEl>
                                        <p:attrNameLst>
                                          <p:attrName>style.visibility</p:attrName>
                                        </p:attrNameLst>
                                      </p:cBhvr>
                                      <p:to>
                                        <p:strVal val="visible"/>
                                      </p:to>
                                    </p:set>
                                    <p:animEffect transition="in" filter="wipe(left)">
                                      <p:cBhvr>
                                        <p:cTn id="19" dur="500"/>
                                        <p:tgtEl>
                                          <p:spTgt spid="64"/>
                                        </p:tgtEl>
                                      </p:cBhvr>
                                    </p:animEffect>
                                  </p:childTnLst>
                                </p:cTn>
                              </p:par>
                            </p:childTnLst>
                          </p:cTn>
                        </p:par>
                        <p:par>
                          <p:cTn id="20" fill="hold">
                            <p:stCondLst>
                              <p:cond delay="1500"/>
                            </p:stCondLst>
                            <p:childTnLst>
                              <p:par>
                                <p:cTn id="21" presetID="22" presetClass="entr" presetSubtype="8" fill="hold" grpId="0"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wipe(left)">
                                      <p:cBhvr>
                                        <p:cTn id="23" dur="500"/>
                                        <p:tgtEl>
                                          <p:spTgt spid="63"/>
                                        </p:tgtEl>
                                      </p:cBhvr>
                                    </p:animEffect>
                                  </p:childTnLst>
                                </p:cTn>
                              </p:par>
                              <p:par>
                                <p:cTn id="24" presetID="42" presetClass="entr" presetSubtype="0" fill="hold" grpId="0" nodeType="withEffect">
                                  <p:stCondLst>
                                    <p:cond delay="0"/>
                                  </p:stCondLst>
                                  <p:childTnLst>
                                    <p:set>
                                      <p:cBhvr>
                                        <p:cTn id="25" dur="1" fill="hold">
                                          <p:stCondLst>
                                            <p:cond delay="0"/>
                                          </p:stCondLst>
                                        </p:cTn>
                                        <p:tgtEl>
                                          <p:spTgt spid="66"/>
                                        </p:tgtEl>
                                        <p:attrNameLst>
                                          <p:attrName>style.visibility</p:attrName>
                                        </p:attrNameLst>
                                      </p:cBhvr>
                                      <p:to>
                                        <p:strVal val="visible"/>
                                      </p:to>
                                    </p:set>
                                    <p:animEffect transition="in" filter="fade">
                                      <p:cBhvr>
                                        <p:cTn id="26" dur="1250"/>
                                        <p:tgtEl>
                                          <p:spTgt spid="66"/>
                                        </p:tgtEl>
                                      </p:cBhvr>
                                    </p:animEffect>
                                    <p:anim calcmode="lin" valueType="num">
                                      <p:cBhvr>
                                        <p:cTn id="27" dur="1250" fill="hold"/>
                                        <p:tgtEl>
                                          <p:spTgt spid="66"/>
                                        </p:tgtEl>
                                        <p:attrNameLst>
                                          <p:attrName>ppt_x</p:attrName>
                                        </p:attrNameLst>
                                      </p:cBhvr>
                                      <p:tavLst>
                                        <p:tav tm="0">
                                          <p:val>
                                            <p:strVal val="#ppt_x"/>
                                          </p:val>
                                        </p:tav>
                                        <p:tav tm="100000">
                                          <p:val>
                                            <p:strVal val="#ppt_x"/>
                                          </p:val>
                                        </p:tav>
                                      </p:tavLst>
                                    </p:anim>
                                    <p:anim calcmode="lin" valueType="num">
                                      <p:cBhvr>
                                        <p:cTn id="28" dur="1250" fill="hold"/>
                                        <p:tgtEl>
                                          <p:spTgt spid="66"/>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67"/>
                                        </p:tgtEl>
                                        <p:attrNameLst>
                                          <p:attrName>style.visibility</p:attrName>
                                        </p:attrNameLst>
                                      </p:cBhvr>
                                      <p:to>
                                        <p:strVal val="visible"/>
                                      </p:to>
                                    </p:set>
                                    <p:animEffect transition="in" filter="fade">
                                      <p:cBhvr>
                                        <p:cTn id="31" dur="1250"/>
                                        <p:tgtEl>
                                          <p:spTgt spid="67"/>
                                        </p:tgtEl>
                                      </p:cBhvr>
                                    </p:animEffect>
                                    <p:anim calcmode="lin" valueType="num">
                                      <p:cBhvr>
                                        <p:cTn id="32" dur="1250" fill="hold"/>
                                        <p:tgtEl>
                                          <p:spTgt spid="67"/>
                                        </p:tgtEl>
                                        <p:attrNameLst>
                                          <p:attrName>ppt_x</p:attrName>
                                        </p:attrNameLst>
                                      </p:cBhvr>
                                      <p:tavLst>
                                        <p:tav tm="0">
                                          <p:val>
                                            <p:strVal val="#ppt_x"/>
                                          </p:val>
                                        </p:tav>
                                        <p:tav tm="100000">
                                          <p:val>
                                            <p:strVal val="#ppt_x"/>
                                          </p:val>
                                        </p:tav>
                                      </p:tavLst>
                                    </p:anim>
                                    <p:anim calcmode="lin" valueType="num">
                                      <p:cBhvr>
                                        <p:cTn id="33" dur="1250" fill="hold"/>
                                        <p:tgtEl>
                                          <p:spTgt spid="67"/>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68"/>
                                        </p:tgtEl>
                                        <p:attrNameLst>
                                          <p:attrName>style.visibility</p:attrName>
                                        </p:attrNameLst>
                                      </p:cBhvr>
                                      <p:to>
                                        <p:strVal val="visible"/>
                                      </p:to>
                                    </p:set>
                                    <p:animEffect transition="in" filter="fade">
                                      <p:cBhvr>
                                        <p:cTn id="36" dur="1250"/>
                                        <p:tgtEl>
                                          <p:spTgt spid="68"/>
                                        </p:tgtEl>
                                      </p:cBhvr>
                                    </p:animEffect>
                                    <p:anim calcmode="lin" valueType="num">
                                      <p:cBhvr>
                                        <p:cTn id="37" dur="1250" fill="hold"/>
                                        <p:tgtEl>
                                          <p:spTgt spid="68"/>
                                        </p:tgtEl>
                                        <p:attrNameLst>
                                          <p:attrName>ppt_x</p:attrName>
                                        </p:attrNameLst>
                                      </p:cBhvr>
                                      <p:tavLst>
                                        <p:tav tm="0">
                                          <p:val>
                                            <p:strVal val="#ppt_x"/>
                                          </p:val>
                                        </p:tav>
                                        <p:tav tm="100000">
                                          <p:val>
                                            <p:strVal val="#ppt_x"/>
                                          </p:val>
                                        </p:tav>
                                      </p:tavLst>
                                    </p:anim>
                                    <p:anim calcmode="lin" valueType="num">
                                      <p:cBhvr>
                                        <p:cTn id="38" dur="1250" fill="hold"/>
                                        <p:tgtEl>
                                          <p:spTgt spid="68"/>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69"/>
                                        </p:tgtEl>
                                        <p:attrNameLst>
                                          <p:attrName>style.visibility</p:attrName>
                                        </p:attrNameLst>
                                      </p:cBhvr>
                                      <p:to>
                                        <p:strVal val="visible"/>
                                      </p:to>
                                    </p:set>
                                    <p:animEffect transition="in" filter="fade">
                                      <p:cBhvr>
                                        <p:cTn id="41" dur="1250"/>
                                        <p:tgtEl>
                                          <p:spTgt spid="69"/>
                                        </p:tgtEl>
                                      </p:cBhvr>
                                    </p:animEffect>
                                    <p:anim calcmode="lin" valueType="num">
                                      <p:cBhvr>
                                        <p:cTn id="42" dur="1250" fill="hold"/>
                                        <p:tgtEl>
                                          <p:spTgt spid="69"/>
                                        </p:tgtEl>
                                        <p:attrNameLst>
                                          <p:attrName>ppt_x</p:attrName>
                                        </p:attrNameLst>
                                      </p:cBhvr>
                                      <p:tavLst>
                                        <p:tav tm="0">
                                          <p:val>
                                            <p:strVal val="#ppt_x"/>
                                          </p:val>
                                        </p:tav>
                                        <p:tav tm="100000">
                                          <p:val>
                                            <p:strVal val="#ppt_x"/>
                                          </p:val>
                                        </p:tav>
                                      </p:tavLst>
                                    </p:anim>
                                    <p:anim calcmode="lin" valueType="num">
                                      <p:cBhvr>
                                        <p:cTn id="43" dur="1250" fill="hold"/>
                                        <p:tgtEl>
                                          <p:spTgt spid="69"/>
                                        </p:tgtEl>
                                        <p:attrNameLst>
                                          <p:attrName>ppt_y</p:attrName>
                                        </p:attrNameLst>
                                      </p:cBhvr>
                                      <p:tavLst>
                                        <p:tav tm="0">
                                          <p:val>
                                            <p:strVal val="#ppt_y+.1"/>
                                          </p:val>
                                        </p:tav>
                                        <p:tav tm="100000">
                                          <p:val>
                                            <p:strVal val="#ppt_y"/>
                                          </p:val>
                                        </p:tav>
                                      </p:tavLst>
                                    </p:anim>
                                  </p:childTnLst>
                                </p:cTn>
                              </p:par>
                              <p:par>
                                <p:cTn id="44" presetID="22" presetClass="entr" presetSubtype="2" fill="hold" grpId="0" nodeType="withEffect">
                                  <p:stCondLst>
                                    <p:cond delay="0"/>
                                  </p:stCondLst>
                                  <p:childTnLst>
                                    <p:set>
                                      <p:cBhvr>
                                        <p:cTn id="45" dur="1" fill="hold">
                                          <p:stCondLst>
                                            <p:cond delay="0"/>
                                          </p:stCondLst>
                                        </p:cTn>
                                        <p:tgtEl>
                                          <p:spTgt spid="51"/>
                                        </p:tgtEl>
                                        <p:attrNameLst>
                                          <p:attrName>style.visibility</p:attrName>
                                        </p:attrNameLst>
                                      </p:cBhvr>
                                      <p:to>
                                        <p:strVal val="visible"/>
                                      </p:to>
                                    </p:set>
                                    <p:animEffect transition="in" filter="wipe(right)">
                                      <p:cBhvr>
                                        <p:cTn id="46" dur="500"/>
                                        <p:tgtEl>
                                          <p:spTgt spid="51"/>
                                        </p:tgtEl>
                                      </p:cBhvr>
                                    </p:animEffect>
                                  </p:childTnLst>
                                </p:cTn>
                              </p:par>
                              <p:par>
                                <p:cTn id="47" presetID="22" presetClass="entr" presetSubtype="2" fill="hold" grpId="0" nodeType="withEffect">
                                  <p:stCondLst>
                                    <p:cond delay="500"/>
                                  </p:stCondLst>
                                  <p:childTnLst>
                                    <p:set>
                                      <p:cBhvr>
                                        <p:cTn id="48" dur="1" fill="hold">
                                          <p:stCondLst>
                                            <p:cond delay="0"/>
                                          </p:stCondLst>
                                        </p:cTn>
                                        <p:tgtEl>
                                          <p:spTgt spid="50"/>
                                        </p:tgtEl>
                                        <p:attrNameLst>
                                          <p:attrName>style.visibility</p:attrName>
                                        </p:attrNameLst>
                                      </p:cBhvr>
                                      <p:to>
                                        <p:strVal val="visible"/>
                                      </p:to>
                                    </p:set>
                                    <p:animEffect transition="in" filter="wipe(right)">
                                      <p:cBhvr>
                                        <p:cTn id="49" dur="500"/>
                                        <p:tgtEl>
                                          <p:spTgt spid="50"/>
                                        </p:tgtEl>
                                      </p:cBhvr>
                                    </p:animEffect>
                                  </p:childTnLst>
                                </p:cTn>
                              </p:par>
                            </p:childTnLst>
                          </p:cTn>
                        </p:par>
                        <p:par>
                          <p:cTn id="50" fill="hold">
                            <p:stCondLst>
                              <p:cond delay="2750"/>
                            </p:stCondLst>
                            <p:childTnLst>
                              <p:par>
                                <p:cTn id="51" presetID="22" presetClass="entr" presetSubtype="2" fill="hold" grpId="0" nodeType="afterEffect">
                                  <p:stCondLst>
                                    <p:cond delay="0"/>
                                  </p:stCondLst>
                                  <p:childTnLst>
                                    <p:set>
                                      <p:cBhvr>
                                        <p:cTn id="52" dur="1" fill="hold">
                                          <p:stCondLst>
                                            <p:cond delay="0"/>
                                          </p:stCondLst>
                                        </p:cTn>
                                        <p:tgtEl>
                                          <p:spTgt spid="49"/>
                                        </p:tgtEl>
                                        <p:attrNameLst>
                                          <p:attrName>style.visibility</p:attrName>
                                        </p:attrNameLst>
                                      </p:cBhvr>
                                      <p:to>
                                        <p:strVal val="visible"/>
                                      </p:to>
                                    </p:set>
                                    <p:animEffect transition="in" filter="wipe(right)">
                                      <p:cBhvr>
                                        <p:cTn id="53" dur="500"/>
                                        <p:tgtEl>
                                          <p:spTgt spid="49"/>
                                        </p:tgtEl>
                                      </p:cBhvr>
                                    </p:animEffect>
                                  </p:childTnLst>
                                </p:cTn>
                              </p:par>
                            </p:childTnLst>
                          </p:cTn>
                        </p:par>
                        <p:par>
                          <p:cTn id="54" fill="hold">
                            <p:stCondLst>
                              <p:cond delay="3250"/>
                            </p:stCondLst>
                            <p:childTnLst>
                              <p:par>
                                <p:cTn id="55" presetID="22" presetClass="entr" presetSubtype="2" fill="hold" grpId="0" nodeType="after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wipe(right)">
                                      <p:cBhvr>
                                        <p:cTn id="57" dur="500"/>
                                        <p:tgtEl>
                                          <p:spTgt spid="9"/>
                                        </p:tgtEl>
                                      </p:cBhvr>
                                    </p:animEffect>
                                  </p:childTnLst>
                                </p:cTn>
                              </p:par>
                              <p:par>
                                <p:cTn id="58" presetID="22" presetClass="entr" presetSubtype="8" fill="hold" nodeType="withEffect">
                                  <p:stCondLst>
                                    <p:cond delay="0"/>
                                  </p:stCondLst>
                                  <p:childTnLst>
                                    <p:set>
                                      <p:cBhvr>
                                        <p:cTn id="59" dur="1" fill="hold">
                                          <p:stCondLst>
                                            <p:cond delay="0"/>
                                          </p:stCondLst>
                                        </p:cTn>
                                        <p:tgtEl>
                                          <p:spTgt spid="85"/>
                                        </p:tgtEl>
                                        <p:attrNameLst>
                                          <p:attrName>style.visibility</p:attrName>
                                        </p:attrNameLst>
                                      </p:cBhvr>
                                      <p:to>
                                        <p:strVal val="visible"/>
                                      </p:to>
                                    </p:set>
                                    <p:animEffect transition="in" filter="wipe(left)">
                                      <p:cBhvr>
                                        <p:cTn id="60" dur="500"/>
                                        <p:tgtEl>
                                          <p:spTgt spid="85"/>
                                        </p:tgtEl>
                                      </p:cBhvr>
                                    </p:animEffect>
                                  </p:childTnLst>
                                </p:cTn>
                              </p:par>
                              <p:par>
                                <p:cTn id="61" presetID="10" presetClass="exit" presetSubtype="0" fill="hold" nodeType="withEffect">
                                  <p:stCondLst>
                                    <p:cond delay="500"/>
                                  </p:stCondLst>
                                  <p:childTnLst>
                                    <p:animEffect transition="out" filter="fade">
                                      <p:cBhvr>
                                        <p:cTn id="62" dur="500"/>
                                        <p:tgtEl>
                                          <p:spTgt spid="85"/>
                                        </p:tgtEl>
                                      </p:cBhvr>
                                    </p:animEffect>
                                    <p:set>
                                      <p:cBhvr>
                                        <p:cTn id="63" dur="1" fill="hold">
                                          <p:stCondLst>
                                            <p:cond delay="499"/>
                                          </p:stCondLst>
                                        </p:cTn>
                                        <p:tgtEl>
                                          <p:spTgt spid="85"/>
                                        </p:tgtEl>
                                        <p:attrNameLst>
                                          <p:attrName>style.visibility</p:attrName>
                                        </p:attrNameLst>
                                      </p:cBhvr>
                                      <p:to>
                                        <p:strVal val="hidden"/>
                                      </p:to>
                                    </p:set>
                                  </p:childTnLst>
                                </p:cTn>
                              </p:par>
                              <p:par>
                                <p:cTn id="64" presetID="22" presetClass="entr" presetSubtype="8" fill="hold" nodeType="withEffect">
                                  <p:stCondLst>
                                    <p:cond delay="500"/>
                                  </p:stCondLst>
                                  <p:childTnLst>
                                    <p:set>
                                      <p:cBhvr>
                                        <p:cTn id="65" dur="1" fill="hold">
                                          <p:stCondLst>
                                            <p:cond delay="0"/>
                                          </p:stCondLst>
                                        </p:cTn>
                                        <p:tgtEl>
                                          <p:spTgt spid="115"/>
                                        </p:tgtEl>
                                        <p:attrNameLst>
                                          <p:attrName>style.visibility</p:attrName>
                                        </p:attrNameLst>
                                      </p:cBhvr>
                                      <p:to>
                                        <p:strVal val="visible"/>
                                      </p:to>
                                    </p:set>
                                    <p:animEffect transition="in" filter="wipe(left)">
                                      <p:cBhvr>
                                        <p:cTn id="66" dur="500"/>
                                        <p:tgtEl>
                                          <p:spTgt spid="115"/>
                                        </p:tgtEl>
                                      </p:cBhvr>
                                    </p:animEffect>
                                  </p:childTnLst>
                                </p:cTn>
                              </p:par>
                            </p:childTnLst>
                          </p:cTn>
                        </p:par>
                        <p:par>
                          <p:cTn id="67" fill="hold">
                            <p:stCondLst>
                              <p:cond delay="4250"/>
                            </p:stCondLst>
                            <p:childTnLst>
                              <p:par>
                                <p:cTn id="68" presetID="10" presetClass="exit" presetSubtype="0" fill="hold" nodeType="afterEffect">
                                  <p:stCondLst>
                                    <p:cond delay="0"/>
                                  </p:stCondLst>
                                  <p:childTnLst>
                                    <p:animEffect transition="out" filter="fade">
                                      <p:cBhvr>
                                        <p:cTn id="69" dur="500"/>
                                        <p:tgtEl>
                                          <p:spTgt spid="115"/>
                                        </p:tgtEl>
                                      </p:cBhvr>
                                    </p:animEffect>
                                    <p:set>
                                      <p:cBhvr>
                                        <p:cTn id="70" dur="1" fill="hold">
                                          <p:stCondLst>
                                            <p:cond delay="499"/>
                                          </p:stCondLst>
                                        </p:cTn>
                                        <p:tgtEl>
                                          <p:spTgt spid="115"/>
                                        </p:tgtEl>
                                        <p:attrNameLst>
                                          <p:attrName>style.visibility</p:attrName>
                                        </p:attrNameLst>
                                      </p:cBhvr>
                                      <p:to>
                                        <p:strVal val="hidden"/>
                                      </p:to>
                                    </p:set>
                                  </p:childTnLst>
                                </p:cTn>
                              </p:par>
                              <p:par>
                                <p:cTn id="71" presetID="22" presetClass="entr" presetSubtype="8" fill="hold" nodeType="withEffect">
                                  <p:stCondLst>
                                    <p:cond delay="0"/>
                                  </p:stCondLst>
                                  <p:childTnLst>
                                    <p:set>
                                      <p:cBhvr>
                                        <p:cTn id="72" dur="1" fill="hold">
                                          <p:stCondLst>
                                            <p:cond delay="0"/>
                                          </p:stCondLst>
                                        </p:cTn>
                                        <p:tgtEl>
                                          <p:spTgt spid="130"/>
                                        </p:tgtEl>
                                        <p:attrNameLst>
                                          <p:attrName>style.visibility</p:attrName>
                                        </p:attrNameLst>
                                      </p:cBhvr>
                                      <p:to>
                                        <p:strVal val="visible"/>
                                      </p:to>
                                    </p:set>
                                    <p:animEffect transition="in" filter="wipe(left)">
                                      <p:cBhvr>
                                        <p:cTn id="73" dur="500"/>
                                        <p:tgtEl>
                                          <p:spTgt spid="130"/>
                                        </p:tgtEl>
                                      </p:cBhvr>
                                    </p:animEffect>
                                  </p:childTnLst>
                                </p:cTn>
                              </p:par>
                            </p:childTnLst>
                          </p:cTn>
                        </p:par>
                        <p:par>
                          <p:cTn id="74" fill="hold">
                            <p:stCondLst>
                              <p:cond delay="4750"/>
                            </p:stCondLst>
                            <p:childTnLst>
                              <p:par>
                                <p:cTn id="75" presetID="10" presetClass="exit" presetSubtype="0" fill="hold" nodeType="afterEffect">
                                  <p:stCondLst>
                                    <p:cond delay="0"/>
                                  </p:stCondLst>
                                  <p:childTnLst>
                                    <p:animEffect transition="out" filter="fade">
                                      <p:cBhvr>
                                        <p:cTn id="76" dur="500"/>
                                        <p:tgtEl>
                                          <p:spTgt spid="130"/>
                                        </p:tgtEl>
                                      </p:cBhvr>
                                    </p:animEffect>
                                    <p:set>
                                      <p:cBhvr>
                                        <p:cTn id="77" dur="1" fill="hold">
                                          <p:stCondLst>
                                            <p:cond delay="499"/>
                                          </p:stCondLst>
                                        </p:cTn>
                                        <p:tgtEl>
                                          <p:spTgt spid="130"/>
                                        </p:tgtEl>
                                        <p:attrNameLst>
                                          <p:attrName>style.visibility</p:attrName>
                                        </p:attrNameLst>
                                      </p:cBhvr>
                                      <p:to>
                                        <p:strVal val="hidden"/>
                                      </p:to>
                                    </p:set>
                                  </p:childTnLst>
                                </p:cTn>
                              </p:par>
                              <p:par>
                                <p:cTn id="78" presetID="22" presetClass="entr" presetSubtype="8" fill="hold" nodeType="withEffect">
                                  <p:stCondLst>
                                    <p:cond delay="0"/>
                                  </p:stCondLst>
                                  <p:childTnLst>
                                    <p:set>
                                      <p:cBhvr>
                                        <p:cTn id="79" dur="1" fill="hold">
                                          <p:stCondLst>
                                            <p:cond delay="0"/>
                                          </p:stCondLst>
                                        </p:cTn>
                                        <p:tgtEl>
                                          <p:spTgt spid="145"/>
                                        </p:tgtEl>
                                        <p:attrNameLst>
                                          <p:attrName>style.visibility</p:attrName>
                                        </p:attrNameLst>
                                      </p:cBhvr>
                                      <p:to>
                                        <p:strVal val="visible"/>
                                      </p:to>
                                    </p:set>
                                    <p:animEffect transition="in" filter="wipe(left)">
                                      <p:cBhvr>
                                        <p:cTn id="80" dur="500"/>
                                        <p:tgtEl>
                                          <p:spTgt spid="145"/>
                                        </p:tgtEl>
                                      </p:cBhvr>
                                    </p:animEffect>
                                  </p:childTnLst>
                                </p:cTn>
                              </p:par>
                            </p:childTnLst>
                          </p:cTn>
                        </p:par>
                        <p:par>
                          <p:cTn id="81" fill="hold">
                            <p:stCondLst>
                              <p:cond delay="5250"/>
                            </p:stCondLst>
                            <p:childTnLst>
                              <p:par>
                                <p:cTn id="82" presetID="10" presetClass="exit" presetSubtype="0" fill="hold" nodeType="afterEffect">
                                  <p:stCondLst>
                                    <p:cond delay="0"/>
                                  </p:stCondLst>
                                  <p:childTnLst>
                                    <p:animEffect transition="out" filter="fade">
                                      <p:cBhvr>
                                        <p:cTn id="83" dur="500"/>
                                        <p:tgtEl>
                                          <p:spTgt spid="145"/>
                                        </p:tgtEl>
                                      </p:cBhvr>
                                    </p:animEffect>
                                    <p:set>
                                      <p:cBhvr>
                                        <p:cTn id="84" dur="1" fill="hold">
                                          <p:stCondLst>
                                            <p:cond delay="499"/>
                                          </p:stCondLst>
                                        </p:cTn>
                                        <p:tgtEl>
                                          <p:spTgt spid="145"/>
                                        </p:tgtEl>
                                        <p:attrNameLst>
                                          <p:attrName>style.visibility</p:attrName>
                                        </p:attrNameLst>
                                      </p:cBhvr>
                                      <p:to>
                                        <p:strVal val="hidden"/>
                                      </p:to>
                                    </p:set>
                                  </p:childTnLst>
                                </p:cTn>
                              </p:par>
                              <p:par>
                                <p:cTn id="85" presetID="10" presetClass="entr" presetSubtype="0" fill="hold" nodeType="withEffect">
                                  <p:stCondLst>
                                    <p:cond delay="0"/>
                                  </p:stCondLst>
                                  <p:childTnLst>
                                    <p:set>
                                      <p:cBhvr>
                                        <p:cTn id="86" dur="1" fill="hold">
                                          <p:stCondLst>
                                            <p:cond delay="0"/>
                                          </p:stCondLst>
                                        </p:cTn>
                                        <p:tgtEl>
                                          <p:spTgt spid="85"/>
                                        </p:tgtEl>
                                        <p:attrNameLst>
                                          <p:attrName>style.visibility</p:attrName>
                                        </p:attrNameLst>
                                      </p:cBhvr>
                                      <p:to>
                                        <p:strVal val="visible"/>
                                      </p:to>
                                    </p:set>
                                    <p:animEffect transition="in" filter="fade">
                                      <p:cBhvr>
                                        <p:cTn id="87" dur="500"/>
                                        <p:tgtEl>
                                          <p:spTgt spid="85"/>
                                        </p:tgtEl>
                                      </p:cBhvr>
                                    </p:animEffect>
                                  </p:childTnLst>
                                </p:cTn>
                              </p:par>
                            </p:childTnLst>
                          </p:cTn>
                        </p:par>
                        <p:par>
                          <p:cTn id="88" fill="hold">
                            <p:stCondLst>
                              <p:cond delay="5750"/>
                            </p:stCondLst>
                            <p:childTnLst>
                              <p:par>
                                <p:cTn id="89" presetID="42" presetClass="path" presetSubtype="0" repeatCount="indefinite" accel="50000" decel="50000" autoRev="1" fill="hold" nodeType="afterEffect">
                                  <p:stCondLst>
                                    <p:cond delay="0"/>
                                  </p:stCondLst>
                                  <p:childTnLst>
                                    <p:animMotion origin="layout" path="M 5.55556E-7 3.33333E-6 L 0.12083 0.00277 " pathEditMode="relative" rAng="0" ptsTypes="AA">
                                      <p:cBhvr>
                                        <p:cTn id="90" dur="1000" fill="hold"/>
                                        <p:tgtEl>
                                          <p:spTgt spid="85"/>
                                        </p:tgtEl>
                                        <p:attrNameLst>
                                          <p:attrName>ppt_x</p:attrName>
                                          <p:attrName>ppt_y</p:attrName>
                                        </p:attrNameLst>
                                      </p:cBhvr>
                                      <p:rCtr x="6042" y="13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animBg="1"/>
      <p:bldP spid="49" grpId="0" animBg="1"/>
      <p:bldP spid="50" grpId="0" animBg="1"/>
      <p:bldP spid="51" grpId="0" animBg="1"/>
      <p:bldP spid="58" grpId="0" animBg="1"/>
      <p:bldP spid="54" grpId="0" animBg="1"/>
      <p:bldP spid="63" grpId="0" animBg="1"/>
      <p:bldP spid="64" grpId="0" animBg="1"/>
      <p:bldP spid="66" grpId="0"/>
      <p:bldP spid="67" grpId="0"/>
      <p:bldP spid="68" grpId="0"/>
      <p:bldP spid="6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920575" y="1689667"/>
            <a:ext cx="3324741" cy="3324741"/>
          </a:xfrm>
          <a:prstGeom prst="ellipse">
            <a:avLst/>
          </a:prstGeom>
          <a:solidFill>
            <a:schemeClr val="accent4">
              <a:lumMod val="40000"/>
              <a:lumOff val="60000"/>
            </a:schemeClr>
          </a:solidFill>
          <a:ln w="889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dirty="0"/>
          </a:p>
        </p:txBody>
      </p:sp>
      <p:sp>
        <p:nvSpPr>
          <p:cNvPr id="2" name="标题 1"/>
          <p:cNvSpPr>
            <a:spLocks noGrp="1"/>
          </p:cNvSpPr>
          <p:nvPr>
            <p:ph type="title" idx="4294967295"/>
          </p:nvPr>
        </p:nvSpPr>
        <p:spPr>
          <a:xfrm>
            <a:off x="2439358" y="320940"/>
            <a:ext cx="4478941" cy="1104900"/>
          </a:xfrm>
        </p:spPr>
        <p:txBody>
          <a:bodyPr>
            <a:normAutofit/>
          </a:bodyPr>
          <a:lstStyle/>
          <a:p>
            <a:r>
              <a:rPr lang="zh-CN" altLang="en-US" sz="2400" b="1" spc="300" dirty="0">
                <a:solidFill>
                  <a:schemeClr val="tx1">
                    <a:lumMod val="65000"/>
                    <a:lumOff val="35000"/>
                  </a:schemeClr>
                </a:solidFill>
              </a:rPr>
              <a:t>客户服务行业趋势生成原因</a:t>
            </a:r>
          </a:p>
        </p:txBody>
      </p:sp>
      <p:grpSp>
        <p:nvGrpSpPr>
          <p:cNvPr id="20" name="组合 19"/>
          <p:cNvGrpSpPr/>
          <p:nvPr/>
        </p:nvGrpSpPr>
        <p:grpSpPr>
          <a:xfrm>
            <a:off x="187188" y="2056728"/>
            <a:ext cx="4627618" cy="1699214"/>
            <a:chOff x="388582" y="1248209"/>
            <a:chExt cx="4627618" cy="1699214"/>
          </a:xfrm>
        </p:grpSpPr>
        <p:sp>
          <p:nvSpPr>
            <p:cNvPr id="7" name="矩形 6"/>
            <p:cNvSpPr/>
            <p:nvPr/>
          </p:nvSpPr>
          <p:spPr>
            <a:xfrm>
              <a:off x="388582" y="1259784"/>
              <a:ext cx="4133991" cy="1687639"/>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lvl="0">
                <a:lnSpc>
                  <a:spcPct val="150000"/>
                </a:lnSpc>
              </a:pPr>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互联网技术的应用</a:t>
              </a:r>
              <a:endParaRPr lang="en-US" altLang="zh-CN" sz="20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nSpc>
                  <a:spcPct val="150000"/>
                </a:lnSpc>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云、大数据等技术应用，带来更低的客户服务成本，更高的客户服务效率和客户服务体验。</a:t>
              </a:r>
              <a:endParaRPr lang="zh-CN" altLang="en-US" sz="1600" dirty="0">
                <a:solidFill>
                  <a:schemeClr val="tx1">
                    <a:lumMod val="65000"/>
                    <a:lumOff val="35000"/>
                  </a:schemeClr>
                </a:solidFill>
              </a:endParaRPr>
            </a:p>
          </p:txBody>
        </p:sp>
        <p:sp>
          <p:nvSpPr>
            <p:cNvPr id="9" name="平行四边形 8"/>
            <p:cNvSpPr/>
            <p:nvPr/>
          </p:nvSpPr>
          <p:spPr>
            <a:xfrm rot="10800000">
              <a:off x="4028945" y="1248209"/>
              <a:ext cx="987255" cy="1688629"/>
            </a:xfrm>
            <a:prstGeom prst="parallelogram">
              <a:avLst>
                <a:gd name="adj" fmla="val 43800"/>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1" name="组合 20"/>
          <p:cNvGrpSpPr/>
          <p:nvPr/>
        </p:nvGrpSpPr>
        <p:grpSpPr>
          <a:xfrm>
            <a:off x="4314987" y="3039760"/>
            <a:ext cx="4627619" cy="1688629"/>
            <a:chOff x="4348114" y="2943434"/>
            <a:chExt cx="4627619" cy="1688629"/>
          </a:xfrm>
        </p:grpSpPr>
        <p:sp>
          <p:nvSpPr>
            <p:cNvPr id="18" name="矩形 17"/>
            <p:cNvSpPr/>
            <p:nvPr/>
          </p:nvSpPr>
          <p:spPr>
            <a:xfrm>
              <a:off x="4841742" y="2943434"/>
              <a:ext cx="4133991" cy="1687639"/>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0" rIns="360000" rtlCol="0" anchor="ctr"/>
            <a:lstStyle/>
            <a:p>
              <a:pPr lvl="0">
                <a:lnSpc>
                  <a:spcPct val="150000"/>
                </a:lnSpc>
              </a:pPr>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用户行为的改变</a:t>
              </a:r>
              <a:endParaRPr lang="en-US" altLang="zh-CN" sz="20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nSpc>
                  <a:spcPct val="150000"/>
                </a:lnSpc>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用户对于社交渠道的深度参与，分享的便捷性不仅可以解决用 户问题，更能促进口碑的传播。</a:t>
              </a:r>
            </a:p>
          </p:txBody>
        </p:sp>
        <p:sp>
          <p:nvSpPr>
            <p:cNvPr id="19" name="平行四边形 18"/>
            <p:cNvSpPr/>
            <p:nvPr/>
          </p:nvSpPr>
          <p:spPr>
            <a:xfrm rot="10800000">
              <a:off x="4348114" y="2943434"/>
              <a:ext cx="987255" cy="1688629"/>
            </a:xfrm>
            <a:prstGeom prst="parallelogram">
              <a:avLst>
                <a:gd name="adj" fmla="val 43800"/>
              </a:avLst>
            </a:prstGeom>
            <a:solidFill>
              <a:schemeClr val="tx1">
                <a:lumMod val="65000"/>
                <a:lumOff val="3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2" name="图片 21"/>
          <p:cNvPicPr>
            <a:picLocks noChangeAspect="1"/>
          </p:cNvPicPr>
          <p:nvPr/>
        </p:nvPicPr>
        <p:blipFill>
          <a:blip r:embed="rId2" cstate="hqprint">
            <a:lum bright="70000" contrast="-70000"/>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tretch>
            <a:fillRect/>
          </a:stretch>
        </p:blipFill>
        <p:spPr>
          <a:xfrm>
            <a:off x="3960818" y="2860654"/>
            <a:ext cx="1143018" cy="1524025"/>
          </a:xfrm>
          <a:prstGeom prst="rect">
            <a:avLst/>
          </a:prstGeom>
        </p:spPr>
      </p:pic>
      <p:sp>
        <p:nvSpPr>
          <p:cNvPr id="12" name="等腰三角形 11"/>
          <p:cNvSpPr/>
          <p:nvPr/>
        </p:nvSpPr>
        <p:spPr>
          <a:xfrm flipH="1" flipV="1">
            <a:off x="4465172" y="1313881"/>
            <a:ext cx="213657" cy="117981"/>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64038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750" fill="hold"/>
                                        <p:tgtEl>
                                          <p:spTgt spid="20"/>
                                        </p:tgtEl>
                                        <p:attrNameLst>
                                          <p:attrName>ppt_x</p:attrName>
                                        </p:attrNameLst>
                                      </p:cBhvr>
                                      <p:tavLst>
                                        <p:tav tm="0">
                                          <p:val>
                                            <p:strVal val="0-#ppt_w/2"/>
                                          </p:val>
                                        </p:tav>
                                        <p:tav tm="100000">
                                          <p:val>
                                            <p:strVal val="#ppt_x"/>
                                          </p:val>
                                        </p:tav>
                                      </p:tavLst>
                                    </p:anim>
                                    <p:anim calcmode="lin" valueType="num">
                                      <p:cBhvr additive="base">
                                        <p:cTn id="8" dur="750" fill="hold"/>
                                        <p:tgtEl>
                                          <p:spTgt spid="20"/>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750" fill="hold"/>
                                        <p:tgtEl>
                                          <p:spTgt spid="21"/>
                                        </p:tgtEl>
                                        <p:attrNameLst>
                                          <p:attrName>ppt_x</p:attrName>
                                        </p:attrNameLst>
                                      </p:cBhvr>
                                      <p:tavLst>
                                        <p:tav tm="0">
                                          <p:val>
                                            <p:strVal val="1+#ppt_w/2"/>
                                          </p:val>
                                        </p:tav>
                                        <p:tav tm="100000">
                                          <p:val>
                                            <p:strVal val="#ppt_x"/>
                                          </p:val>
                                        </p:tav>
                                      </p:tavLst>
                                    </p:anim>
                                    <p:anim calcmode="lin" valueType="num">
                                      <p:cBhvr additive="base">
                                        <p:cTn id="12" dur="750" fill="hold"/>
                                        <p:tgtEl>
                                          <p:spTgt spid="21"/>
                                        </p:tgtEl>
                                        <p:attrNameLst>
                                          <p:attrName>ppt_y</p:attrName>
                                        </p:attrNameLst>
                                      </p:cBhvr>
                                      <p:tavLst>
                                        <p:tav tm="0">
                                          <p:val>
                                            <p:strVal val="#ppt_y"/>
                                          </p:val>
                                        </p:tav>
                                        <p:tav tm="100000">
                                          <p:val>
                                            <p:strVal val="#ppt_y"/>
                                          </p:val>
                                        </p:tav>
                                      </p:tavLst>
                                    </p:anim>
                                  </p:childTnLst>
                                </p:cTn>
                              </p:par>
                              <p:par>
                                <p:cTn id="13" presetID="53" presetClass="entr" presetSubtype="16" fill="hold" grpId="0" nodeType="withEffect">
                                  <p:stCondLst>
                                    <p:cond delay="500"/>
                                  </p:stCondLst>
                                  <p:childTnLst>
                                    <p:set>
                                      <p:cBhvr>
                                        <p:cTn id="14" dur="1" fill="hold">
                                          <p:stCondLst>
                                            <p:cond delay="0"/>
                                          </p:stCondLst>
                                        </p:cTn>
                                        <p:tgtEl>
                                          <p:spTgt spid="14"/>
                                        </p:tgtEl>
                                        <p:attrNameLst>
                                          <p:attrName>style.visibility</p:attrName>
                                        </p:attrNameLst>
                                      </p:cBhvr>
                                      <p:to>
                                        <p:strVal val="visible"/>
                                      </p:to>
                                    </p:set>
                                    <p:anim calcmode="lin" valueType="num">
                                      <p:cBhvr>
                                        <p:cTn id="15" dur="750" fill="hold"/>
                                        <p:tgtEl>
                                          <p:spTgt spid="14"/>
                                        </p:tgtEl>
                                        <p:attrNameLst>
                                          <p:attrName>ppt_w</p:attrName>
                                        </p:attrNameLst>
                                      </p:cBhvr>
                                      <p:tavLst>
                                        <p:tav tm="0">
                                          <p:val>
                                            <p:fltVal val="0"/>
                                          </p:val>
                                        </p:tav>
                                        <p:tav tm="100000">
                                          <p:val>
                                            <p:strVal val="#ppt_w"/>
                                          </p:val>
                                        </p:tav>
                                      </p:tavLst>
                                    </p:anim>
                                    <p:anim calcmode="lin" valueType="num">
                                      <p:cBhvr>
                                        <p:cTn id="16" dur="750" fill="hold"/>
                                        <p:tgtEl>
                                          <p:spTgt spid="14"/>
                                        </p:tgtEl>
                                        <p:attrNameLst>
                                          <p:attrName>ppt_h</p:attrName>
                                        </p:attrNameLst>
                                      </p:cBhvr>
                                      <p:tavLst>
                                        <p:tav tm="0">
                                          <p:val>
                                            <p:fltVal val="0"/>
                                          </p:val>
                                        </p:tav>
                                        <p:tav tm="100000">
                                          <p:val>
                                            <p:strVal val="#ppt_h"/>
                                          </p:val>
                                        </p:tav>
                                      </p:tavLst>
                                    </p:anim>
                                    <p:animEffect transition="in" filter="fade">
                                      <p:cBhvr>
                                        <p:cTn id="17" dur="750"/>
                                        <p:tgtEl>
                                          <p:spTgt spid="14"/>
                                        </p:tgtEl>
                                      </p:cBhvr>
                                    </p:animEffect>
                                  </p:childTnLst>
                                </p:cTn>
                              </p:par>
                              <p:par>
                                <p:cTn id="18" presetID="42" presetClass="entr" presetSubtype="0" fill="hold" grpId="0" nodeType="withEffect">
                                  <p:stCondLst>
                                    <p:cond delay="100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1000"/>
                                        <p:tgtEl>
                                          <p:spTgt spid="2"/>
                                        </p:tgtEl>
                                      </p:cBhvr>
                                    </p:animEffect>
                                    <p:anim calcmode="lin" valueType="num">
                                      <p:cBhvr>
                                        <p:cTn id="21" dur="1000" fill="hold"/>
                                        <p:tgtEl>
                                          <p:spTgt spid="2"/>
                                        </p:tgtEl>
                                        <p:attrNameLst>
                                          <p:attrName>ppt_x</p:attrName>
                                        </p:attrNameLst>
                                      </p:cBhvr>
                                      <p:tavLst>
                                        <p:tav tm="0">
                                          <p:val>
                                            <p:strVal val="#ppt_x"/>
                                          </p:val>
                                        </p:tav>
                                        <p:tav tm="100000">
                                          <p:val>
                                            <p:strVal val="#ppt_x"/>
                                          </p:val>
                                        </p:tav>
                                      </p:tavLst>
                                    </p:anim>
                                    <p:anim calcmode="lin" valueType="num">
                                      <p:cBhvr>
                                        <p:cTn id="22" dur="1000" fill="hold"/>
                                        <p:tgtEl>
                                          <p:spTgt spid="2"/>
                                        </p:tgtEl>
                                        <p:attrNameLst>
                                          <p:attrName>ppt_y</p:attrName>
                                        </p:attrNameLst>
                                      </p:cBhvr>
                                      <p:tavLst>
                                        <p:tav tm="0">
                                          <p:val>
                                            <p:strVal val="#ppt_y+.1"/>
                                          </p:val>
                                        </p:tav>
                                        <p:tav tm="100000">
                                          <p:val>
                                            <p:strVal val="#ppt_y"/>
                                          </p:val>
                                        </p:tav>
                                      </p:tavLst>
                                    </p:anim>
                                  </p:childTnLst>
                                </p:cTn>
                              </p:par>
                              <p:par>
                                <p:cTn id="23" presetID="50" presetClass="entr" presetSubtype="0" decel="100000" fill="hold" nodeType="withEffect">
                                  <p:stCondLst>
                                    <p:cond delay="1000"/>
                                  </p:stCondLst>
                                  <p:childTnLst>
                                    <p:set>
                                      <p:cBhvr>
                                        <p:cTn id="24" dur="1" fill="hold">
                                          <p:stCondLst>
                                            <p:cond delay="0"/>
                                          </p:stCondLst>
                                        </p:cTn>
                                        <p:tgtEl>
                                          <p:spTgt spid="22"/>
                                        </p:tgtEl>
                                        <p:attrNameLst>
                                          <p:attrName>style.visibility</p:attrName>
                                        </p:attrNameLst>
                                      </p:cBhvr>
                                      <p:to>
                                        <p:strVal val="visible"/>
                                      </p:to>
                                    </p:set>
                                    <p:anim calcmode="lin" valueType="num">
                                      <p:cBhvr>
                                        <p:cTn id="25" dur="1000" fill="hold"/>
                                        <p:tgtEl>
                                          <p:spTgt spid="22"/>
                                        </p:tgtEl>
                                        <p:attrNameLst>
                                          <p:attrName>ppt_w</p:attrName>
                                        </p:attrNameLst>
                                      </p:cBhvr>
                                      <p:tavLst>
                                        <p:tav tm="0">
                                          <p:val>
                                            <p:strVal val="#ppt_w+.3"/>
                                          </p:val>
                                        </p:tav>
                                        <p:tav tm="100000">
                                          <p:val>
                                            <p:strVal val="#ppt_w"/>
                                          </p:val>
                                        </p:tav>
                                      </p:tavLst>
                                    </p:anim>
                                    <p:anim calcmode="lin" valueType="num">
                                      <p:cBhvr>
                                        <p:cTn id="26" dur="1000" fill="hold"/>
                                        <p:tgtEl>
                                          <p:spTgt spid="22"/>
                                        </p:tgtEl>
                                        <p:attrNameLst>
                                          <p:attrName>ppt_h</p:attrName>
                                        </p:attrNameLst>
                                      </p:cBhvr>
                                      <p:tavLst>
                                        <p:tav tm="0">
                                          <p:val>
                                            <p:strVal val="#ppt_h"/>
                                          </p:val>
                                        </p:tav>
                                        <p:tav tm="100000">
                                          <p:val>
                                            <p:strVal val="#ppt_h"/>
                                          </p:val>
                                        </p:tav>
                                      </p:tavLst>
                                    </p:anim>
                                    <p:animEffect transition="in" filter="fade">
                                      <p:cBhvr>
                                        <p:cTn id="27" dur="1000"/>
                                        <p:tgtEl>
                                          <p:spTgt spid="22"/>
                                        </p:tgtEl>
                                      </p:cBhvr>
                                    </p:animEffect>
                                  </p:childTnLst>
                                </p:cTn>
                              </p:par>
                            </p:childTnLst>
                          </p:cTn>
                        </p:par>
                        <p:par>
                          <p:cTn id="28" fill="hold">
                            <p:stCondLst>
                              <p:cond delay="2000"/>
                            </p:stCondLst>
                            <p:childTnLst>
                              <p:par>
                                <p:cTn id="29" presetID="10" presetClass="entr" presetSubtype="0" fill="hold" grpId="0"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par>
                          <p:cTn id="32" fill="hold">
                            <p:stCondLst>
                              <p:cond delay="2500"/>
                            </p:stCondLst>
                            <p:childTnLst>
                              <p:par>
                                <p:cTn id="33" presetID="42" presetClass="path" presetSubtype="0" repeatCount="indefinite" accel="50000" decel="50000" autoRev="1" fill="hold" grpId="1" nodeType="afterEffect">
                                  <p:stCondLst>
                                    <p:cond delay="0"/>
                                  </p:stCondLst>
                                  <p:childTnLst>
                                    <p:animMotion origin="layout" path="M 0 2.22222E-6 L 0 0.0425 " pathEditMode="relative" rAng="0" ptsTypes="AA">
                                      <p:cBhvr>
                                        <p:cTn id="34" dur="500" fill="hold"/>
                                        <p:tgtEl>
                                          <p:spTgt spid="12"/>
                                        </p:tgtEl>
                                        <p:attrNameLst>
                                          <p:attrName>ppt_x</p:attrName>
                                          <p:attrName>ppt_y</p:attrName>
                                        </p:attrNameLst>
                                      </p:cBhvr>
                                      <p:rCtr x="0" y="211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 grpId="0"/>
      <p:bldP spid="12" grpId="0" animBg="1"/>
      <p:bldP spid="12"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离页连接符 4"/>
          <p:cNvSpPr/>
          <p:nvPr/>
        </p:nvSpPr>
        <p:spPr>
          <a:xfrm>
            <a:off x="466887" y="0"/>
            <a:ext cx="1855838" cy="3034650"/>
          </a:xfrm>
          <a:prstGeom prst="flowChartOffpageConnector">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lnSpc>
                <a:spcPct val="150000"/>
              </a:lnSpc>
            </a:pPr>
            <a:endParaRPr lang="en-US" altLang="zh-CN" sz="2000" b="1" dirty="0">
              <a:solidFill>
                <a:schemeClr val="tx2">
                  <a:lumMod val="75000"/>
                </a:schemeClr>
              </a:solidFill>
              <a:latin typeface="微软雅黑" panose="020B0503020204020204" pitchFamily="34" charset="-122"/>
              <a:ea typeface="微软雅黑" panose="020B0503020204020204" pitchFamily="34" charset="-122"/>
            </a:endParaRPr>
          </a:p>
        </p:txBody>
      </p:sp>
      <p:sp>
        <p:nvSpPr>
          <p:cNvPr id="11" name="矩形 10"/>
          <p:cNvSpPr/>
          <p:nvPr/>
        </p:nvSpPr>
        <p:spPr>
          <a:xfrm>
            <a:off x="466888" y="6563"/>
            <a:ext cx="1855838" cy="29406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2908454" y="1517325"/>
            <a:ext cx="5585550" cy="3260993"/>
          </a:xfrm>
          <a:prstGeom prst="rect">
            <a:avLst/>
          </a:prstGeom>
          <a:noFill/>
        </p:spPr>
        <p:txBody>
          <a:bodyPr wrap="square" rtlCol="0">
            <a:prstTxWarp prst="textPlain">
              <a:avLst/>
            </a:prstTxWarp>
            <a:spAutoFit/>
          </a:bodyPr>
          <a:lstStyle/>
          <a:p>
            <a:r>
              <a:rPr lang="en-US" altLang="zh-CN" b="1" dirty="0">
                <a:blipFill dpi="0" rotWithShape="1">
                  <a:blip r:embed="rId2"/>
                  <a:srcRect/>
                  <a:stretch>
                    <a:fillRect/>
                  </a:stretch>
                </a:blipFill>
                <a:effectLst>
                  <a:outerShdw blurRad="50800" dist="38100" dir="2700000" algn="tl" rotWithShape="0">
                    <a:prstClr val="black">
                      <a:alpha val="40000"/>
                    </a:prstClr>
                  </a:outerShdw>
                </a:effectLst>
                <a:latin typeface="Microsoft JhengHei" panose="020B0604030504040204" pitchFamily="34" charset="-120"/>
                <a:ea typeface="Microsoft JhengHei" panose="020B0604030504040204" pitchFamily="34" charset="-120"/>
              </a:rPr>
              <a:t>——————————————</a:t>
            </a:r>
            <a:endParaRPr lang="zh-CN" altLang="en-US" b="1" dirty="0">
              <a:blipFill dpi="0" rotWithShape="1">
                <a:blip r:embed="rId2"/>
                <a:srcRect/>
                <a:stretch>
                  <a:fillRect/>
                </a:stretch>
              </a:blipFill>
              <a:effectLst>
                <a:outerShdw blurRad="50800" dist="38100" dir="2700000" algn="tl" rotWithShape="0">
                  <a:prstClr val="black">
                    <a:alpha val="40000"/>
                  </a:prstClr>
                </a:outerShdw>
              </a:effectLst>
              <a:latin typeface="Microsoft JhengHei" panose="020B0604030504040204" pitchFamily="34" charset="-120"/>
              <a:ea typeface="Microsoft JhengHei" panose="020B0604030504040204" pitchFamily="34" charset="-120"/>
            </a:endParaRPr>
          </a:p>
        </p:txBody>
      </p:sp>
      <p:sp>
        <p:nvSpPr>
          <p:cNvPr id="10" name="文本框 9"/>
          <p:cNvSpPr txBox="1"/>
          <p:nvPr/>
        </p:nvSpPr>
        <p:spPr>
          <a:xfrm>
            <a:off x="1086402" y="409329"/>
            <a:ext cx="936434" cy="1107996"/>
          </a:xfrm>
          <a:prstGeom prst="rect">
            <a:avLst/>
          </a:prstGeom>
          <a:noFill/>
        </p:spPr>
        <p:txBody>
          <a:bodyPr wrap="square" rtlCol="0">
            <a:spAutoFit/>
          </a:bodyPr>
          <a:lstStyle/>
          <a:p>
            <a:r>
              <a:rPr lang="en-US" altLang="zh-CN" sz="6600" dirty="0">
                <a:solidFill>
                  <a:schemeClr val="tx2"/>
                </a:solidFill>
                <a:latin typeface="+mn-ea"/>
              </a:rPr>
              <a:t>2</a:t>
            </a:r>
            <a:endParaRPr lang="zh-CN" altLang="en-US" sz="6600" dirty="0">
              <a:solidFill>
                <a:schemeClr val="tx2"/>
              </a:solidFill>
              <a:latin typeface="+mn-ea"/>
            </a:endParaRPr>
          </a:p>
        </p:txBody>
      </p:sp>
      <p:sp>
        <p:nvSpPr>
          <p:cNvPr id="23" name="矩形 22"/>
          <p:cNvSpPr/>
          <p:nvPr/>
        </p:nvSpPr>
        <p:spPr>
          <a:xfrm>
            <a:off x="2908455" y="1123720"/>
            <a:ext cx="5585549" cy="39360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466887" y="-1"/>
            <a:ext cx="1855838" cy="2940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a:cxnSpLocks/>
          </p:cNvCxnSpPr>
          <p:nvPr/>
        </p:nvCxnSpPr>
        <p:spPr>
          <a:xfrm>
            <a:off x="466887" y="1408204"/>
            <a:ext cx="1855838"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矩形 1"/>
          <p:cNvSpPr/>
          <p:nvPr/>
        </p:nvSpPr>
        <p:spPr>
          <a:xfrm>
            <a:off x="688168" y="1345574"/>
            <a:ext cx="1413276" cy="1338828"/>
          </a:xfrm>
          <a:prstGeom prst="rect">
            <a:avLst/>
          </a:prstGeom>
        </p:spPr>
        <p:txBody>
          <a:bodyPr wrap="square">
            <a:spAutoFit/>
          </a:bodyPr>
          <a:lstStyle/>
          <a:p>
            <a:pPr algn="ctr">
              <a:lnSpc>
                <a:spcPct val="150000"/>
              </a:lnSpc>
            </a:pPr>
            <a:r>
              <a:rPr lang="zh-CN" altLang="en-US" b="1" dirty="0">
                <a:solidFill>
                  <a:schemeClr val="accent2"/>
                </a:solidFill>
                <a:latin typeface="微软雅黑" panose="020B0503020204020204" pitchFamily="34" charset="-122"/>
                <a:ea typeface="微软雅黑" panose="020B0503020204020204" pitchFamily="34" charset="-122"/>
              </a:rPr>
              <a:t>全渠道客户服务全面提升服务能力</a:t>
            </a:r>
            <a:endParaRPr lang="en-US" altLang="zh-CN" b="1" dirty="0">
              <a:solidFill>
                <a:schemeClr val="accent2"/>
              </a:solidFill>
              <a:latin typeface="微软雅黑" panose="020B0503020204020204" pitchFamily="34" charset="-122"/>
              <a:ea typeface="微软雅黑" panose="020B0503020204020204" pitchFamily="34" charset="-122"/>
            </a:endParaRPr>
          </a:p>
        </p:txBody>
      </p:sp>
      <p:grpSp>
        <p:nvGrpSpPr>
          <p:cNvPr id="39" name="组合 38"/>
          <p:cNvGrpSpPr/>
          <p:nvPr/>
        </p:nvGrpSpPr>
        <p:grpSpPr>
          <a:xfrm>
            <a:off x="7264097" y="4949496"/>
            <a:ext cx="1023255" cy="648772"/>
            <a:chOff x="1419243" y="4456566"/>
            <a:chExt cx="1731363" cy="1097733"/>
          </a:xfrm>
          <a:solidFill>
            <a:schemeClr val="tx1">
              <a:lumMod val="75000"/>
              <a:lumOff val="25000"/>
            </a:schemeClr>
          </a:solidFill>
          <a:effectLst>
            <a:outerShdw blurRad="63500" sx="102000" sy="102000" algn="ctr" rotWithShape="0">
              <a:prstClr val="black">
                <a:alpha val="40000"/>
              </a:prstClr>
            </a:outerShdw>
          </a:effectLst>
        </p:grpSpPr>
        <p:sp>
          <p:nvSpPr>
            <p:cNvPr id="40" name="椭圆 39"/>
            <p:cNvSpPr/>
            <p:nvPr/>
          </p:nvSpPr>
          <p:spPr>
            <a:xfrm>
              <a:off x="1865015" y="4925084"/>
              <a:ext cx="153909" cy="153909"/>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2087730"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2310445" y="4925084"/>
              <a:ext cx="153909" cy="15390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nvSpPr>
          <p:spPr>
            <a:xfrm>
              <a:off x="2533160"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2755875" y="4925084"/>
              <a:ext cx="153909" cy="15390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2996697"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2865422" y="4766648"/>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2736411" y="4610475"/>
              <a:ext cx="153909" cy="153909"/>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2865422" y="50857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2736411" y="5251011"/>
              <a:ext cx="153909" cy="15390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2601966" y="4456566"/>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2601966" y="5400390"/>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1644563"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1419243"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0" name="椭圆 59"/>
          <p:cNvSpPr/>
          <p:nvPr/>
        </p:nvSpPr>
        <p:spPr>
          <a:xfrm>
            <a:off x="2908454" y="669032"/>
            <a:ext cx="129209" cy="12920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nvSpPr>
        <p:spPr>
          <a:xfrm>
            <a:off x="3149457" y="669032"/>
            <a:ext cx="129209" cy="129209"/>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p:nvPr/>
        </p:nvSpPr>
        <p:spPr>
          <a:xfrm>
            <a:off x="3390460" y="665816"/>
            <a:ext cx="129209" cy="12920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p:nvPr/>
        </p:nvSpPr>
        <p:spPr>
          <a:xfrm>
            <a:off x="3631463" y="665816"/>
            <a:ext cx="129209" cy="129209"/>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4" name="椭圆 63"/>
          <p:cNvSpPr/>
          <p:nvPr/>
        </p:nvSpPr>
        <p:spPr>
          <a:xfrm>
            <a:off x="3872466" y="665815"/>
            <a:ext cx="129209" cy="129209"/>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93059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1000"/>
                                        <p:tgtEl>
                                          <p:spTgt spid="5"/>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par>
                          <p:cTn id="12" fill="hold">
                            <p:stCondLst>
                              <p:cond delay="1500"/>
                            </p:stCondLst>
                            <p:childTnLst>
                              <p:par>
                                <p:cTn id="13" presetID="17" presetClass="entr" presetSubtype="8" fill="hold" grpId="0" nodeType="afterEffect">
                                  <p:stCondLst>
                                    <p:cond delay="0"/>
                                  </p:stCondLst>
                                  <p:childTnLst>
                                    <p:set>
                                      <p:cBhvr>
                                        <p:cTn id="14" dur="1" fill="hold">
                                          <p:stCondLst>
                                            <p:cond delay="0"/>
                                          </p:stCondLst>
                                        </p:cTn>
                                        <p:tgtEl>
                                          <p:spTgt spid="45"/>
                                        </p:tgtEl>
                                        <p:attrNameLst>
                                          <p:attrName>style.visibility</p:attrName>
                                        </p:attrNameLst>
                                      </p:cBhvr>
                                      <p:to>
                                        <p:strVal val="visible"/>
                                      </p:to>
                                    </p:set>
                                    <p:anim calcmode="lin" valueType="num">
                                      <p:cBhvr>
                                        <p:cTn id="15" dur="750" fill="hold"/>
                                        <p:tgtEl>
                                          <p:spTgt spid="45"/>
                                        </p:tgtEl>
                                        <p:attrNameLst>
                                          <p:attrName>ppt_x</p:attrName>
                                        </p:attrNameLst>
                                      </p:cBhvr>
                                      <p:tavLst>
                                        <p:tav tm="0">
                                          <p:val>
                                            <p:strVal val="#ppt_x-#ppt_w/2"/>
                                          </p:val>
                                        </p:tav>
                                        <p:tav tm="100000">
                                          <p:val>
                                            <p:strVal val="#ppt_x"/>
                                          </p:val>
                                        </p:tav>
                                      </p:tavLst>
                                    </p:anim>
                                    <p:anim calcmode="lin" valueType="num">
                                      <p:cBhvr>
                                        <p:cTn id="16" dur="750" fill="hold"/>
                                        <p:tgtEl>
                                          <p:spTgt spid="45"/>
                                        </p:tgtEl>
                                        <p:attrNameLst>
                                          <p:attrName>ppt_y</p:attrName>
                                        </p:attrNameLst>
                                      </p:cBhvr>
                                      <p:tavLst>
                                        <p:tav tm="0">
                                          <p:val>
                                            <p:strVal val="#ppt_y"/>
                                          </p:val>
                                        </p:tav>
                                        <p:tav tm="100000">
                                          <p:val>
                                            <p:strVal val="#ppt_y"/>
                                          </p:val>
                                        </p:tav>
                                      </p:tavLst>
                                    </p:anim>
                                    <p:anim calcmode="lin" valueType="num">
                                      <p:cBhvr>
                                        <p:cTn id="17" dur="750" fill="hold"/>
                                        <p:tgtEl>
                                          <p:spTgt spid="45"/>
                                        </p:tgtEl>
                                        <p:attrNameLst>
                                          <p:attrName>ppt_w</p:attrName>
                                        </p:attrNameLst>
                                      </p:cBhvr>
                                      <p:tavLst>
                                        <p:tav tm="0">
                                          <p:val>
                                            <p:fltVal val="0"/>
                                          </p:val>
                                        </p:tav>
                                        <p:tav tm="100000">
                                          <p:val>
                                            <p:strVal val="#ppt_w"/>
                                          </p:val>
                                        </p:tav>
                                      </p:tavLst>
                                    </p:anim>
                                    <p:anim calcmode="lin" valueType="num">
                                      <p:cBhvr>
                                        <p:cTn id="18" dur="750" fill="hold"/>
                                        <p:tgtEl>
                                          <p:spTgt spid="45"/>
                                        </p:tgtEl>
                                        <p:attrNameLst>
                                          <p:attrName>ppt_h</p:attrName>
                                        </p:attrNameLst>
                                      </p:cBhvr>
                                      <p:tavLst>
                                        <p:tav tm="0">
                                          <p:val>
                                            <p:strVal val="#ppt_h"/>
                                          </p:val>
                                        </p:tav>
                                        <p:tav tm="100000">
                                          <p:val>
                                            <p:strVal val="#ppt_h"/>
                                          </p:val>
                                        </p:tav>
                                      </p:tavLst>
                                    </p:anim>
                                  </p:childTnLst>
                                </p:cTn>
                              </p:par>
                            </p:childTnLst>
                          </p:cTn>
                        </p:par>
                        <p:par>
                          <p:cTn id="19" fill="hold">
                            <p:stCondLst>
                              <p:cond delay="2250"/>
                            </p:stCondLst>
                            <p:childTnLst>
                              <p:par>
                                <p:cTn id="20" presetID="10" presetClass="entr" presetSubtype="0" fill="hold"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p:cTn id="25" dur="1000" fill="hold"/>
                                        <p:tgtEl>
                                          <p:spTgt spid="10"/>
                                        </p:tgtEl>
                                        <p:attrNameLst>
                                          <p:attrName>ppt_w</p:attrName>
                                        </p:attrNameLst>
                                      </p:cBhvr>
                                      <p:tavLst>
                                        <p:tav tm="0">
                                          <p:val>
                                            <p:fltVal val="0"/>
                                          </p:val>
                                        </p:tav>
                                        <p:tav tm="100000">
                                          <p:val>
                                            <p:strVal val="#ppt_w"/>
                                          </p:val>
                                        </p:tav>
                                      </p:tavLst>
                                    </p:anim>
                                    <p:anim calcmode="lin" valueType="num">
                                      <p:cBhvr>
                                        <p:cTn id="26" dur="1000" fill="hold"/>
                                        <p:tgtEl>
                                          <p:spTgt spid="10"/>
                                        </p:tgtEl>
                                        <p:attrNameLst>
                                          <p:attrName>ppt_h</p:attrName>
                                        </p:attrNameLst>
                                      </p:cBhvr>
                                      <p:tavLst>
                                        <p:tav tm="0">
                                          <p:val>
                                            <p:fltVal val="0"/>
                                          </p:val>
                                        </p:tav>
                                        <p:tav tm="100000">
                                          <p:val>
                                            <p:strVal val="#ppt_h"/>
                                          </p:val>
                                        </p:tav>
                                      </p:tavLst>
                                    </p:anim>
                                    <p:animEffect transition="in" filter="fade">
                                      <p:cBhvr>
                                        <p:cTn id="27" dur="1000"/>
                                        <p:tgtEl>
                                          <p:spTgt spid="10"/>
                                        </p:tgtEl>
                                      </p:cBhvr>
                                    </p:animEffect>
                                  </p:childTnLst>
                                </p:cTn>
                              </p:par>
                              <p:par>
                                <p:cTn id="28" presetID="42" presetClass="entr" presetSubtype="0" fill="hold" grpId="0" nodeType="with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fade">
                                      <p:cBhvr>
                                        <p:cTn id="30" dur="1000"/>
                                        <p:tgtEl>
                                          <p:spTgt spid="2"/>
                                        </p:tgtEl>
                                      </p:cBhvr>
                                    </p:animEffect>
                                    <p:anim calcmode="lin" valueType="num">
                                      <p:cBhvr>
                                        <p:cTn id="31" dur="1000" fill="hold"/>
                                        <p:tgtEl>
                                          <p:spTgt spid="2"/>
                                        </p:tgtEl>
                                        <p:attrNameLst>
                                          <p:attrName>ppt_x</p:attrName>
                                        </p:attrNameLst>
                                      </p:cBhvr>
                                      <p:tavLst>
                                        <p:tav tm="0">
                                          <p:val>
                                            <p:strVal val="#ppt_x"/>
                                          </p:val>
                                        </p:tav>
                                        <p:tav tm="100000">
                                          <p:val>
                                            <p:strVal val="#ppt_x"/>
                                          </p:val>
                                        </p:tav>
                                      </p:tavLst>
                                    </p:anim>
                                    <p:anim calcmode="lin" valueType="num">
                                      <p:cBhvr>
                                        <p:cTn id="32" dur="1000" fill="hold"/>
                                        <p:tgtEl>
                                          <p:spTgt spid="2"/>
                                        </p:tgtEl>
                                        <p:attrNameLst>
                                          <p:attrName>ppt_y</p:attrName>
                                        </p:attrNameLst>
                                      </p:cBhvr>
                                      <p:tavLst>
                                        <p:tav tm="0">
                                          <p:val>
                                            <p:strVal val="#ppt_y+.1"/>
                                          </p:val>
                                        </p:tav>
                                        <p:tav tm="100000">
                                          <p:val>
                                            <p:strVal val="#ppt_y"/>
                                          </p:val>
                                        </p:tav>
                                      </p:tavLst>
                                    </p:anim>
                                  </p:childTnLst>
                                </p:cTn>
                              </p:par>
                              <p:par>
                                <p:cTn id="33" presetID="47" presetClass="entr" presetSubtype="0" fill="hold" grpId="0" nodeType="withEffect">
                                  <p:stCondLst>
                                    <p:cond delay="100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1000"/>
                                        <p:tgtEl>
                                          <p:spTgt spid="23"/>
                                        </p:tgtEl>
                                      </p:cBhvr>
                                    </p:animEffect>
                                    <p:anim calcmode="lin" valueType="num">
                                      <p:cBhvr>
                                        <p:cTn id="36" dur="1000" fill="hold"/>
                                        <p:tgtEl>
                                          <p:spTgt spid="23"/>
                                        </p:tgtEl>
                                        <p:attrNameLst>
                                          <p:attrName>ppt_x</p:attrName>
                                        </p:attrNameLst>
                                      </p:cBhvr>
                                      <p:tavLst>
                                        <p:tav tm="0">
                                          <p:val>
                                            <p:strVal val="#ppt_x"/>
                                          </p:val>
                                        </p:tav>
                                        <p:tav tm="100000">
                                          <p:val>
                                            <p:strVal val="#ppt_x"/>
                                          </p:val>
                                        </p:tav>
                                      </p:tavLst>
                                    </p:anim>
                                    <p:anim calcmode="lin" valueType="num">
                                      <p:cBhvr>
                                        <p:cTn id="37" dur="1000" fill="hold"/>
                                        <p:tgtEl>
                                          <p:spTgt spid="23"/>
                                        </p:tgtEl>
                                        <p:attrNameLst>
                                          <p:attrName>ppt_y</p:attrName>
                                        </p:attrNameLst>
                                      </p:cBhvr>
                                      <p:tavLst>
                                        <p:tav tm="0">
                                          <p:val>
                                            <p:strVal val="#ppt_y-.1"/>
                                          </p:val>
                                        </p:tav>
                                        <p:tav tm="100000">
                                          <p:val>
                                            <p:strVal val="#ppt_y"/>
                                          </p:val>
                                        </p:tav>
                                      </p:tavLst>
                                    </p:anim>
                                  </p:childTnLst>
                                </p:cTn>
                              </p:par>
                              <p:par>
                                <p:cTn id="38" presetID="53" presetClass="entr" presetSubtype="16" fill="hold" grpId="0" nodeType="withEffect">
                                  <p:stCondLst>
                                    <p:cond delay="1000"/>
                                  </p:stCondLst>
                                  <p:iterate type="lt">
                                    <p:tmPct val="10000"/>
                                  </p:iterate>
                                  <p:childTnLst>
                                    <p:set>
                                      <p:cBhvr>
                                        <p:cTn id="39" dur="1" fill="hold">
                                          <p:stCondLst>
                                            <p:cond delay="0"/>
                                          </p:stCondLst>
                                        </p:cTn>
                                        <p:tgtEl>
                                          <p:spTgt spid="15">
                                            <p:txEl>
                                              <p:pRg st="0" end="0"/>
                                            </p:txEl>
                                          </p:spTgt>
                                        </p:tgtEl>
                                        <p:attrNameLst>
                                          <p:attrName>style.visibility</p:attrName>
                                        </p:attrNameLst>
                                      </p:cBhvr>
                                      <p:to>
                                        <p:strVal val="visible"/>
                                      </p:to>
                                    </p:set>
                                    <p:anim calcmode="lin" valueType="num">
                                      <p:cBhvr>
                                        <p:cTn id="40" dur="1000" fill="hold"/>
                                        <p:tgtEl>
                                          <p:spTgt spid="15">
                                            <p:txEl>
                                              <p:pRg st="0" end="0"/>
                                            </p:txEl>
                                          </p:spTgt>
                                        </p:tgtEl>
                                        <p:attrNameLst>
                                          <p:attrName>ppt_w</p:attrName>
                                        </p:attrNameLst>
                                      </p:cBhvr>
                                      <p:tavLst>
                                        <p:tav tm="0">
                                          <p:val>
                                            <p:fltVal val="0"/>
                                          </p:val>
                                        </p:tav>
                                        <p:tav tm="100000">
                                          <p:val>
                                            <p:strVal val="#ppt_w"/>
                                          </p:val>
                                        </p:tav>
                                      </p:tavLst>
                                    </p:anim>
                                    <p:anim calcmode="lin" valueType="num">
                                      <p:cBhvr>
                                        <p:cTn id="41" dur="1000" fill="hold"/>
                                        <p:tgtEl>
                                          <p:spTgt spid="15">
                                            <p:txEl>
                                              <p:pRg st="0" end="0"/>
                                            </p:txEl>
                                          </p:spTgt>
                                        </p:tgtEl>
                                        <p:attrNameLst>
                                          <p:attrName>ppt_h</p:attrName>
                                        </p:attrNameLst>
                                      </p:cBhvr>
                                      <p:tavLst>
                                        <p:tav tm="0">
                                          <p:val>
                                            <p:fltVal val="0"/>
                                          </p:val>
                                        </p:tav>
                                        <p:tav tm="100000">
                                          <p:val>
                                            <p:strVal val="#ppt_h"/>
                                          </p:val>
                                        </p:tav>
                                      </p:tavLst>
                                    </p:anim>
                                    <p:animEffect transition="in" filter="fade">
                                      <p:cBhvr>
                                        <p:cTn id="42" dur="1000"/>
                                        <p:tgtEl>
                                          <p:spTgt spid="15">
                                            <p:txEl>
                                              <p:pRg st="0" end="0"/>
                                            </p:txEl>
                                          </p:spTgt>
                                        </p:tgtEl>
                                      </p:cBhvr>
                                    </p:animEffect>
                                  </p:childTnLst>
                                </p:cTn>
                              </p:par>
                              <p:par>
                                <p:cTn id="43" presetID="2" presetClass="entr" presetSubtype="1" fill="hold" grpId="0" nodeType="withEffect">
                                  <p:stCondLst>
                                    <p:cond delay="0"/>
                                  </p:stCondLst>
                                  <p:childTnLst>
                                    <p:set>
                                      <p:cBhvr>
                                        <p:cTn id="44" dur="1" fill="hold">
                                          <p:stCondLst>
                                            <p:cond delay="0"/>
                                          </p:stCondLst>
                                        </p:cTn>
                                        <p:tgtEl>
                                          <p:spTgt spid="60"/>
                                        </p:tgtEl>
                                        <p:attrNameLst>
                                          <p:attrName>style.visibility</p:attrName>
                                        </p:attrNameLst>
                                      </p:cBhvr>
                                      <p:to>
                                        <p:strVal val="visible"/>
                                      </p:to>
                                    </p:set>
                                    <p:anim calcmode="lin" valueType="num">
                                      <p:cBhvr additive="base">
                                        <p:cTn id="45" dur="750" fill="hold"/>
                                        <p:tgtEl>
                                          <p:spTgt spid="60"/>
                                        </p:tgtEl>
                                        <p:attrNameLst>
                                          <p:attrName>ppt_x</p:attrName>
                                        </p:attrNameLst>
                                      </p:cBhvr>
                                      <p:tavLst>
                                        <p:tav tm="0">
                                          <p:val>
                                            <p:strVal val="#ppt_x"/>
                                          </p:val>
                                        </p:tav>
                                        <p:tav tm="100000">
                                          <p:val>
                                            <p:strVal val="#ppt_x"/>
                                          </p:val>
                                        </p:tav>
                                      </p:tavLst>
                                    </p:anim>
                                    <p:anim calcmode="lin" valueType="num">
                                      <p:cBhvr additive="base">
                                        <p:cTn id="46" dur="750" fill="hold"/>
                                        <p:tgtEl>
                                          <p:spTgt spid="60"/>
                                        </p:tgtEl>
                                        <p:attrNameLst>
                                          <p:attrName>ppt_y</p:attrName>
                                        </p:attrNameLst>
                                      </p:cBhvr>
                                      <p:tavLst>
                                        <p:tav tm="0">
                                          <p:val>
                                            <p:strVal val="0-#ppt_h/2"/>
                                          </p:val>
                                        </p:tav>
                                        <p:tav tm="100000">
                                          <p:val>
                                            <p:strVal val="#ppt_y"/>
                                          </p:val>
                                        </p:tav>
                                      </p:tavLst>
                                    </p:anim>
                                  </p:childTnLst>
                                </p:cTn>
                              </p:par>
                              <p:par>
                                <p:cTn id="47" presetID="2" presetClass="entr" presetSubtype="1" fill="hold" grpId="0" nodeType="withEffect">
                                  <p:stCondLst>
                                    <p:cond delay="250"/>
                                  </p:stCondLst>
                                  <p:childTnLst>
                                    <p:set>
                                      <p:cBhvr>
                                        <p:cTn id="48" dur="1" fill="hold">
                                          <p:stCondLst>
                                            <p:cond delay="0"/>
                                          </p:stCondLst>
                                        </p:cTn>
                                        <p:tgtEl>
                                          <p:spTgt spid="61"/>
                                        </p:tgtEl>
                                        <p:attrNameLst>
                                          <p:attrName>style.visibility</p:attrName>
                                        </p:attrNameLst>
                                      </p:cBhvr>
                                      <p:to>
                                        <p:strVal val="visible"/>
                                      </p:to>
                                    </p:set>
                                    <p:anim calcmode="lin" valueType="num">
                                      <p:cBhvr additive="base">
                                        <p:cTn id="49" dur="750" fill="hold"/>
                                        <p:tgtEl>
                                          <p:spTgt spid="61"/>
                                        </p:tgtEl>
                                        <p:attrNameLst>
                                          <p:attrName>ppt_x</p:attrName>
                                        </p:attrNameLst>
                                      </p:cBhvr>
                                      <p:tavLst>
                                        <p:tav tm="0">
                                          <p:val>
                                            <p:strVal val="#ppt_x"/>
                                          </p:val>
                                        </p:tav>
                                        <p:tav tm="100000">
                                          <p:val>
                                            <p:strVal val="#ppt_x"/>
                                          </p:val>
                                        </p:tav>
                                      </p:tavLst>
                                    </p:anim>
                                    <p:anim calcmode="lin" valueType="num">
                                      <p:cBhvr additive="base">
                                        <p:cTn id="50" dur="750" fill="hold"/>
                                        <p:tgtEl>
                                          <p:spTgt spid="61"/>
                                        </p:tgtEl>
                                        <p:attrNameLst>
                                          <p:attrName>ppt_y</p:attrName>
                                        </p:attrNameLst>
                                      </p:cBhvr>
                                      <p:tavLst>
                                        <p:tav tm="0">
                                          <p:val>
                                            <p:strVal val="0-#ppt_h/2"/>
                                          </p:val>
                                        </p:tav>
                                        <p:tav tm="100000">
                                          <p:val>
                                            <p:strVal val="#ppt_y"/>
                                          </p:val>
                                        </p:tav>
                                      </p:tavLst>
                                    </p:anim>
                                  </p:childTnLst>
                                </p:cTn>
                              </p:par>
                              <p:par>
                                <p:cTn id="51" presetID="2" presetClass="entr" presetSubtype="1" fill="hold" grpId="0" nodeType="withEffect">
                                  <p:stCondLst>
                                    <p:cond delay="500"/>
                                  </p:stCondLst>
                                  <p:childTnLst>
                                    <p:set>
                                      <p:cBhvr>
                                        <p:cTn id="52" dur="1" fill="hold">
                                          <p:stCondLst>
                                            <p:cond delay="0"/>
                                          </p:stCondLst>
                                        </p:cTn>
                                        <p:tgtEl>
                                          <p:spTgt spid="62"/>
                                        </p:tgtEl>
                                        <p:attrNameLst>
                                          <p:attrName>style.visibility</p:attrName>
                                        </p:attrNameLst>
                                      </p:cBhvr>
                                      <p:to>
                                        <p:strVal val="visible"/>
                                      </p:to>
                                    </p:set>
                                    <p:anim calcmode="lin" valueType="num">
                                      <p:cBhvr additive="base">
                                        <p:cTn id="53" dur="750" fill="hold"/>
                                        <p:tgtEl>
                                          <p:spTgt spid="62"/>
                                        </p:tgtEl>
                                        <p:attrNameLst>
                                          <p:attrName>ppt_x</p:attrName>
                                        </p:attrNameLst>
                                      </p:cBhvr>
                                      <p:tavLst>
                                        <p:tav tm="0">
                                          <p:val>
                                            <p:strVal val="#ppt_x"/>
                                          </p:val>
                                        </p:tav>
                                        <p:tav tm="100000">
                                          <p:val>
                                            <p:strVal val="#ppt_x"/>
                                          </p:val>
                                        </p:tav>
                                      </p:tavLst>
                                    </p:anim>
                                    <p:anim calcmode="lin" valueType="num">
                                      <p:cBhvr additive="base">
                                        <p:cTn id="54" dur="750" fill="hold"/>
                                        <p:tgtEl>
                                          <p:spTgt spid="62"/>
                                        </p:tgtEl>
                                        <p:attrNameLst>
                                          <p:attrName>ppt_y</p:attrName>
                                        </p:attrNameLst>
                                      </p:cBhvr>
                                      <p:tavLst>
                                        <p:tav tm="0">
                                          <p:val>
                                            <p:strVal val="0-#ppt_h/2"/>
                                          </p:val>
                                        </p:tav>
                                        <p:tav tm="100000">
                                          <p:val>
                                            <p:strVal val="#ppt_y"/>
                                          </p:val>
                                        </p:tav>
                                      </p:tavLst>
                                    </p:anim>
                                  </p:childTnLst>
                                </p:cTn>
                              </p:par>
                              <p:par>
                                <p:cTn id="55" presetID="2" presetClass="entr" presetSubtype="1" fill="hold" grpId="0" nodeType="withEffect">
                                  <p:stCondLst>
                                    <p:cond delay="750"/>
                                  </p:stCondLst>
                                  <p:childTnLst>
                                    <p:set>
                                      <p:cBhvr>
                                        <p:cTn id="56" dur="1" fill="hold">
                                          <p:stCondLst>
                                            <p:cond delay="0"/>
                                          </p:stCondLst>
                                        </p:cTn>
                                        <p:tgtEl>
                                          <p:spTgt spid="63"/>
                                        </p:tgtEl>
                                        <p:attrNameLst>
                                          <p:attrName>style.visibility</p:attrName>
                                        </p:attrNameLst>
                                      </p:cBhvr>
                                      <p:to>
                                        <p:strVal val="visible"/>
                                      </p:to>
                                    </p:set>
                                    <p:anim calcmode="lin" valueType="num">
                                      <p:cBhvr additive="base">
                                        <p:cTn id="57" dur="750" fill="hold"/>
                                        <p:tgtEl>
                                          <p:spTgt spid="63"/>
                                        </p:tgtEl>
                                        <p:attrNameLst>
                                          <p:attrName>ppt_x</p:attrName>
                                        </p:attrNameLst>
                                      </p:cBhvr>
                                      <p:tavLst>
                                        <p:tav tm="0">
                                          <p:val>
                                            <p:strVal val="#ppt_x"/>
                                          </p:val>
                                        </p:tav>
                                        <p:tav tm="100000">
                                          <p:val>
                                            <p:strVal val="#ppt_x"/>
                                          </p:val>
                                        </p:tav>
                                      </p:tavLst>
                                    </p:anim>
                                    <p:anim calcmode="lin" valueType="num">
                                      <p:cBhvr additive="base">
                                        <p:cTn id="58" dur="750" fill="hold"/>
                                        <p:tgtEl>
                                          <p:spTgt spid="63"/>
                                        </p:tgtEl>
                                        <p:attrNameLst>
                                          <p:attrName>ppt_y</p:attrName>
                                        </p:attrNameLst>
                                      </p:cBhvr>
                                      <p:tavLst>
                                        <p:tav tm="0">
                                          <p:val>
                                            <p:strVal val="0-#ppt_h/2"/>
                                          </p:val>
                                        </p:tav>
                                        <p:tav tm="100000">
                                          <p:val>
                                            <p:strVal val="#ppt_y"/>
                                          </p:val>
                                        </p:tav>
                                      </p:tavLst>
                                    </p:anim>
                                  </p:childTnLst>
                                </p:cTn>
                              </p:par>
                              <p:par>
                                <p:cTn id="59" presetID="2" presetClass="entr" presetSubtype="1" fill="hold" grpId="0" nodeType="withEffect">
                                  <p:stCondLst>
                                    <p:cond delay="1000"/>
                                  </p:stCondLst>
                                  <p:childTnLst>
                                    <p:set>
                                      <p:cBhvr>
                                        <p:cTn id="60" dur="1" fill="hold">
                                          <p:stCondLst>
                                            <p:cond delay="0"/>
                                          </p:stCondLst>
                                        </p:cTn>
                                        <p:tgtEl>
                                          <p:spTgt spid="64"/>
                                        </p:tgtEl>
                                        <p:attrNameLst>
                                          <p:attrName>style.visibility</p:attrName>
                                        </p:attrNameLst>
                                      </p:cBhvr>
                                      <p:to>
                                        <p:strVal val="visible"/>
                                      </p:to>
                                    </p:set>
                                    <p:anim calcmode="lin" valueType="num">
                                      <p:cBhvr additive="base">
                                        <p:cTn id="61" dur="750" fill="hold"/>
                                        <p:tgtEl>
                                          <p:spTgt spid="64"/>
                                        </p:tgtEl>
                                        <p:attrNameLst>
                                          <p:attrName>ppt_x</p:attrName>
                                        </p:attrNameLst>
                                      </p:cBhvr>
                                      <p:tavLst>
                                        <p:tav tm="0">
                                          <p:val>
                                            <p:strVal val="#ppt_x"/>
                                          </p:val>
                                        </p:tav>
                                        <p:tav tm="100000">
                                          <p:val>
                                            <p:strVal val="#ppt_x"/>
                                          </p:val>
                                        </p:tav>
                                      </p:tavLst>
                                    </p:anim>
                                    <p:anim calcmode="lin" valueType="num">
                                      <p:cBhvr additive="base">
                                        <p:cTn id="62" dur="750" fill="hold"/>
                                        <p:tgtEl>
                                          <p:spTgt spid="64"/>
                                        </p:tgtEl>
                                        <p:attrNameLst>
                                          <p:attrName>ppt_y</p:attrName>
                                        </p:attrNameLst>
                                      </p:cBhvr>
                                      <p:tavLst>
                                        <p:tav tm="0">
                                          <p:val>
                                            <p:strVal val="0-#ppt_h/2"/>
                                          </p:val>
                                        </p:tav>
                                        <p:tav tm="100000">
                                          <p:val>
                                            <p:strVal val="#ppt_y"/>
                                          </p:val>
                                        </p:tav>
                                      </p:tavLst>
                                    </p:anim>
                                  </p:childTnLst>
                                </p:cTn>
                              </p:par>
                              <p:par>
                                <p:cTn id="63" presetID="10" presetClass="entr" presetSubtype="0" fill="hold" nodeType="withEffect">
                                  <p:stCondLst>
                                    <p:cond delay="3000"/>
                                  </p:stCondLst>
                                  <p:childTnLst>
                                    <p:set>
                                      <p:cBhvr>
                                        <p:cTn id="64" dur="1" fill="hold">
                                          <p:stCondLst>
                                            <p:cond delay="0"/>
                                          </p:stCondLst>
                                        </p:cTn>
                                        <p:tgtEl>
                                          <p:spTgt spid="39"/>
                                        </p:tgtEl>
                                        <p:attrNameLst>
                                          <p:attrName>style.visibility</p:attrName>
                                        </p:attrNameLst>
                                      </p:cBhvr>
                                      <p:to>
                                        <p:strVal val="visible"/>
                                      </p:to>
                                    </p:set>
                                    <p:animEffect transition="in" filter="fade">
                                      <p:cBhvr>
                                        <p:cTn id="65" dur="500"/>
                                        <p:tgtEl>
                                          <p:spTgt spid="39"/>
                                        </p:tgtEl>
                                      </p:cBhvr>
                                    </p:animEffect>
                                  </p:childTnLst>
                                </p:cTn>
                              </p:par>
                              <p:par>
                                <p:cTn id="66" presetID="42" presetClass="path" presetSubtype="0" repeatCount="indefinite" accel="50000" decel="50000" autoRev="1" fill="hold" nodeType="withEffect">
                                  <p:stCondLst>
                                    <p:cond delay="3250"/>
                                  </p:stCondLst>
                                  <p:childTnLst>
                                    <p:animMotion origin="layout" path="M 2.77778E-6 -2.22222E-6 L 0.06614 0.00334 " pathEditMode="relative" rAng="0" ptsTypes="AA">
                                      <p:cBhvr>
                                        <p:cTn id="67" dur="750" fill="hold"/>
                                        <p:tgtEl>
                                          <p:spTgt spid="39"/>
                                        </p:tgtEl>
                                        <p:attrNameLst>
                                          <p:attrName>ppt_x</p:attrName>
                                          <p:attrName>ppt_y</p:attrName>
                                        </p:attrNameLst>
                                      </p:cBhvr>
                                      <p:rCtr x="3299" y="16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5" grpId="0" build="p"/>
      <p:bldP spid="10" grpId="0"/>
      <p:bldP spid="23" grpId="0" animBg="1"/>
      <p:bldP spid="45" grpId="0" animBg="1"/>
      <p:bldP spid="2" grpId="0"/>
      <p:bldP spid="60" grpId="0" animBg="1"/>
      <p:bldP spid="61" grpId="0" animBg="1"/>
      <p:bldP spid="62" grpId="0" animBg="1"/>
      <p:bldP spid="63" grpId="0" animBg="1"/>
      <p:bldP spid="6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6" name="任意多边形: 形状 15"/>
          <p:cNvSpPr/>
          <p:nvPr/>
        </p:nvSpPr>
        <p:spPr>
          <a:xfrm rot="5400000">
            <a:off x="3243341" y="2513603"/>
            <a:ext cx="1484584" cy="824768"/>
          </a:xfrm>
          <a:custGeom>
            <a:avLst/>
            <a:gdLst>
              <a:gd name="connsiteX0" fmla="*/ 0 w 1626989"/>
              <a:gd name="connsiteY0" fmla="*/ 0 h 903882"/>
              <a:gd name="connsiteX1" fmla="*/ 1626989 w 1626989"/>
              <a:gd name="connsiteY1" fmla="*/ 0 h 903882"/>
              <a:gd name="connsiteX2" fmla="*/ 1626989 w 1626989"/>
              <a:gd name="connsiteY2" fmla="*/ 903882 h 903882"/>
              <a:gd name="connsiteX3" fmla="*/ 0 w 1626989"/>
              <a:gd name="connsiteY3" fmla="*/ 903882 h 903882"/>
              <a:gd name="connsiteX4" fmla="*/ 0 w 1626989"/>
              <a:gd name="connsiteY4" fmla="*/ 0 h 903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6989" h="903882">
                <a:moveTo>
                  <a:pt x="0" y="0"/>
                </a:moveTo>
                <a:lnTo>
                  <a:pt x="1626989" y="0"/>
                </a:lnTo>
                <a:lnTo>
                  <a:pt x="1626989" y="903882"/>
                </a:lnTo>
                <a:lnTo>
                  <a:pt x="0" y="90388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25730" tIns="125730" rIns="125730" bIns="125730" numCol="1" spcCol="1270" anchor="ctr" anchorCtr="0">
            <a:noAutofit/>
          </a:bodyPr>
          <a:lstStyle/>
          <a:p>
            <a:pPr marL="0" lvl="0" indent="0" algn="r" defTabSz="1466850">
              <a:lnSpc>
                <a:spcPct val="90000"/>
              </a:lnSpc>
              <a:spcBef>
                <a:spcPct val="0"/>
              </a:spcBef>
              <a:spcAft>
                <a:spcPct val="35000"/>
              </a:spcAft>
              <a:buNone/>
            </a:pPr>
            <a:endParaRPr lang="zh-CN" altLang="en-US" sz="3300" kern="1200"/>
          </a:p>
        </p:txBody>
      </p:sp>
      <p:sp>
        <p:nvSpPr>
          <p:cNvPr id="57" name="椭圆 56"/>
          <p:cNvSpPr/>
          <p:nvPr/>
        </p:nvSpPr>
        <p:spPr>
          <a:xfrm>
            <a:off x="2123864" y="575501"/>
            <a:ext cx="4972236" cy="4972236"/>
          </a:xfrm>
          <a:prstGeom prst="ellipse">
            <a:avLst/>
          </a:prstGeom>
          <a:noFill/>
          <a:ln w="3175">
            <a:solidFill>
              <a:schemeClr val="tx2">
                <a:lumMod val="20000"/>
                <a:lumOff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2499547" y="952261"/>
            <a:ext cx="4218716" cy="4218716"/>
          </a:xfrm>
          <a:prstGeom prst="ellipse">
            <a:avLst/>
          </a:prstGeom>
          <a:noFill/>
          <a:ln w="3175">
            <a:solidFill>
              <a:schemeClr val="tx2">
                <a:lumMod val="40000"/>
                <a:lumOff val="6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3309887" y="1762994"/>
            <a:ext cx="2597250" cy="2597250"/>
          </a:xfrm>
          <a:prstGeom prst="ellipse">
            <a:avLst/>
          </a:prstGeom>
          <a:noFill/>
          <a:ln w="3175">
            <a:solidFill>
              <a:schemeClr val="tx2">
                <a:lumMod val="40000"/>
                <a:lumOff val="6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不完整圆 60"/>
          <p:cNvSpPr/>
          <p:nvPr/>
        </p:nvSpPr>
        <p:spPr>
          <a:xfrm rot="16912126">
            <a:off x="2137337" y="575501"/>
            <a:ext cx="4926039" cy="4926039"/>
          </a:xfrm>
          <a:prstGeom prst="pie">
            <a:avLst>
              <a:gd name="adj1" fmla="val 15021101"/>
              <a:gd name="adj2" fmla="val 16200000"/>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2" name="不完整圆 61"/>
          <p:cNvSpPr/>
          <p:nvPr/>
        </p:nvSpPr>
        <p:spPr>
          <a:xfrm rot="3212849">
            <a:off x="2183585" y="582560"/>
            <a:ext cx="4926039" cy="4926039"/>
          </a:xfrm>
          <a:prstGeom prst="pie">
            <a:avLst>
              <a:gd name="adj1" fmla="val 15021101"/>
              <a:gd name="adj2" fmla="val 16200000"/>
            </a:avLst>
          </a:prstGeom>
          <a:solidFill>
            <a:schemeClr val="tx1">
              <a:lumMod val="50000"/>
              <a:lumOff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64" name="直接连接符 63"/>
          <p:cNvCxnSpPr>
            <a:cxnSpLocks/>
          </p:cNvCxnSpPr>
          <p:nvPr/>
        </p:nvCxnSpPr>
        <p:spPr>
          <a:xfrm rot="20700000" flipV="1">
            <a:off x="2137337" y="2743199"/>
            <a:ext cx="4926039" cy="673769"/>
          </a:xfrm>
          <a:prstGeom prst="line">
            <a:avLst/>
          </a:prstGeom>
          <a:ln>
            <a:solidFill>
              <a:schemeClr val="tx2">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5" name="直接连接符 64"/>
          <p:cNvCxnSpPr>
            <a:cxnSpLocks/>
          </p:cNvCxnSpPr>
          <p:nvPr/>
        </p:nvCxnSpPr>
        <p:spPr>
          <a:xfrm rot="2700000" flipV="1">
            <a:off x="2152912" y="2736472"/>
            <a:ext cx="4926039" cy="673769"/>
          </a:xfrm>
          <a:prstGeom prst="line">
            <a:avLst/>
          </a:prstGeom>
          <a:ln>
            <a:solidFill>
              <a:schemeClr val="tx2">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75" name="椭圆 74"/>
          <p:cNvSpPr/>
          <p:nvPr/>
        </p:nvSpPr>
        <p:spPr>
          <a:xfrm>
            <a:off x="3173227" y="1897796"/>
            <a:ext cx="712222" cy="71222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rPr>
              <a:t>1</a:t>
            </a:r>
            <a:endParaRPr lang="zh-CN" altLang="en-US" sz="3200" b="1" dirty="0">
              <a:solidFill>
                <a:schemeClr val="bg1"/>
              </a:solidFill>
            </a:endParaRPr>
          </a:p>
        </p:txBody>
      </p:sp>
      <p:sp>
        <p:nvSpPr>
          <p:cNvPr id="77" name="椭圆 76"/>
          <p:cNvSpPr/>
          <p:nvPr/>
        </p:nvSpPr>
        <p:spPr>
          <a:xfrm>
            <a:off x="6214589" y="1879022"/>
            <a:ext cx="712222" cy="71222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rPr>
              <a:t>3</a:t>
            </a:r>
            <a:endParaRPr lang="zh-CN" altLang="en-US" sz="3200" b="1" dirty="0">
              <a:solidFill>
                <a:schemeClr val="bg1"/>
              </a:solidFill>
            </a:endParaRPr>
          </a:p>
        </p:txBody>
      </p:sp>
      <p:sp>
        <p:nvSpPr>
          <p:cNvPr id="79" name="椭圆 78"/>
          <p:cNvSpPr/>
          <p:nvPr/>
        </p:nvSpPr>
        <p:spPr>
          <a:xfrm>
            <a:off x="5294518" y="3537336"/>
            <a:ext cx="712222" cy="712222"/>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rPr>
              <a:t>2</a:t>
            </a:r>
            <a:endParaRPr lang="zh-CN" altLang="en-US" sz="3200" b="1" dirty="0">
              <a:solidFill>
                <a:schemeClr val="bg1"/>
              </a:solidFill>
            </a:endParaRPr>
          </a:p>
        </p:txBody>
      </p:sp>
      <p:sp>
        <p:nvSpPr>
          <p:cNvPr id="80" name="矩形 79"/>
          <p:cNvSpPr/>
          <p:nvPr/>
        </p:nvSpPr>
        <p:spPr>
          <a:xfrm>
            <a:off x="1094626" y="2000372"/>
            <a:ext cx="2031325" cy="461665"/>
          </a:xfrm>
          <a:prstGeom prst="rect">
            <a:avLst/>
          </a:prstGeom>
        </p:spPr>
        <p:txBody>
          <a:bodyPr wrap="none">
            <a:spAutoFit/>
          </a:bodyPr>
          <a:lstStyle/>
          <a:p>
            <a:pPr algn="ctr"/>
            <a:r>
              <a:rPr lang="zh-CN" altLang="en-US" sz="2400" dirty="0">
                <a:ln w="22225">
                  <a:noFill/>
                  <a:prstDash val="solid"/>
                </a:ln>
                <a:solidFill>
                  <a:schemeClr val="tx1">
                    <a:lumMod val="65000"/>
                    <a:lumOff val="35000"/>
                  </a:schemeClr>
                </a:solidFill>
                <a:latin typeface="+mj-ea"/>
                <a:ea typeface="+mj-ea"/>
              </a:rPr>
              <a:t>提升客户体验</a:t>
            </a:r>
            <a:endParaRPr lang="en-US" altLang="zh-CN" sz="2400" dirty="0">
              <a:ln w="22225">
                <a:noFill/>
                <a:prstDash val="solid"/>
              </a:ln>
              <a:solidFill>
                <a:schemeClr val="tx1">
                  <a:lumMod val="65000"/>
                  <a:lumOff val="35000"/>
                </a:schemeClr>
              </a:solidFill>
              <a:latin typeface="+mj-ea"/>
              <a:ea typeface="+mj-ea"/>
            </a:endParaRPr>
          </a:p>
        </p:txBody>
      </p:sp>
      <p:sp>
        <p:nvSpPr>
          <p:cNvPr id="81" name="椭圆 80"/>
          <p:cNvSpPr/>
          <p:nvPr/>
        </p:nvSpPr>
        <p:spPr>
          <a:xfrm>
            <a:off x="2323811" y="3537336"/>
            <a:ext cx="712222" cy="712222"/>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rPr>
              <a:t>4</a:t>
            </a:r>
            <a:endParaRPr lang="zh-CN" altLang="en-US" sz="3200" b="1" dirty="0">
              <a:solidFill>
                <a:schemeClr val="bg1"/>
              </a:solidFill>
            </a:endParaRPr>
          </a:p>
        </p:txBody>
      </p:sp>
      <p:grpSp>
        <p:nvGrpSpPr>
          <p:cNvPr id="6" name="组合 5"/>
          <p:cNvGrpSpPr/>
          <p:nvPr/>
        </p:nvGrpSpPr>
        <p:grpSpPr>
          <a:xfrm>
            <a:off x="4083121" y="2558688"/>
            <a:ext cx="1039786" cy="1030853"/>
            <a:chOff x="4083121" y="2558688"/>
            <a:chExt cx="1039786" cy="1030853"/>
          </a:xfrm>
        </p:grpSpPr>
        <p:grpSp>
          <p:nvGrpSpPr>
            <p:cNvPr id="5" name="组合 4"/>
            <p:cNvGrpSpPr/>
            <p:nvPr/>
          </p:nvGrpSpPr>
          <p:grpSpPr>
            <a:xfrm>
              <a:off x="4156911" y="2610018"/>
              <a:ext cx="903202" cy="903202"/>
              <a:chOff x="4156911" y="2610018"/>
              <a:chExt cx="903202" cy="903202"/>
            </a:xfrm>
          </p:grpSpPr>
          <p:sp>
            <p:nvSpPr>
              <p:cNvPr id="60" name="椭圆 59"/>
              <p:cNvSpPr/>
              <p:nvPr/>
            </p:nvSpPr>
            <p:spPr>
              <a:xfrm>
                <a:off x="4156911" y="2610018"/>
                <a:ext cx="903202" cy="903202"/>
              </a:xfrm>
              <a:prstGeom prst="ellipse">
                <a:avLst/>
              </a:prstGeom>
              <a:noFill/>
              <a:ln w="3175">
                <a:solidFill>
                  <a:schemeClr val="tx2">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4510804" y="2972066"/>
                <a:ext cx="179106" cy="179106"/>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p:cNvGrpSpPr/>
            <p:nvPr/>
          </p:nvGrpSpPr>
          <p:grpSpPr>
            <a:xfrm>
              <a:off x="4083121" y="2558688"/>
              <a:ext cx="1039786" cy="1030853"/>
              <a:chOff x="4083121" y="2558688"/>
              <a:chExt cx="1039786" cy="1030853"/>
            </a:xfrm>
          </p:grpSpPr>
          <p:grpSp>
            <p:nvGrpSpPr>
              <p:cNvPr id="3" name="组合 2"/>
              <p:cNvGrpSpPr/>
              <p:nvPr/>
            </p:nvGrpSpPr>
            <p:grpSpPr>
              <a:xfrm>
                <a:off x="4083121" y="2558688"/>
                <a:ext cx="1039786" cy="1029193"/>
                <a:chOff x="4083121" y="2558688"/>
                <a:chExt cx="1039786" cy="1029193"/>
              </a:xfrm>
            </p:grpSpPr>
            <p:grpSp>
              <p:nvGrpSpPr>
                <p:cNvPr id="69" name="组合 68"/>
                <p:cNvGrpSpPr/>
                <p:nvPr/>
              </p:nvGrpSpPr>
              <p:grpSpPr>
                <a:xfrm rot="1800000">
                  <a:off x="4095688" y="2704570"/>
                  <a:ext cx="1025647" cy="728730"/>
                  <a:chOff x="4095891" y="2465332"/>
                  <a:chExt cx="1025647" cy="728730"/>
                </a:xfrm>
                <a:solidFill>
                  <a:schemeClr val="tx2"/>
                </a:solidFill>
              </p:grpSpPr>
              <p:sp>
                <p:nvSpPr>
                  <p:cNvPr id="70" name="矩形: 圆角 69"/>
                  <p:cNvSpPr/>
                  <p:nvPr/>
                </p:nvSpPr>
                <p:spPr>
                  <a:xfrm rot="18660418">
                    <a:off x="4141601" y="2419622"/>
                    <a:ext cx="45719" cy="137139"/>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圆角 70"/>
                  <p:cNvSpPr/>
                  <p:nvPr/>
                </p:nvSpPr>
                <p:spPr>
                  <a:xfrm rot="18660418">
                    <a:off x="5030109" y="3102633"/>
                    <a:ext cx="45719" cy="137139"/>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2" name="组合 71"/>
                <p:cNvGrpSpPr/>
                <p:nvPr/>
              </p:nvGrpSpPr>
              <p:grpSpPr>
                <a:xfrm rot="3600000">
                  <a:off x="4095688" y="2710693"/>
                  <a:ext cx="1025647" cy="728730"/>
                  <a:chOff x="4095891" y="2465332"/>
                  <a:chExt cx="1025647" cy="728730"/>
                </a:xfrm>
                <a:solidFill>
                  <a:schemeClr val="tx2"/>
                </a:solidFill>
              </p:grpSpPr>
              <p:sp>
                <p:nvSpPr>
                  <p:cNvPr id="73" name="矩形: 圆角 72"/>
                  <p:cNvSpPr/>
                  <p:nvPr/>
                </p:nvSpPr>
                <p:spPr>
                  <a:xfrm rot="18660418">
                    <a:off x="4141601" y="2419622"/>
                    <a:ext cx="45719" cy="137139"/>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圆角 73"/>
                  <p:cNvSpPr/>
                  <p:nvPr/>
                </p:nvSpPr>
                <p:spPr>
                  <a:xfrm rot="18660418">
                    <a:off x="5030109" y="3102633"/>
                    <a:ext cx="45719" cy="137139"/>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4083121" y="2558688"/>
                  <a:ext cx="1039786" cy="1025647"/>
                  <a:chOff x="4083121" y="2558688"/>
                  <a:chExt cx="1039786" cy="1025647"/>
                </a:xfrm>
              </p:grpSpPr>
              <p:grpSp>
                <p:nvGrpSpPr>
                  <p:cNvPr id="68" name="组合 67"/>
                  <p:cNvGrpSpPr/>
                  <p:nvPr/>
                </p:nvGrpSpPr>
                <p:grpSpPr>
                  <a:xfrm>
                    <a:off x="4097260" y="2705963"/>
                    <a:ext cx="1025647" cy="728730"/>
                    <a:chOff x="4095891" y="2465332"/>
                    <a:chExt cx="1025647" cy="728730"/>
                  </a:xfrm>
                  <a:solidFill>
                    <a:schemeClr val="accent2">
                      <a:lumMod val="60000"/>
                      <a:lumOff val="40000"/>
                    </a:schemeClr>
                  </a:solidFill>
                </p:grpSpPr>
                <p:sp>
                  <p:nvSpPr>
                    <p:cNvPr id="66" name="矩形: 圆角 65"/>
                    <p:cNvSpPr/>
                    <p:nvPr/>
                  </p:nvSpPr>
                  <p:spPr>
                    <a:xfrm rot="18660418">
                      <a:off x="4141601" y="2419622"/>
                      <a:ext cx="45719" cy="137139"/>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圆角 66"/>
                    <p:cNvSpPr/>
                    <p:nvPr/>
                  </p:nvSpPr>
                  <p:spPr>
                    <a:xfrm rot="18660418">
                      <a:off x="5030109" y="3102633"/>
                      <a:ext cx="45719" cy="137139"/>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2" name="组合 81"/>
                  <p:cNvGrpSpPr/>
                  <p:nvPr/>
                </p:nvGrpSpPr>
                <p:grpSpPr>
                  <a:xfrm rot="5400000">
                    <a:off x="4095689" y="2707147"/>
                    <a:ext cx="1025647" cy="728730"/>
                    <a:chOff x="4095891" y="2465332"/>
                    <a:chExt cx="1025647" cy="728730"/>
                  </a:xfrm>
                  <a:solidFill>
                    <a:schemeClr val="tx2"/>
                  </a:solidFill>
                </p:grpSpPr>
                <p:sp>
                  <p:nvSpPr>
                    <p:cNvPr id="83" name="矩形: 圆角 82"/>
                    <p:cNvSpPr/>
                    <p:nvPr/>
                  </p:nvSpPr>
                  <p:spPr>
                    <a:xfrm rot="18660418">
                      <a:off x="4141601" y="2419622"/>
                      <a:ext cx="45719" cy="137139"/>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圆角 83"/>
                    <p:cNvSpPr/>
                    <p:nvPr/>
                  </p:nvSpPr>
                  <p:spPr>
                    <a:xfrm rot="18660418">
                      <a:off x="5030109" y="3102633"/>
                      <a:ext cx="45719" cy="137139"/>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5" name="组合 84"/>
                  <p:cNvGrpSpPr/>
                  <p:nvPr/>
                </p:nvGrpSpPr>
                <p:grpSpPr>
                  <a:xfrm rot="9000000">
                    <a:off x="4083121" y="2711849"/>
                    <a:ext cx="1025647" cy="728730"/>
                    <a:chOff x="4095891" y="2465332"/>
                    <a:chExt cx="1025647" cy="728730"/>
                  </a:xfrm>
                  <a:solidFill>
                    <a:schemeClr val="tx2"/>
                  </a:solidFill>
                </p:grpSpPr>
                <p:sp>
                  <p:nvSpPr>
                    <p:cNvPr id="86" name="矩形: 圆角 85"/>
                    <p:cNvSpPr/>
                    <p:nvPr/>
                  </p:nvSpPr>
                  <p:spPr>
                    <a:xfrm rot="18660418">
                      <a:off x="4141601" y="2419622"/>
                      <a:ext cx="45719" cy="137139"/>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矩形: 圆角 86"/>
                    <p:cNvSpPr/>
                    <p:nvPr/>
                  </p:nvSpPr>
                  <p:spPr>
                    <a:xfrm rot="18660418">
                      <a:off x="5030109" y="3102633"/>
                      <a:ext cx="45719" cy="137139"/>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grpSp>
            <p:nvGrpSpPr>
              <p:cNvPr id="88" name="组合 87"/>
              <p:cNvGrpSpPr/>
              <p:nvPr/>
            </p:nvGrpSpPr>
            <p:grpSpPr>
              <a:xfrm rot="18000000">
                <a:off x="4103107" y="2712353"/>
                <a:ext cx="1025647" cy="728730"/>
                <a:chOff x="4095891" y="2465332"/>
                <a:chExt cx="1025647" cy="728730"/>
              </a:xfrm>
              <a:solidFill>
                <a:schemeClr val="accent2">
                  <a:lumMod val="60000"/>
                  <a:lumOff val="40000"/>
                </a:schemeClr>
              </a:solidFill>
            </p:grpSpPr>
            <p:sp>
              <p:nvSpPr>
                <p:cNvPr id="89" name="矩形: 圆角 88"/>
                <p:cNvSpPr/>
                <p:nvPr/>
              </p:nvSpPr>
              <p:spPr>
                <a:xfrm rot="18660418">
                  <a:off x="4141601" y="2419622"/>
                  <a:ext cx="45719" cy="137139"/>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矩形: 圆角 89"/>
                <p:cNvSpPr/>
                <p:nvPr/>
              </p:nvSpPr>
              <p:spPr>
                <a:xfrm rot="18660418">
                  <a:off x="5030109" y="3102633"/>
                  <a:ext cx="45719" cy="137139"/>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sp>
        <p:nvSpPr>
          <p:cNvPr id="91" name="矩形 90"/>
          <p:cNvSpPr/>
          <p:nvPr/>
        </p:nvSpPr>
        <p:spPr>
          <a:xfrm>
            <a:off x="6160992" y="3671279"/>
            <a:ext cx="2031325" cy="461665"/>
          </a:xfrm>
          <a:prstGeom prst="rect">
            <a:avLst/>
          </a:prstGeom>
        </p:spPr>
        <p:txBody>
          <a:bodyPr wrap="none">
            <a:spAutoFit/>
          </a:bodyPr>
          <a:lstStyle/>
          <a:p>
            <a:pPr algn="ctr"/>
            <a:r>
              <a:rPr lang="zh-CN" altLang="en-US" sz="2400" dirty="0">
                <a:ln w="22225">
                  <a:noFill/>
                  <a:prstDash val="solid"/>
                </a:ln>
                <a:solidFill>
                  <a:schemeClr val="tx1">
                    <a:lumMod val="65000"/>
                    <a:lumOff val="35000"/>
                  </a:schemeClr>
                </a:solidFill>
                <a:latin typeface="+mj-ea"/>
                <a:ea typeface="+mj-ea"/>
              </a:rPr>
              <a:t>采购成本低廉</a:t>
            </a:r>
            <a:endParaRPr lang="en-US" altLang="zh-CN" sz="2400" dirty="0">
              <a:ln w="22225">
                <a:noFill/>
                <a:prstDash val="solid"/>
              </a:ln>
              <a:solidFill>
                <a:schemeClr val="tx1">
                  <a:lumMod val="65000"/>
                  <a:lumOff val="35000"/>
                </a:schemeClr>
              </a:solidFill>
              <a:latin typeface="+mj-ea"/>
              <a:ea typeface="+mj-ea"/>
            </a:endParaRPr>
          </a:p>
        </p:txBody>
      </p:sp>
      <p:sp>
        <p:nvSpPr>
          <p:cNvPr id="92" name="矩形 91"/>
          <p:cNvSpPr/>
          <p:nvPr/>
        </p:nvSpPr>
        <p:spPr>
          <a:xfrm>
            <a:off x="7012961" y="2005933"/>
            <a:ext cx="2031325" cy="461665"/>
          </a:xfrm>
          <a:prstGeom prst="rect">
            <a:avLst/>
          </a:prstGeom>
        </p:spPr>
        <p:txBody>
          <a:bodyPr wrap="none">
            <a:spAutoFit/>
          </a:bodyPr>
          <a:lstStyle/>
          <a:p>
            <a:pPr algn="ctr"/>
            <a:r>
              <a:rPr lang="zh-CN" altLang="en-US" sz="2400" dirty="0">
                <a:ln w="22225">
                  <a:noFill/>
                  <a:prstDash val="solid"/>
                </a:ln>
                <a:solidFill>
                  <a:schemeClr val="tx1">
                    <a:lumMod val="65000"/>
                    <a:lumOff val="35000"/>
                  </a:schemeClr>
                </a:solidFill>
                <a:latin typeface="+mj-ea"/>
                <a:ea typeface="+mj-ea"/>
              </a:rPr>
              <a:t>系统部署简单</a:t>
            </a:r>
            <a:endParaRPr lang="en-US" altLang="zh-CN" sz="2400" dirty="0">
              <a:ln w="22225">
                <a:noFill/>
                <a:prstDash val="solid"/>
              </a:ln>
              <a:solidFill>
                <a:schemeClr val="tx1">
                  <a:lumMod val="65000"/>
                  <a:lumOff val="35000"/>
                </a:schemeClr>
              </a:solidFill>
              <a:latin typeface="+mj-ea"/>
              <a:ea typeface="+mj-ea"/>
            </a:endParaRPr>
          </a:p>
        </p:txBody>
      </p:sp>
      <p:sp>
        <p:nvSpPr>
          <p:cNvPr id="93" name="文本框 92"/>
          <p:cNvSpPr txBox="1"/>
          <p:nvPr/>
        </p:nvSpPr>
        <p:spPr>
          <a:xfrm>
            <a:off x="245900" y="3702219"/>
            <a:ext cx="2027242" cy="461665"/>
          </a:xfrm>
          <a:prstGeom prst="rect">
            <a:avLst/>
          </a:prstGeom>
          <a:noFill/>
        </p:spPr>
        <p:txBody>
          <a:bodyPr wrap="square" rtlCol="0">
            <a:spAutoFit/>
          </a:bodyPr>
          <a:lstStyle/>
          <a:p>
            <a:pPr algn="ctr"/>
            <a:r>
              <a:rPr lang="zh-CN" altLang="en-US" sz="2400" dirty="0">
                <a:ln w="22225">
                  <a:noFill/>
                  <a:prstDash val="solid"/>
                </a:ln>
                <a:solidFill>
                  <a:schemeClr val="tx1">
                    <a:lumMod val="65000"/>
                    <a:lumOff val="35000"/>
                  </a:schemeClr>
                </a:solidFill>
                <a:latin typeface="+mj-ea"/>
                <a:ea typeface="+mj-ea"/>
              </a:rPr>
              <a:t>提高客服效率</a:t>
            </a:r>
            <a:endParaRPr lang="en-US" altLang="zh-CN" sz="2400" dirty="0">
              <a:ln w="22225">
                <a:noFill/>
                <a:prstDash val="solid"/>
              </a:ln>
              <a:solidFill>
                <a:schemeClr val="tx1">
                  <a:lumMod val="65000"/>
                  <a:lumOff val="35000"/>
                </a:schemeClr>
              </a:solidFill>
              <a:latin typeface="+mj-ea"/>
              <a:ea typeface="+mj-ea"/>
            </a:endParaRPr>
          </a:p>
        </p:txBody>
      </p:sp>
      <p:sp>
        <p:nvSpPr>
          <p:cNvPr id="94" name="文本框 93"/>
          <p:cNvSpPr txBox="1"/>
          <p:nvPr/>
        </p:nvSpPr>
        <p:spPr>
          <a:xfrm>
            <a:off x="2039499" y="443533"/>
            <a:ext cx="5065003" cy="461665"/>
          </a:xfrm>
          <a:prstGeom prst="rect">
            <a:avLst/>
          </a:prstGeom>
          <a:noFill/>
        </p:spPr>
        <p:txBody>
          <a:bodyPr wrap="square" rtlCol="0">
            <a:spAutoFit/>
          </a:bodyPr>
          <a:lstStyle/>
          <a:p>
            <a:pPr algn="ctr"/>
            <a:r>
              <a:rPr lang="zh-CN" altLang="en-US" sz="2400" b="1" spc="300" dirty="0">
                <a:solidFill>
                  <a:schemeClr val="tx1">
                    <a:lumMod val="65000"/>
                    <a:lumOff val="35000"/>
                  </a:schemeClr>
                </a:solidFill>
                <a:latin typeface="+mj-ea"/>
                <a:ea typeface="+mj-ea"/>
              </a:rPr>
              <a:t>选择全渠道的四大原因</a:t>
            </a:r>
          </a:p>
        </p:txBody>
      </p:sp>
      <p:sp>
        <p:nvSpPr>
          <p:cNvPr id="112" name="等腰三角形 111"/>
          <p:cNvSpPr/>
          <p:nvPr/>
        </p:nvSpPr>
        <p:spPr>
          <a:xfrm flipH="1" flipV="1">
            <a:off x="4465172" y="1313881"/>
            <a:ext cx="213657" cy="117981"/>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45888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fade">
                                      <p:cBhvr>
                                        <p:cTn id="7" dur="1000"/>
                                        <p:tgtEl>
                                          <p:spTgt spid="94"/>
                                        </p:tgtEl>
                                      </p:cBhvr>
                                    </p:animEffect>
                                    <p:anim calcmode="lin" valueType="num">
                                      <p:cBhvr>
                                        <p:cTn id="8" dur="1000" fill="hold"/>
                                        <p:tgtEl>
                                          <p:spTgt spid="94"/>
                                        </p:tgtEl>
                                        <p:attrNameLst>
                                          <p:attrName>ppt_x</p:attrName>
                                        </p:attrNameLst>
                                      </p:cBhvr>
                                      <p:tavLst>
                                        <p:tav tm="0">
                                          <p:val>
                                            <p:strVal val="#ppt_x"/>
                                          </p:val>
                                        </p:tav>
                                        <p:tav tm="100000">
                                          <p:val>
                                            <p:strVal val="#ppt_x"/>
                                          </p:val>
                                        </p:tav>
                                      </p:tavLst>
                                    </p:anim>
                                    <p:anim calcmode="lin" valueType="num">
                                      <p:cBhvr>
                                        <p:cTn id="9" dur="1000" fill="hold"/>
                                        <p:tgtEl>
                                          <p:spTgt spid="94"/>
                                        </p:tgtEl>
                                        <p:attrNameLst>
                                          <p:attrName>ppt_y</p:attrName>
                                        </p:attrNameLst>
                                      </p:cBhvr>
                                      <p:tavLst>
                                        <p:tav tm="0">
                                          <p:val>
                                            <p:strVal val="#ppt_y+.1"/>
                                          </p:val>
                                        </p:tav>
                                        <p:tav tm="100000">
                                          <p:val>
                                            <p:strVal val="#ppt_y"/>
                                          </p:val>
                                        </p:tav>
                                      </p:tavLst>
                                    </p:anim>
                                  </p:childTnLst>
                                </p:cTn>
                              </p:par>
                              <p:par>
                                <p:cTn id="10" presetID="53" presetClass="entr" presetSubtype="16" fill="hold" nodeType="withEffect">
                                  <p:stCondLst>
                                    <p:cond delay="25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Effect transition="in" filter="fade">
                                      <p:cBhvr>
                                        <p:cTn id="14" dur="1000"/>
                                        <p:tgtEl>
                                          <p:spTgt spid="6"/>
                                        </p:tgtEl>
                                      </p:cBhvr>
                                    </p:animEffect>
                                  </p:childTnLst>
                                </p:cTn>
                              </p:par>
                              <p:par>
                                <p:cTn id="15" presetID="53" presetClass="entr" presetSubtype="16" fill="hold" grpId="0" nodeType="withEffect">
                                  <p:stCondLst>
                                    <p:cond delay="750"/>
                                  </p:stCondLst>
                                  <p:childTnLst>
                                    <p:set>
                                      <p:cBhvr>
                                        <p:cTn id="16" dur="1" fill="hold">
                                          <p:stCondLst>
                                            <p:cond delay="0"/>
                                          </p:stCondLst>
                                        </p:cTn>
                                        <p:tgtEl>
                                          <p:spTgt spid="62"/>
                                        </p:tgtEl>
                                        <p:attrNameLst>
                                          <p:attrName>style.visibility</p:attrName>
                                        </p:attrNameLst>
                                      </p:cBhvr>
                                      <p:to>
                                        <p:strVal val="visible"/>
                                      </p:to>
                                    </p:set>
                                    <p:anim calcmode="lin" valueType="num">
                                      <p:cBhvr>
                                        <p:cTn id="17" dur="750" fill="hold"/>
                                        <p:tgtEl>
                                          <p:spTgt spid="62"/>
                                        </p:tgtEl>
                                        <p:attrNameLst>
                                          <p:attrName>ppt_w</p:attrName>
                                        </p:attrNameLst>
                                      </p:cBhvr>
                                      <p:tavLst>
                                        <p:tav tm="0">
                                          <p:val>
                                            <p:fltVal val="0"/>
                                          </p:val>
                                        </p:tav>
                                        <p:tav tm="100000">
                                          <p:val>
                                            <p:strVal val="#ppt_w"/>
                                          </p:val>
                                        </p:tav>
                                      </p:tavLst>
                                    </p:anim>
                                    <p:anim calcmode="lin" valueType="num">
                                      <p:cBhvr>
                                        <p:cTn id="18" dur="750" fill="hold"/>
                                        <p:tgtEl>
                                          <p:spTgt spid="62"/>
                                        </p:tgtEl>
                                        <p:attrNameLst>
                                          <p:attrName>ppt_h</p:attrName>
                                        </p:attrNameLst>
                                      </p:cBhvr>
                                      <p:tavLst>
                                        <p:tav tm="0">
                                          <p:val>
                                            <p:fltVal val="0"/>
                                          </p:val>
                                        </p:tav>
                                        <p:tav tm="100000">
                                          <p:val>
                                            <p:strVal val="#ppt_h"/>
                                          </p:val>
                                        </p:tav>
                                      </p:tavLst>
                                    </p:anim>
                                    <p:animEffect transition="in" filter="fade">
                                      <p:cBhvr>
                                        <p:cTn id="19" dur="750"/>
                                        <p:tgtEl>
                                          <p:spTgt spid="62"/>
                                        </p:tgtEl>
                                      </p:cBhvr>
                                    </p:animEffect>
                                  </p:childTnLst>
                                </p:cTn>
                              </p:par>
                              <p:par>
                                <p:cTn id="20" presetID="53" presetClass="entr" presetSubtype="16" fill="hold" grpId="0" nodeType="withEffect">
                                  <p:stCondLst>
                                    <p:cond delay="1000"/>
                                  </p:stCondLst>
                                  <p:childTnLst>
                                    <p:set>
                                      <p:cBhvr>
                                        <p:cTn id="21" dur="1" fill="hold">
                                          <p:stCondLst>
                                            <p:cond delay="0"/>
                                          </p:stCondLst>
                                        </p:cTn>
                                        <p:tgtEl>
                                          <p:spTgt spid="61"/>
                                        </p:tgtEl>
                                        <p:attrNameLst>
                                          <p:attrName>style.visibility</p:attrName>
                                        </p:attrNameLst>
                                      </p:cBhvr>
                                      <p:to>
                                        <p:strVal val="visible"/>
                                      </p:to>
                                    </p:set>
                                    <p:anim calcmode="lin" valueType="num">
                                      <p:cBhvr>
                                        <p:cTn id="22" dur="750" fill="hold"/>
                                        <p:tgtEl>
                                          <p:spTgt spid="61"/>
                                        </p:tgtEl>
                                        <p:attrNameLst>
                                          <p:attrName>ppt_w</p:attrName>
                                        </p:attrNameLst>
                                      </p:cBhvr>
                                      <p:tavLst>
                                        <p:tav tm="0">
                                          <p:val>
                                            <p:fltVal val="0"/>
                                          </p:val>
                                        </p:tav>
                                        <p:tav tm="100000">
                                          <p:val>
                                            <p:strVal val="#ppt_w"/>
                                          </p:val>
                                        </p:tav>
                                      </p:tavLst>
                                    </p:anim>
                                    <p:anim calcmode="lin" valueType="num">
                                      <p:cBhvr>
                                        <p:cTn id="23" dur="750" fill="hold"/>
                                        <p:tgtEl>
                                          <p:spTgt spid="61"/>
                                        </p:tgtEl>
                                        <p:attrNameLst>
                                          <p:attrName>ppt_h</p:attrName>
                                        </p:attrNameLst>
                                      </p:cBhvr>
                                      <p:tavLst>
                                        <p:tav tm="0">
                                          <p:val>
                                            <p:fltVal val="0"/>
                                          </p:val>
                                        </p:tav>
                                        <p:tav tm="100000">
                                          <p:val>
                                            <p:strVal val="#ppt_h"/>
                                          </p:val>
                                        </p:tav>
                                      </p:tavLst>
                                    </p:anim>
                                    <p:animEffect transition="in" filter="fade">
                                      <p:cBhvr>
                                        <p:cTn id="24" dur="750"/>
                                        <p:tgtEl>
                                          <p:spTgt spid="61"/>
                                        </p:tgtEl>
                                      </p:cBhvr>
                                    </p:animEffect>
                                  </p:childTnLst>
                                </p:cTn>
                              </p:par>
                              <p:par>
                                <p:cTn id="25" presetID="53" presetClass="entr" presetSubtype="16" fill="hold" grpId="0" nodeType="withEffect">
                                  <p:stCondLst>
                                    <p:cond delay="1250"/>
                                  </p:stCondLst>
                                  <p:childTnLst>
                                    <p:set>
                                      <p:cBhvr>
                                        <p:cTn id="26" dur="1" fill="hold">
                                          <p:stCondLst>
                                            <p:cond delay="0"/>
                                          </p:stCondLst>
                                        </p:cTn>
                                        <p:tgtEl>
                                          <p:spTgt spid="75"/>
                                        </p:tgtEl>
                                        <p:attrNameLst>
                                          <p:attrName>style.visibility</p:attrName>
                                        </p:attrNameLst>
                                      </p:cBhvr>
                                      <p:to>
                                        <p:strVal val="visible"/>
                                      </p:to>
                                    </p:set>
                                    <p:anim calcmode="lin" valueType="num">
                                      <p:cBhvr>
                                        <p:cTn id="27" dur="750" fill="hold"/>
                                        <p:tgtEl>
                                          <p:spTgt spid="75"/>
                                        </p:tgtEl>
                                        <p:attrNameLst>
                                          <p:attrName>ppt_w</p:attrName>
                                        </p:attrNameLst>
                                      </p:cBhvr>
                                      <p:tavLst>
                                        <p:tav tm="0">
                                          <p:val>
                                            <p:fltVal val="0"/>
                                          </p:val>
                                        </p:tav>
                                        <p:tav tm="100000">
                                          <p:val>
                                            <p:strVal val="#ppt_w"/>
                                          </p:val>
                                        </p:tav>
                                      </p:tavLst>
                                    </p:anim>
                                    <p:anim calcmode="lin" valueType="num">
                                      <p:cBhvr>
                                        <p:cTn id="28" dur="750" fill="hold"/>
                                        <p:tgtEl>
                                          <p:spTgt spid="75"/>
                                        </p:tgtEl>
                                        <p:attrNameLst>
                                          <p:attrName>ppt_h</p:attrName>
                                        </p:attrNameLst>
                                      </p:cBhvr>
                                      <p:tavLst>
                                        <p:tav tm="0">
                                          <p:val>
                                            <p:fltVal val="0"/>
                                          </p:val>
                                        </p:tav>
                                        <p:tav tm="100000">
                                          <p:val>
                                            <p:strVal val="#ppt_h"/>
                                          </p:val>
                                        </p:tav>
                                      </p:tavLst>
                                    </p:anim>
                                    <p:animEffect transition="in" filter="fade">
                                      <p:cBhvr>
                                        <p:cTn id="29" dur="750"/>
                                        <p:tgtEl>
                                          <p:spTgt spid="75"/>
                                        </p:tgtEl>
                                      </p:cBhvr>
                                    </p:animEffect>
                                  </p:childTnLst>
                                </p:cTn>
                              </p:par>
                              <p:par>
                                <p:cTn id="30" presetID="53" presetClass="entr" presetSubtype="16" fill="hold" grpId="0" nodeType="withEffect">
                                  <p:stCondLst>
                                    <p:cond delay="1500"/>
                                  </p:stCondLst>
                                  <p:childTnLst>
                                    <p:set>
                                      <p:cBhvr>
                                        <p:cTn id="31" dur="1" fill="hold">
                                          <p:stCondLst>
                                            <p:cond delay="0"/>
                                          </p:stCondLst>
                                        </p:cTn>
                                        <p:tgtEl>
                                          <p:spTgt spid="79"/>
                                        </p:tgtEl>
                                        <p:attrNameLst>
                                          <p:attrName>style.visibility</p:attrName>
                                        </p:attrNameLst>
                                      </p:cBhvr>
                                      <p:to>
                                        <p:strVal val="visible"/>
                                      </p:to>
                                    </p:set>
                                    <p:anim calcmode="lin" valueType="num">
                                      <p:cBhvr>
                                        <p:cTn id="32" dur="750" fill="hold"/>
                                        <p:tgtEl>
                                          <p:spTgt spid="79"/>
                                        </p:tgtEl>
                                        <p:attrNameLst>
                                          <p:attrName>ppt_w</p:attrName>
                                        </p:attrNameLst>
                                      </p:cBhvr>
                                      <p:tavLst>
                                        <p:tav tm="0">
                                          <p:val>
                                            <p:fltVal val="0"/>
                                          </p:val>
                                        </p:tav>
                                        <p:tav tm="100000">
                                          <p:val>
                                            <p:strVal val="#ppt_w"/>
                                          </p:val>
                                        </p:tav>
                                      </p:tavLst>
                                    </p:anim>
                                    <p:anim calcmode="lin" valueType="num">
                                      <p:cBhvr>
                                        <p:cTn id="33" dur="750" fill="hold"/>
                                        <p:tgtEl>
                                          <p:spTgt spid="79"/>
                                        </p:tgtEl>
                                        <p:attrNameLst>
                                          <p:attrName>ppt_h</p:attrName>
                                        </p:attrNameLst>
                                      </p:cBhvr>
                                      <p:tavLst>
                                        <p:tav tm="0">
                                          <p:val>
                                            <p:fltVal val="0"/>
                                          </p:val>
                                        </p:tav>
                                        <p:tav tm="100000">
                                          <p:val>
                                            <p:strVal val="#ppt_h"/>
                                          </p:val>
                                        </p:tav>
                                      </p:tavLst>
                                    </p:anim>
                                    <p:animEffect transition="in" filter="fade">
                                      <p:cBhvr>
                                        <p:cTn id="34" dur="750"/>
                                        <p:tgtEl>
                                          <p:spTgt spid="79"/>
                                        </p:tgtEl>
                                      </p:cBhvr>
                                    </p:animEffect>
                                  </p:childTnLst>
                                </p:cTn>
                              </p:par>
                              <p:par>
                                <p:cTn id="35" presetID="53" presetClass="entr" presetSubtype="16" fill="hold" grpId="0" nodeType="withEffect">
                                  <p:stCondLst>
                                    <p:cond delay="1750"/>
                                  </p:stCondLst>
                                  <p:childTnLst>
                                    <p:set>
                                      <p:cBhvr>
                                        <p:cTn id="36" dur="1" fill="hold">
                                          <p:stCondLst>
                                            <p:cond delay="0"/>
                                          </p:stCondLst>
                                        </p:cTn>
                                        <p:tgtEl>
                                          <p:spTgt spid="77"/>
                                        </p:tgtEl>
                                        <p:attrNameLst>
                                          <p:attrName>style.visibility</p:attrName>
                                        </p:attrNameLst>
                                      </p:cBhvr>
                                      <p:to>
                                        <p:strVal val="visible"/>
                                      </p:to>
                                    </p:set>
                                    <p:anim calcmode="lin" valueType="num">
                                      <p:cBhvr>
                                        <p:cTn id="37" dur="750" fill="hold"/>
                                        <p:tgtEl>
                                          <p:spTgt spid="77"/>
                                        </p:tgtEl>
                                        <p:attrNameLst>
                                          <p:attrName>ppt_w</p:attrName>
                                        </p:attrNameLst>
                                      </p:cBhvr>
                                      <p:tavLst>
                                        <p:tav tm="0">
                                          <p:val>
                                            <p:fltVal val="0"/>
                                          </p:val>
                                        </p:tav>
                                        <p:tav tm="100000">
                                          <p:val>
                                            <p:strVal val="#ppt_w"/>
                                          </p:val>
                                        </p:tav>
                                      </p:tavLst>
                                    </p:anim>
                                    <p:anim calcmode="lin" valueType="num">
                                      <p:cBhvr>
                                        <p:cTn id="38" dur="750" fill="hold"/>
                                        <p:tgtEl>
                                          <p:spTgt spid="77"/>
                                        </p:tgtEl>
                                        <p:attrNameLst>
                                          <p:attrName>ppt_h</p:attrName>
                                        </p:attrNameLst>
                                      </p:cBhvr>
                                      <p:tavLst>
                                        <p:tav tm="0">
                                          <p:val>
                                            <p:fltVal val="0"/>
                                          </p:val>
                                        </p:tav>
                                        <p:tav tm="100000">
                                          <p:val>
                                            <p:strVal val="#ppt_h"/>
                                          </p:val>
                                        </p:tav>
                                      </p:tavLst>
                                    </p:anim>
                                    <p:animEffect transition="in" filter="fade">
                                      <p:cBhvr>
                                        <p:cTn id="39" dur="750"/>
                                        <p:tgtEl>
                                          <p:spTgt spid="77"/>
                                        </p:tgtEl>
                                      </p:cBhvr>
                                    </p:animEffect>
                                  </p:childTnLst>
                                </p:cTn>
                              </p:par>
                              <p:par>
                                <p:cTn id="40" presetID="53" presetClass="entr" presetSubtype="16" fill="hold" grpId="0" nodeType="withEffect">
                                  <p:stCondLst>
                                    <p:cond delay="2000"/>
                                  </p:stCondLst>
                                  <p:childTnLst>
                                    <p:set>
                                      <p:cBhvr>
                                        <p:cTn id="41" dur="1" fill="hold">
                                          <p:stCondLst>
                                            <p:cond delay="0"/>
                                          </p:stCondLst>
                                        </p:cTn>
                                        <p:tgtEl>
                                          <p:spTgt spid="81"/>
                                        </p:tgtEl>
                                        <p:attrNameLst>
                                          <p:attrName>style.visibility</p:attrName>
                                        </p:attrNameLst>
                                      </p:cBhvr>
                                      <p:to>
                                        <p:strVal val="visible"/>
                                      </p:to>
                                    </p:set>
                                    <p:anim calcmode="lin" valueType="num">
                                      <p:cBhvr>
                                        <p:cTn id="42" dur="750" fill="hold"/>
                                        <p:tgtEl>
                                          <p:spTgt spid="81"/>
                                        </p:tgtEl>
                                        <p:attrNameLst>
                                          <p:attrName>ppt_w</p:attrName>
                                        </p:attrNameLst>
                                      </p:cBhvr>
                                      <p:tavLst>
                                        <p:tav tm="0">
                                          <p:val>
                                            <p:fltVal val="0"/>
                                          </p:val>
                                        </p:tav>
                                        <p:tav tm="100000">
                                          <p:val>
                                            <p:strVal val="#ppt_w"/>
                                          </p:val>
                                        </p:tav>
                                      </p:tavLst>
                                    </p:anim>
                                    <p:anim calcmode="lin" valueType="num">
                                      <p:cBhvr>
                                        <p:cTn id="43" dur="750" fill="hold"/>
                                        <p:tgtEl>
                                          <p:spTgt spid="81"/>
                                        </p:tgtEl>
                                        <p:attrNameLst>
                                          <p:attrName>ppt_h</p:attrName>
                                        </p:attrNameLst>
                                      </p:cBhvr>
                                      <p:tavLst>
                                        <p:tav tm="0">
                                          <p:val>
                                            <p:fltVal val="0"/>
                                          </p:val>
                                        </p:tav>
                                        <p:tav tm="100000">
                                          <p:val>
                                            <p:strVal val="#ppt_h"/>
                                          </p:val>
                                        </p:tav>
                                      </p:tavLst>
                                    </p:anim>
                                    <p:animEffect transition="in" filter="fade">
                                      <p:cBhvr>
                                        <p:cTn id="44" dur="750"/>
                                        <p:tgtEl>
                                          <p:spTgt spid="81"/>
                                        </p:tgtEl>
                                      </p:cBhvr>
                                    </p:animEffect>
                                  </p:childTnLst>
                                </p:cTn>
                              </p:par>
                              <p:par>
                                <p:cTn id="45" presetID="26" presetClass="emph" presetSubtype="0" repeatCount="3000" fill="hold" grpId="1" nodeType="withEffect">
                                  <p:stCondLst>
                                    <p:cond delay="2500"/>
                                  </p:stCondLst>
                                  <p:childTnLst>
                                    <p:animEffect transition="out" filter="fade">
                                      <p:cBhvr>
                                        <p:cTn id="46" dur="750" tmFilter="0, 0; .2, .5; .8, .5; 1, 0"/>
                                        <p:tgtEl>
                                          <p:spTgt spid="75"/>
                                        </p:tgtEl>
                                      </p:cBhvr>
                                    </p:animEffect>
                                    <p:animScale>
                                      <p:cBhvr>
                                        <p:cTn id="47" dur="375" autoRev="1" fill="hold"/>
                                        <p:tgtEl>
                                          <p:spTgt spid="7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seq concurrent="1" nextAc="seek">
              <p:cTn id="48" restart="whenNotActive" fill="hold" evtFilter="cancelBubble" nodeType="interactiveSeq">
                <p:stCondLst>
                  <p:cond evt="onClick" delay="0">
                    <p:tgtEl>
                      <p:spTgt spid="75"/>
                    </p:tgtEl>
                  </p:cond>
                </p:stCondLst>
                <p:endSync evt="end" delay="0">
                  <p:rtn val="all"/>
                </p:endSync>
                <p:childTnLst>
                  <p:par>
                    <p:cTn id="49" fill="hold">
                      <p:stCondLst>
                        <p:cond delay="0"/>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80"/>
                                        </p:tgtEl>
                                        <p:attrNameLst>
                                          <p:attrName>style.visibility</p:attrName>
                                        </p:attrNameLst>
                                      </p:cBhvr>
                                      <p:to>
                                        <p:strVal val="visible"/>
                                      </p:to>
                                    </p:set>
                                    <p:animEffect transition="in" filter="fade">
                                      <p:cBhvr>
                                        <p:cTn id="53" dur="500"/>
                                        <p:tgtEl>
                                          <p:spTgt spid="80"/>
                                        </p:tgtEl>
                                      </p:cBhvr>
                                    </p:animEffect>
                                  </p:childTnLst>
                                </p:cTn>
                              </p:par>
                            </p:childTnLst>
                          </p:cTn>
                        </p:par>
                        <p:par>
                          <p:cTn id="54" fill="hold">
                            <p:stCondLst>
                              <p:cond delay="500"/>
                            </p:stCondLst>
                            <p:childTnLst>
                              <p:par>
                                <p:cTn id="55" presetID="26" presetClass="emph" presetSubtype="0" repeatCount="3000" fill="hold" grpId="1" nodeType="afterEffect">
                                  <p:stCondLst>
                                    <p:cond delay="0"/>
                                  </p:stCondLst>
                                  <p:childTnLst>
                                    <p:animEffect transition="out" filter="fade">
                                      <p:cBhvr>
                                        <p:cTn id="56" dur="750" tmFilter="0, 0; .2, .5; .8, .5; 1, 0"/>
                                        <p:tgtEl>
                                          <p:spTgt spid="79"/>
                                        </p:tgtEl>
                                      </p:cBhvr>
                                    </p:animEffect>
                                    <p:animScale>
                                      <p:cBhvr>
                                        <p:cTn id="57" dur="375" autoRev="1" fill="hold"/>
                                        <p:tgtEl>
                                          <p:spTgt spid="79"/>
                                        </p:tgtEl>
                                      </p:cBhvr>
                                      <p:by x="105000" y="105000"/>
                                    </p:animScale>
                                  </p:childTnLst>
                                </p:cTn>
                              </p:par>
                            </p:childTnLst>
                          </p:cTn>
                        </p:par>
                      </p:childTnLst>
                    </p:cTn>
                  </p:par>
                </p:childTnLst>
              </p:cTn>
              <p:nextCondLst>
                <p:cond evt="onClick" delay="0">
                  <p:tgtEl>
                    <p:spTgt spid="75"/>
                  </p:tgtEl>
                </p:cond>
              </p:nextCondLst>
            </p:seq>
            <p:seq concurrent="1" nextAc="seek">
              <p:cTn id="58" restart="whenNotActive" fill="hold" evtFilter="cancelBubble" nodeType="interactiveSeq">
                <p:stCondLst>
                  <p:cond evt="onClick" delay="0">
                    <p:tgtEl>
                      <p:spTgt spid="79"/>
                    </p:tgtEl>
                  </p:cond>
                </p:stCondLst>
                <p:endSync evt="end" delay="0">
                  <p:rtn val="all"/>
                </p:endSync>
                <p:childTnLst>
                  <p:par>
                    <p:cTn id="59" fill="hold">
                      <p:stCondLst>
                        <p:cond delay="0"/>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91"/>
                                        </p:tgtEl>
                                        <p:attrNameLst>
                                          <p:attrName>style.visibility</p:attrName>
                                        </p:attrNameLst>
                                      </p:cBhvr>
                                      <p:to>
                                        <p:strVal val="visible"/>
                                      </p:to>
                                    </p:set>
                                    <p:animEffect transition="in" filter="fade">
                                      <p:cBhvr>
                                        <p:cTn id="63" dur="500"/>
                                        <p:tgtEl>
                                          <p:spTgt spid="91"/>
                                        </p:tgtEl>
                                      </p:cBhvr>
                                    </p:animEffect>
                                  </p:childTnLst>
                                </p:cTn>
                              </p:par>
                            </p:childTnLst>
                          </p:cTn>
                        </p:par>
                        <p:par>
                          <p:cTn id="64" fill="hold">
                            <p:stCondLst>
                              <p:cond delay="500"/>
                            </p:stCondLst>
                            <p:childTnLst>
                              <p:par>
                                <p:cTn id="65" presetID="26" presetClass="emph" presetSubtype="0" repeatCount="3000" fill="hold" grpId="1" nodeType="afterEffect">
                                  <p:stCondLst>
                                    <p:cond delay="0"/>
                                  </p:stCondLst>
                                  <p:childTnLst>
                                    <p:animEffect transition="out" filter="fade">
                                      <p:cBhvr>
                                        <p:cTn id="66" dur="750" tmFilter="0, 0; .2, .5; .8, .5; 1, 0"/>
                                        <p:tgtEl>
                                          <p:spTgt spid="77"/>
                                        </p:tgtEl>
                                      </p:cBhvr>
                                    </p:animEffect>
                                    <p:animScale>
                                      <p:cBhvr>
                                        <p:cTn id="67" dur="375" autoRev="1" fill="hold"/>
                                        <p:tgtEl>
                                          <p:spTgt spid="77"/>
                                        </p:tgtEl>
                                      </p:cBhvr>
                                      <p:by x="105000" y="105000"/>
                                    </p:animScale>
                                  </p:childTnLst>
                                </p:cTn>
                              </p:par>
                            </p:childTnLst>
                          </p:cTn>
                        </p:par>
                      </p:childTnLst>
                    </p:cTn>
                  </p:par>
                </p:childTnLst>
              </p:cTn>
              <p:nextCondLst>
                <p:cond evt="onClick" delay="0">
                  <p:tgtEl>
                    <p:spTgt spid="79"/>
                  </p:tgtEl>
                </p:cond>
              </p:nextCondLst>
            </p:seq>
            <p:seq concurrent="1" nextAc="seek">
              <p:cTn id="68" restart="whenNotActive" fill="hold" evtFilter="cancelBubble" nodeType="interactiveSeq">
                <p:stCondLst>
                  <p:cond evt="onClick" delay="0">
                    <p:tgtEl>
                      <p:spTgt spid="77"/>
                    </p:tgtEl>
                  </p:cond>
                </p:stCondLst>
                <p:endSync evt="end" delay="0">
                  <p:rtn val="all"/>
                </p:endSync>
                <p:childTnLst>
                  <p:par>
                    <p:cTn id="69" fill="hold">
                      <p:stCondLst>
                        <p:cond delay="0"/>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92"/>
                                        </p:tgtEl>
                                        <p:attrNameLst>
                                          <p:attrName>style.visibility</p:attrName>
                                        </p:attrNameLst>
                                      </p:cBhvr>
                                      <p:to>
                                        <p:strVal val="visible"/>
                                      </p:to>
                                    </p:set>
                                    <p:animEffect transition="in" filter="fade">
                                      <p:cBhvr>
                                        <p:cTn id="73" dur="500"/>
                                        <p:tgtEl>
                                          <p:spTgt spid="92"/>
                                        </p:tgtEl>
                                      </p:cBhvr>
                                    </p:animEffect>
                                  </p:childTnLst>
                                </p:cTn>
                              </p:par>
                            </p:childTnLst>
                          </p:cTn>
                        </p:par>
                        <p:par>
                          <p:cTn id="74" fill="hold">
                            <p:stCondLst>
                              <p:cond delay="500"/>
                            </p:stCondLst>
                            <p:childTnLst>
                              <p:par>
                                <p:cTn id="75" presetID="26" presetClass="emph" presetSubtype="0" repeatCount="3000" fill="hold" grpId="1" nodeType="afterEffect">
                                  <p:stCondLst>
                                    <p:cond delay="0"/>
                                  </p:stCondLst>
                                  <p:childTnLst>
                                    <p:animEffect transition="out" filter="fade">
                                      <p:cBhvr>
                                        <p:cTn id="76" dur="750" tmFilter="0, 0; .2, .5; .8, .5; 1, 0"/>
                                        <p:tgtEl>
                                          <p:spTgt spid="81"/>
                                        </p:tgtEl>
                                      </p:cBhvr>
                                    </p:animEffect>
                                    <p:animScale>
                                      <p:cBhvr>
                                        <p:cTn id="77" dur="375" autoRev="1" fill="hold"/>
                                        <p:tgtEl>
                                          <p:spTgt spid="81"/>
                                        </p:tgtEl>
                                      </p:cBhvr>
                                      <p:by x="105000" y="105000"/>
                                    </p:animScale>
                                  </p:childTnLst>
                                </p:cTn>
                              </p:par>
                            </p:childTnLst>
                          </p:cTn>
                        </p:par>
                      </p:childTnLst>
                    </p:cTn>
                  </p:par>
                </p:childTnLst>
              </p:cTn>
              <p:nextCondLst>
                <p:cond evt="onClick" delay="0">
                  <p:tgtEl>
                    <p:spTgt spid="77"/>
                  </p:tgtEl>
                </p:cond>
              </p:nextCondLst>
            </p:seq>
            <p:seq concurrent="1" nextAc="seek">
              <p:cTn id="78" restart="whenNotActive" fill="hold" evtFilter="cancelBubble" nodeType="interactiveSeq">
                <p:stCondLst>
                  <p:cond evt="onClick" delay="0">
                    <p:tgtEl>
                      <p:spTgt spid="81"/>
                    </p:tgtEl>
                  </p:cond>
                </p:stCondLst>
                <p:endSync evt="end" delay="0">
                  <p:rtn val="all"/>
                </p:endSync>
                <p:childTnLst>
                  <p:par>
                    <p:cTn id="79" fill="hold">
                      <p:stCondLst>
                        <p:cond delay="0"/>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93"/>
                                        </p:tgtEl>
                                        <p:attrNameLst>
                                          <p:attrName>style.visibility</p:attrName>
                                        </p:attrNameLst>
                                      </p:cBhvr>
                                      <p:to>
                                        <p:strVal val="visible"/>
                                      </p:to>
                                    </p:set>
                                    <p:animEffect transition="in" filter="fade">
                                      <p:cBhvr>
                                        <p:cTn id="83" dur="500"/>
                                        <p:tgtEl>
                                          <p:spTgt spid="93"/>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112"/>
                                        </p:tgtEl>
                                        <p:attrNameLst>
                                          <p:attrName>style.visibility</p:attrName>
                                        </p:attrNameLst>
                                      </p:cBhvr>
                                      <p:to>
                                        <p:strVal val="visible"/>
                                      </p:to>
                                    </p:set>
                                    <p:animEffect transition="in" filter="fade">
                                      <p:cBhvr>
                                        <p:cTn id="86" dur="500"/>
                                        <p:tgtEl>
                                          <p:spTgt spid="112"/>
                                        </p:tgtEl>
                                      </p:cBhvr>
                                    </p:animEffect>
                                  </p:childTnLst>
                                </p:cTn>
                              </p:par>
                            </p:childTnLst>
                          </p:cTn>
                        </p:par>
                        <p:par>
                          <p:cTn id="87" fill="hold">
                            <p:stCondLst>
                              <p:cond delay="500"/>
                            </p:stCondLst>
                            <p:childTnLst>
                              <p:par>
                                <p:cTn id="88" presetID="42" presetClass="path" presetSubtype="0" repeatCount="indefinite" accel="50000" decel="50000" autoRev="1" fill="hold" grpId="1" nodeType="afterEffect">
                                  <p:stCondLst>
                                    <p:cond delay="0"/>
                                  </p:stCondLst>
                                  <p:childTnLst>
                                    <p:animMotion origin="layout" path="M 0 2.22222E-6 L 0 0.0425 " pathEditMode="relative" rAng="0" ptsTypes="AA">
                                      <p:cBhvr>
                                        <p:cTn id="89" dur="500" fill="hold"/>
                                        <p:tgtEl>
                                          <p:spTgt spid="112"/>
                                        </p:tgtEl>
                                        <p:attrNameLst>
                                          <p:attrName>ppt_x</p:attrName>
                                          <p:attrName>ppt_y</p:attrName>
                                        </p:attrNameLst>
                                      </p:cBhvr>
                                      <p:rCtr x="0" y="2111"/>
                                    </p:animMotion>
                                  </p:childTnLst>
                                </p:cTn>
                              </p:par>
                            </p:childTnLst>
                          </p:cTn>
                        </p:par>
                      </p:childTnLst>
                    </p:cTn>
                  </p:par>
                </p:childTnLst>
              </p:cTn>
              <p:nextCondLst>
                <p:cond evt="onClick" delay="0">
                  <p:tgtEl>
                    <p:spTgt spid="81"/>
                  </p:tgtEl>
                </p:cond>
              </p:nextCondLst>
            </p:seq>
          </p:childTnLst>
        </p:cTn>
      </p:par>
    </p:tnLst>
    <p:bldLst>
      <p:bldP spid="61" grpId="0" animBg="1"/>
      <p:bldP spid="62" grpId="0" animBg="1"/>
      <p:bldP spid="75" grpId="0" animBg="1"/>
      <p:bldP spid="75" grpId="1" animBg="1"/>
      <p:bldP spid="77" grpId="0" animBg="1"/>
      <p:bldP spid="77" grpId="1" animBg="1"/>
      <p:bldP spid="79" grpId="0" animBg="1"/>
      <p:bldP spid="79" grpId="1" animBg="1"/>
      <p:bldP spid="80" grpId="0"/>
      <p:bldP spid="81" grpId="0" animBg="1"/>
      <p:bldP spid="81" grpId="1" animBg="1"/>
      <p:bldP spid="91" grpId="0"/>
      <p:bldP spid="92" grpId="0"/>
      <p:bldP spid="93" grpId="0"/>
      <p:bldP spid="94" grpId="0"/>
      <p:bldP spid="112" grpId="0" animBg="1"/>
      <p:bldP spid="112"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图表 5"/>
          <p:cNvGraphicFramePr/>
          <p:nvPr>
            <p:extLst>
              <p:ext uri="{D42A27DB-BD31-4B8C-83A1-F6EECF244321}">
                <p14:modId xmlns:p14="http://schemas.microsoft.com/office/powerpoint/2010/main" val="1506702074"/>
              </p:ext>
            </p:extLst>
          </p:nvPr>
        </p:nvGraphicFramePr>
        <p:xfrm>
          <a:off x="674034" y="2303775"/>
          <a:ext cx="7841316" cy="3075366"/>
        </p:xfrm>
        <a:graphic>
          <a:graphicData uri="http://schemas.openxmlformats.org/drawingml/2006/chart">
            <c:chart xmlns:c="http://schemas.openxmlformats.org/drawingml/2006/chart" xmlns:r="http://schemas.openxmlformats.org/officeDocument/2006/relationships" r:id="rId2"/>
          </a:graphicData>
        </a:graphic>
      </p:graphicFrame>
      <p:sp>
        <p:nvSpPr>
          <p:cNvPr id="7" name="内容占位符 2"/>
          <p:cNvSpPr txBox="1">
            <a:spLocks/>
          </p:cNvSpPr>
          <p:nvPr/>
        </p:nvSpPr>
        <p:spPr>
          <a:xfrm>
            <a:off x="376657" y="1080098"/>
            <a:ext cx="7886700" cy="71267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defRPr sz="1862" b="0" i="0" u="none" strike="noStrike" kern="1200" spc="0" baseline="0">
                <a:solidFill>
                  <a:prstClr val="black">
                    <a:lumMod val="65000"/>
                    <a:lumOff val="35000"/>
                  </a:prstClr>
                </a:solidFill>
                <a:latin typeface="+mn-lt"/>
                <a:ea typeface="+mn-ea"/>
                <a:cs typeface="+mn-cs"/>
              </a:defRPr>
            </a:pPr>
            <a:endParaRPr lang="zh-CN" altLang="zh-CN" dirty="0"/>
          </a:p>
        </p:txBody>
      </p:sp>
      <p:sp>
        <p:nvSpPr>
          <p:cNvPr id="8" name="文本框 7"/>
          <p:cNvSpPr txBox="1"/>
          <p:nvPr/>
        </p:nvSpPr>
        <p:spPr>
          <a:xfrm>
            <a:off x="873912" y="1687078"/>
            <a:ext cx="1702800" cy="340519"/>
          </a:xfrm>
          <a:prstGeom prst="roundRect">
            <a:avLst/>
          </a:prstGeom>
          <a:noFill/>
          <a:ln w="3175">
            <a:solidFill>
              <a:schemeClr val="tx1">
                <a:lumMod val="50000"/>
                <a:lumOff val="50000"/>
              </a:schemeClr>
            </a:solidFill>
            <a:prstDash val="dash"/>
          </a:ln>
        </p:spPr>
        <p:txBody>
          <a:bodyPr wrap="square" rtlCol="0">
            <a:spAutoFit/>
          </a:bodyPr>
          <a:lstStyle/>
          <a:p>
            <a:pPr algn="ctr"/>
            <a:r>
              <a:rPr lang="zh-CN" altLang="en-US" sz="1400" b="1" dirty="0">
                <a:solidFill>
                  <a:schemeClr val="accent2"/>
                </a:solidFill>
              </a:rPr>
              <a:t>统一知识库</a:t>
            </a:r>
          </a:p>
        </p:txBody>
      </p:sp>
      <p:sp>
        <p:nvSpPr>
          <p:cNvPr id="9" name="文本框 8"/>
          <p:cNvSpPr txBox="1"/>
          <p:nvPr/>
        </p:nvSpPr>
        <p:spPr>
          <a:xfrm>
            <a:off x="6568820" y="1684642"/>
            <a:ext cx="1702800" cy="340519"/>
          </a:xfrm>
          <a:prstGeom prst="roundRect">
            <a:avLst/>
          </a:prstGeom>
          <a:noFill/>
          <a:ln w="3175">
            <a:solidFill>
              <a:schemeClr val="tx1">
                <a:lumMod val="50000"/>
                <a:lumOff val="50000"/>
              </a:schemeClr>
            </a:solidFill>
            <a:prstDash val="dash"/>
          </a:ln>
        </p:spPr>
        <p:txBody>
          <a:bodyPr wrap="square" rtlCol="0">
            <a:spAutoFit/>
          </a:bodyPr>
          <a:lstStyle/>
          <a:p>
            <a:pPr algn="ctr"/>
            <a:r>
              <a:rPr lang="zh-CN" altLang="en-US" sz="1400" b="1" dirty="0">
                <a:solidFill>
                  <a:schemeClr val="accent1"/>
                </a:solidFill>
              </a:rPr>
              <a:t>统一的报表</a:t>
            </a:r>
          </a:p>
        </p:txBody>
      </p:sp>
      <p:sp>
        <p:nvSpPr>
          <p:cNvPr id="10" name="文本框 9"/>
          <p:cNvSpPr txBox="1"/>
          <p:nvPr/>
        </p:nvSpPr>
        <p:spPr>
          <a:xfrm>
            <a:off x="2776097" y="1687079"/>
            <a:ext cx="1702800" cy="340519"/>
          </a:xfrm>
          <a:prstGeom prst="roundRect">
            <a:avLst/>
          </a:prstGeom>
          <a:noFill/>
          <a:ln w="3175">
            <a:solidFill>
              <a:schemeClr val="tx1">
                <a:lumMod val="50000"/>
                <a:lumOff val="50000"/>
              </a:schemeClr>
            </a:solidFill>
            <a:prstDash val="dash"/>
          </a:ln>
        </p:spPr>
        <p:txBody>
          <a:bodyPr wrap="square" rtlCol="0">
            <a:spAutoFit/>
          </a:bodyPr>
          <a:lstStyle/>
          <a:p>
            <a:pPr algn="ctr"/>
            <a:r>
              <a:rPr lang="zh-CN" altLang="en-US" sz="1400" b="1" dirty="0">
                <a:solidFill>
                  <a:schemeClr val="accent4"/>
                </a:solidFill>
              </a:rPr>
              <a:t>统一客户历史</a:t>
            </a:r>
          </a:p>
        </p:txBody>
      </p:sp>
      <p:sp>
        <p:nvSpPr>
          <p:cNvPr id="11" name="文本框 10"/>
          <p:cNvSpPr txBox="1"/>
          <p:nvPr/>
        </p:nvSpPr>
        <p:spPr>
          <a:xfrm>
            <a:off x="4666721" y="1684641"/>
            <a:ext cx="1702714" cy="340519"/>
          </a:xfrm>
          <a:prstGeom prst="roundRect">
            <a:avLst/>
          </a:prstGeom>
          <a:noFill/>
          <a:ln w="3175">
            <a:solidFill>
              <a:schemeClr val="tx1">
                <a:lumMod val="50000"/>
                <a:lumOff val="50000"/>
              </a:schemeClr>
            </a:solidFill>
            <a:prstDash val="dash"/>
          </a:ln>
        </p:spPr>
        <p:txBody>
          <a:bodyPr wrap="square" rtlCol="0">
            <a:spAutoFit/>
          </a:bodyPr>
          <a:lstStyle/>
          <a:p>
            <a:pPr algn="ctr"/>
            <a:r>
              <a:rPr lang="zh-CN" altLang="en-US" sz="1400" b="1" dirty="0">
                <a:solidFill>
                  <a:schemeClr val="tx1">
                    <a:lumMod val="65000"/>
                    <a:lumOff val="35000"/>
                  </a:schemeClr>
                </a:solidFill>
              </a:rPr>
              <a:t>渠道之间自由切换</a:t>
            </a:r>
          </a:p>
        </p:txBody>
      </p:sp>
      <p:cxnSp>
        <p:nvCxnSpPr>
          <p:cNvPr id="16" name="直接连接符 15"/>
          <p:cNvCxnSpPr>
            <a:cxnSpLocks/>
          </p:cNvCxnSpPr>
          <p:nvPr/>
        </p:nvCxnSpPr>
        <p:spPr>
          <a:xfrm>
            <a:off x="1737669" y="2025160"/>
            <a:ext cx="0" cy="720918"/>
          </a:xfrm>
          <a:prstGeom prst="line">
            <a:avLst/>
          </a:prstGeom>
          <a:ln w="3175">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18" name="直接连接符 17"/>
          <p:cNvCxnSpPr>
            <a:cxnSpLocks/>
          </p:cNvCxnSpPr>
          <p:nvPr/>
        </p:nvCxnSpPr>
        <p:spPr>
          <a:xfrm>
            <a:off x="3664775" y="2025160"/>
            <a:ext cx="0" cy="881556"/>
          </a:xfrm>
          <a:prstGeom prst="line">
            <a:avLst/>
          </a:prstGeom>
          <a:ln w="3175">
            <a:solidFill>
              <a:schemeClr val="accent4"/>
            </a:solidFill>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a:cxnSpLocks/>
          </p:cNvCxnSpPr>
          <p:nvPr/>
        </p:nvCxnSpPr>
        <p:spPr>
          <a:xfrm>
            <a:off x="5555356" y="2025160"/>
            <a:ext cx="0" cy="881556"/>
          </a:xfrm>
          <a:prstGeom prst="line">
            <a:avLst/>
          </a:prstGeom>
          <a:ln w="3175">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a:cxnSpLocks/>
          </p:cNvCxnSpPr>
          <p:nvPr/>
        </p:nvCxnSpPr>
        <p:spPr>
          <a:xfrm>
            <a:off x="7456591" y="2025160"/>
            <a:ext cx="0" cy="881556"/>
          </a:xfrm>
          <a:prstGeom prst="line">
            <a:avLst/>
          </a:prstGeom>
          <a:ln w="3175">
            <a:solidFill>
              <a:srgbClr val="A2A1A1"/>
            </a:solidFill>
            <a:prstDash val="dash"/>
          </a:ln>
        </p:spPr>
        <p:style>
          <a:lnRef idx="1">
            <a:schemeClr val="accent1"/>
          </a:lnRef>
          <a:fillRef idx="0">
            <a:schemeClr val="accent1"/>
          </a:fillRef>
          <a:effectRef idx="0">
            <a:schemeClr val="accent1"/>
          </a:effectRef>
          <a:fontRef idx="minor">
            <a:schemeClr val="tx1"/>
          </a:fontRef>
        </p:style>
      </p:cxnSp>
      <p:sp>
        <p:nvSpPr>
          <p:cNvPr id="17" name="等腰三角形 16"/>
          <p:cNvSpPr/>
          <p:nvPr/>
        </p:nvSpPr>
        <p:spPr>
          <a:xfrm flipH="1" flipV="1">
            <a:off x="4465172" y="1313881"/>
            <a:ext cx="213657" cy="117981"/>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1816902" y="513765"/>
            <a:ext cx="5510196" cy="461665"/>
          </a:xfrm>
          <a:prstGeom prst="rect">
            <a:avLst/>
          </a:prstGeom>
          <a:noFill/>
        </p:spPr>
        <p:txBody>
          <a:bodyPr wrap="square" rtlCol="0">
            <a:spAutoFit/>
          </a:bodyPr>
          <a:lstStyle/>
          <a:p>
            <a:pPr algn="ctr"/>
            <a:r>
              <a:rPr lang="en-US" altLang="zh-CN" sz="2400" b="1" dirty="0">
                <a:solidFill>
                  <a:schemeClr val="tx1">
                    <a:lumMod val="65000"/>
                    <a:lumOff val="35000"/>
                  </a:schemeClr>
                </a:solidFill>
                <a:latin typeface="+mj-ea"/>
                <a:ea typeface="+mj-ea"/>
              </a:rPr>
              <a:t>2019</a:t>
            </a:r>
            <a:r>
              <a:rPr lang="zh-CN" altLang="zh-CN" sz="2400" b="1" dirty="0">
                <a:solidFill>
                  <a:schemeClr val="tx1">
                    <a:lumMod val="65000"/>
                    <a:lumOff val="35000"/>
                  </a:schemeClr>
                </a:solidFill>
                <a:latin typeface="+mj-ea"/>
                <a:ea typeface="+mj-ea"/>
              </a:rPr>
              <a:t>年客服对全渠道系统特点认可度</a:t>
            </a:r>
            <a:endParaRPr lang="zh-CN" altLang="en-US" sz="2400" b="1" spc="300" dirty="0">
              <a:solidFill>
                <a:schemeClr val="tx1">
                  <a:lumMod val="65000"/>
                  <a:lumOff val="35000"/>
                </a:schemeClr>
              </a:solidFill>
              <a:latin typeface="+mj-ea"/>
              <a:ea typeface="+mj-ea"/>
            </a:endParaRPr>
          </a:p>
        </p:txBody>
      </p:sp>
    </p:spTree>
    <p:extLst>
      <p:ext uri="{BB962C8B-B14F-4D97-AF65-F5344CB8AC3E}">
        <p14:creationId xmlns:p14="http://schemas.microsoft.com/office/powerpoint/2010/main" val="3289754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750"/>
                                        <p:tgtEl>
                                          <p:spTgt spid="19"/>
                                        </p:tgtEl>
                                      </p:cBhvr>
                                    </p:animEffect>
                                    <p:anim calcmode="lin" valueType="num">
                                      <p:cBhvr>
                                        <p:cTn id="8" dur="750" fill="hold"/>
                                        <p:tgtEl>
                                          <p:spTgt spid="19"/>
                                        </p:tgtEl>
                                        <p:attrNameLst>
                                          <p:attrName>ppt_x</p:attrName>
                                        </p:attrNameLst>
                                      </p:cBhvr>
                                      <p:tavLst>
                                        <p:tav tm="0">
                                          <p:val>
                                            <p:strVal val="#ppt_x"/>
                                          </p:val>
                                        </p:tav>
                                        <p:tav tm="100000">
                                          <p:val>
                                            <p:strVal val="#ppt_x"/>
                                          </p:val>
                                        </p:tav>
                                      </p:tavLst>
                                    </p:anim>
                                    <p:anim calcmode="lin" valueType="num">
                                      <p:cBhvr>
                                        <p:cTn id="9" dur="750" fill="hold"/>
                                        <p:tgtEl>
                                          <p:spTgt spid="19"/>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250"/>
                                  </p:stCondLst>
                                  <p:childTnLst>
                                    <p:set>
                                      <p:cBhvr>
                                        <p:cTn id="11" dur="1" fill="hold">
                                          <p:stCondLst>
                                            <p:cond delay="0"/>
                                          </p:stCondLst>
                                        </p:cTn>
                                        <p:tgtEl>
                                          <p:spTgt spid="6">
                                            <p:graphicEl>
                                              <a:chart seriesIdx="-3" categoryIdx="-3" bldStep="gridLegend"/>
                                            </p:graphicEl>
                                          </p:spTgt>
                                        </p:tgtEl>
                                        <p:attrNameLst>
                                          <p:attrName>style.visibility</p:attrName>
                                        </p:attrNameLst>
                                      </p:cBhvr>
                                      <p:to>
                                        <p:strVal val="visible"/>
                                      </p:to>
                                    </p:set>
                                    <p:animEffect transition="in" filter="fade">
                                      <p:cBhvr>
                                        <p:cTn id="12" dur="1000"/>
                                        <p:tgtEl>
                                          <p:spTgt spid="6">
                                            <p:graphicEl>
                                              <a:chart seriesIdx="-3" categoryIdx="-3" bldStep="gridLegend"/>
                                            </p:graphicEl>
                                          </p:spTgt>
                                        </p:tgtEl>
                                      </p:cBhvr>
                                    </p:animEffect>
                                    <p:anim calcmode="lin" valueType="num">
                                      <p:cBhvr>
                                        <p:cTn id="13" dur="1000" fill="hold"/>
                                        <p:tgtEl>
                                          <p:spTgt spid="6">
                                            <p:graphicEl>
                                              <a:chart seriesIdx="-3" categoryIdx="-3" bldStep="gridLegend"/>
                                            </p:graphicEl>
                                          </p:spTgt>
                                        </p:tgtEl>
                                        <p:attrNameLst>
                                          <p:attrName>ppt_x</p:attrName>
                                        </p:attrNameLst>
                                      </p:cBhvr>
                                      <p:tavLst>
                                        <p:tav tm="0">
                                          <p:val>
                                            <p:strVal val="#ppt_x"/>
                                          </p:val>
                                        </p:tav>
                                        <p:tav tm="100000">
                                          <p:val>
                                            <p:strVal val="#ppt_x"/>
                                          </p:val>
                                        </p:tav>
                                      </p:tavLst>
                                    </p:anim>
                                    <p:anim calcmode="lin" valueType="num">
                                      <p:cBhvr>
                                        <p:cTn id="14" dur="1000" fill="hold"/>
                                        <p:tgtEl>
                                          <p:spTgt spid="6">
                                            <p:graphicEl>
                                              <a:chart seriesIdx="-3" categoryIdx="-3" bldStep="gridLegend"/>
                                            </p:graphicEl>
                                          </p:spTgt>
                                        </p:tgtEl>
                                        <p:attrNameLst>
                                          <p:attrName>ppt_y</p:attrName>
                                        </p:attrNameLst>
                                      </p:cBhvr>
                                      <p:tavLst>
                                        <p:tav tm="0">
                                          <p:val>
                                            <p:strVal val="#ppt_y-.1"/>
                                          </p:val>
                                        </p:tav>
                                        <p:tav tm="100000">
                                          <p:val>
                                            <p:strVal val="#ppt_y"/>
                                          </p:val>
                                        </p:tav>
                                      </p:tavLst>
                                    </p:anim>
                                  </p:childTnLst>
                                </p:cTn>
                              </p:par>
                              <p:par>
                                <p:cTn id="15" presetID="10" presetClass="entr" presetSubtype="0" fill="hold" grpId="0" nodeType="withEffect">
                                  <p:stCondLst>
                                    <p:cond delay="50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childTnLst>
                                </p:cTn>
                              </p:par>
                              <p:par>
                                <p:cTn id="18" presetID="10" presetClass="entr" presetSubtype="0" fill="hold" nodeType="withEffect">
                                  <p:stCondLst>
                                    <p:cond delay="75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1000"/>
                                        <p:tgtEl>
                                          <p:spTgt spid="16"/>
                                        </p:tgtEl>
                                      </p:cBhvr>
                                    </p:animEffect>
                                  </p:childTnLst>
                                </p:cTn>
                              </p:par>
                              <p:par>
                                <p:cTn id="21" presetID="47" presetClass="entr" presetSubtype="0" fill="hold" grpId="0" nodeType="withEffect">
                                  <p:stCondLst>
                                    <p:cond delay="1250"/>
                                  </p:stCondLst>
                                  <p:childTnLst>
                                    <p:set>
                                      <p:cBhvr>
                                        <p:cTn id="22" dur="1" fill="hold">
                                          <p:stCondLst>
                                            <p:cond delay="0"/>
                                          </p:stCondLst>
                                        </p:cTn>
                                        <p:tgtEl>
                                          <p:spTgt spid="6">
                                            <p:graphicEl>
                                              <a:chart seriesIdx="0" categoryIdx="0" bldStep="ptInCategory"/>
                                            </p:graphicEl>
                                          </p:spTgt>
                                        </p:tgtEl>
                                        <p:attrNameLst>
                                          <p:attrName>style.visibility</p:attrName>
                                        </p:attrNameLst>
                                      </p:cBhvr>
                                      <p:to>
                                        <p:strVal val="visible"/>
                                      </p:to>
                                    </p:set>
                                    <p:animEffect transition="in" filter="fade">
                                      <p:cBhvr>
                                        <p:cTn id="23" dur="1000"/>
                                        <p:tgtEl>
                                          <p:spTgt spid="6">
                                            <p:graphicEl>
                                              <a:chart seriesIdx="0" categoryIdx="0" bldStep="ptInCategory"/>
                                            </p:graphicEl>
                                          </p:spTgt>
                                        </p:tgtEl>
                                      </p:cBhvr>
                                    </p:animEffect>
                                    <p:anim calcmode="lin" valueType="num">
                                      <p:cBhvr>
                                        <p:cTn id="24" dur="1000" fill="hold"/>
                                        <p:tgtEl>
                                          <p:spTgt spid="6">
                                            <p:graphicEl>
                                              <a:chart seriesIdx="0" categoryIdx="0" bldStep="ptInCategory"/>
                                            </p:graphicEl>
                                          </p:spTgt>
                                        </p:tgtEl>
                                        <p:attrNameLst>
                                          <p:attrName>ppt_x</p:attrName>
                                        </p:attrNameLst>
                                      </p:cBhvr>
                                      <p:tavLst>
                                        <p:tav tm="0">
                                          <p:val>
                                            <p:strVal val="#ppt_x"/>
                                          </p:val>
                                        </p:tav>
                                        <p:tav tm="100000">
                                          <p:val>
                                            <p:strVal val="#ppt_x"/>
                                          </p:val>
                                        </p:tav>
                                      </p:tavLst>
                                    </p:anim>
                                    <p:anim calcmode="lin" valueType="num">
                                      <p:cBhvr>
                                        <p:cTn id="25" dur="1000" fill="hold"/>
                                        <p:tgtEl>
                                          <p:spTgt spid="6">
                                            <p:graphicEl>
                                              <a:chart seriesIdx="0" categoryIdx="0" bldStep="ptInCategory"/>
                                            </p:graphicEl>
                                          </p:spTgt>
                                        </p:tgtEl>
                                        <p:attrNameLst>
                                          <p:attrName>ppt_y</p:attrName>
                                        </p:attrNameLst>
                                      </p:cBhvr>
                                      <p:tavLst>
                                        <p:tav tm="0">
                                          <p:val>
                                            <p:strVal val="#ppt_y-.1"/>
                                          </p:val>
                                        </p:tav>
                                        <p:tav tm="100000">
                                          <p:val>
                                            <p:strVal val="#ppt_y"/>
                                          </p:val>
                                        </p:tav>
                                      </p:tavLst>
                                    </p:anim>
                                  </p:childTnLst>
                                </p:cTn>
                              </p:par>
                              <p:par>
                                <p:cTn id="26" presetID="47" presetClass="entr" presetSubtype="0" fill="hold" grpId="0" nodeType="withEffect">
                                  <p:stCondLst>
                                    <p:cond delay="1500"/>
                                  </p:stCondLst>
                                  <p:childTnLst>
                                    <p:set>
                                      <p:cBhvr>
                                        <p:cTn id="27" dur="1" fill="hold">
                                          <p:stCondLst>
                                            <p:cond delay="0"/>
                                          </p:stCondLst>
                                        </p:cTn>
                                        <p:tgtEl>
                                          <p:spTgt spid="6">
                                            <p:graphicEl>
                                              <a:chart seriesIdx="1" categoryIdx="0" bldStep="ptInCategory"/>
                                            </p:graphicEl>
                                          </p:spTgt>
                                        </p:tgtEl>
                                        <p:attrNameLst>
                                          <p:attrName>style.visibility</p:attrName>
                                        </p:attrNameLst>
                                      </p:cBhvr>
                                      <p:to>
                                        <p:strVal val="visible"/>
                                      </p:to>
                                    </p:set>
                                    <p:animEffect transition="in" filter="fade">
                                      <p:cBhvr>
                                        <p:cTn id="28" dur="1000"/>
                                        <p:tgtEl>
                                          <p:spTgt spid="6">
                                            <p:graphicEl>
                                              <a:chart seriesIdx="1" categoryIdx="0" bldStep="ptInCategory"/>
                                            </p:graphicEl>
                                          </p:spTgt>
                                        </p:tgtEl>
                                      </p:cBhvr>
                                    </p:animEffect>
                                    <p:anim calcmode="lin" valueType="num">
                                      <p:cBhvr>
                                        <p:cTn id="29" dur="1000" fill="hold"/>
                                        <p:tgtEl>
                                          <p:spTgt spid="6">
                                            <p:graphicEl>
                                              <a:chart seriesIdx="1" categoryIdx="0" bldStep="ptInCategory"/>
                                            </p:graphicEl>
                                          </p:spTgt>
                                        </p:tgtEl>
                                        <p:attrNameLst>
                                          <p:attrName>ppt_x</p:attrName>
                                        </p:attrNameLst>
                                      </p:cBhvr>
                                      <p:tavLst>
                                        <p:tav tm="0">
                                          <p:val>
                                            <p:strVal val="#ppt_x"/>
                                          </p:val>
                                        </p:tav>
                                        <p:tav tm="100000">
                                          <p:val>
                                            <p:strVal val="#ppt_x"/>
                                          </p:val>
                                        </p:tav>
                                      </p:tavLst>
                                    </p:anim>
                                    <p:anim calcmode="lin" valueType="num">
                                      <p:cBhvr>
                                        <p:cTn id="30" dur="1000" fill="hold"/>
                                        <p:tgtEl>
                                          <p:spTgt spid="6">
                                            <p:graphicEl>
                                              <a:chart seriesIdx="1" categoryIdx="0" bldStep="ptInCategory"/>
                                            </p:graphic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childTnLst>
                                </p:cTn>
                              </p:par>
                              <p:par>
                                <p:cTn id="36" presetID="10" presetClass="entr" presetSubtype="0" fill="hold" nodeType="withEffect">
                                  <p:stCondLst>
                                    <p:cond delay="50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1000"/>
                                        <p:tgtEl>
                                          <p:spTgt spid="18"/>
                                        </p:tgtEl>
                                      </p:cBhvr>
                                    </p:animEffect>
                                  </p:childTnLst>
                                </p:cTn>
                              </p:par>
                              <p:par>
                                <p:cTn id="39" presetID="47" presetClass="entr" presetSubtype="0" fill="hold" grpId="0" nodeType="withEffect">
                                  <p:stCondLst>
                                    <p:cond delay="1000"/>
                                  </p:stCondLst>
                                  <p:childTnLst>
                                    <p:set>
                                      <p:cBhvr>
                                        <p:cTn id="40" dur="1" fill="hold">
                                          <p:stCondLst>
                                            <p:cond delay="0"/>
                                          </p:stCondLst>
                                        </p:cTn>
                                        <p:tgtEl>
                                          <p:spTgt spid="6">
                                            <p:graphicEl>
                                              <a:chart seriesIdx="0" categoryIdx="1" bldStep="ptInCategory"/>
                                            </p:graphicEl>
                                          </p:spTgt>
                                        </p:tgtEl>
                                        <p:attrNameLst>
                                          <p:attrName>style.visibility</p:attrName>
                                        </p:attrNameLst>
                                      </p:cBhvr>
                                      <p:to>
                                        <p:strVal val="visible"/>
                                      </p:to>
                                    </p:set>
                                    <p:animEffect transition="in" filter="fade">
                                      <p:cBhvr>
                                        <p:cTn id="41" dur="1000"/>
                                        <p:tgtEl>
                                          <p:spTgt spid="6">
                                            <p:graphicEl>
                                              <a:chart seriesIdx="0" categoryIdx="1" bldStep="ptInCategory"/>
                                            </p:graphicEl>
                                          </p:spTgt>
                                        </p:tgtEl>
                                      </p:cBhvr>
                                    </p:animEffect>
                                    <p:anim calcmode="lin" valueType="num">
                                      <p:cBhvr>
                                        <p:cTn id="42" dur="1000" fill="hold"/>
                                        <p:tgtEl>
                                          <p:spTgt spid="6">
                                            <p:graphicEl>
                                              <a:chart seriesIdx="0" categoryIdx="1" bldStep="ptInCategory"/>
                                            </p:graphicEl>
                                          </p:spTgt>
                                        </p:tgtEl>
                                        <p:attrNameLst>
                                          <p:attrName>ppt_x</p:attrName>
                                        </p:attrNameLst>
                                      </p:cBhvr>
                                      <p:tavLst>
                                        <p:tav tm="0">
                                          <p:val>
                                            <p:strVal val="#ppt_x"/>
                                          </p:val>
                                        </p:tav>
                                        <p:tav tm="100000">
                                          <p:val>
                                            <p:strVal val="#ppt_x"/>
                                          </p:val>
                                        </p:tav>
                                      </p:tavLst>
                                    </p:anim>
                                    <p:anim calcmode="lin" valueType="num">
                                      <p:cBhvr>
                                        <p:cTn id="43" dur="1000" fill="hold"/>
                                        <p:tgtEl>
                                          <p:spTgt spid="6">
                                            <p:graphicEl>
                                              <a:chart seriesIdx="0" categoryIdx="1" bldStep="ptInCategory"/>
                                            </p:graphicEl>
                                          </p:spTgt>
                                        </p:tgtEl>
                                        <p:attrNameLst>
                                          <p:attrName>ppt_y</p:attrName>
                                        </p:attrNameLst>
                                      </p:cBhvr>
                                      <p:tavLst>
                                        <p:tav tm="0">
                                          <p:val>
                                            <p:strVal val="#ppt_y-.1"/>
                                          </p:val>
                                        </p:tav>
                                        <p:tav tm="100000">
                                          <p:val>
                                            <p:strVal val="#ppt_y"/>
                                          </p:val>
                                        </p:tav>
                                      </p:tavLst>
                                    </p:anim>
                                  </p:childTnLst>
                                </p:cTn>
                              </p:par>
                              <p:par>
                                <p:cTn id="44" presetID="47" presetClass="entr" presetSubtype="0" fill="hold" grpId="0" nodeType="withEffect">
                                  <p:stCondLst>
                                    <p:cond delay="1250"/>
                                  </p:stCondLst>
                                  <p:childTnLst>
                                    <p:set>
                                      <p:cBhvr>
                                        <p:cTn id="45" dur="1" fill="hold">
                                          <p:stCondLst>
                                            <p:cond delay="0"/>
                                          </p:stCondLst>
                                        </p:cTn>
                                        <p:tgtEl>
                                          <p:spTgt spid="6">
                                            <p:graphicEl>
                                              <a:chart seriesIdx="1" categoryIdx="1" bldStep="ptInCategory"/>
                                            </p:graphicEl>
                                          </p:spTgt>
                                        </p:tgtEl>
                                        <p:attrNameLst>
                                          <p:attrName>style.visibility</p:attrName>
                                        </p:attrNameLst>
                                      </p:cBhvr>
                                      <p:to>
                                        <p:strVal val="visible"/>
                                      </p:to>
                                    </p:set>
                                    <p:animEffect transition="in" filter="fade">
                                      <p:cBhvr>
                                        <p:cTn id="46" dur="1000"/>
                                        <p:tgtEl>
                                          <p:spTgt spid="6">
                                            <p:graphicEl>
                                              <a:chart seriesIdx="1" categoryIdx="1" bldStep="ptInCategory"/>
                                            </p:graphicEl>
                                          </p:spTgt>
                                        </p:tgtEl>
                                      </p:cBhvr>
                                    </p:animEffect>
                                    <p:anim calcmode="lin" valueType="num">
                                      <p:cBhvr>
                                        <p:cTn id="47" dur="1000" fill="hold"/>
                                        <p:tgtEl>
                                          <p:spTgt spid="6">
                                            <p:graphicEl>
                                              <a:chart seriesIdx="1" categoryIdx="1" bldStep="ptInCategory"/>
                                            </p:graphicEl>
                                          </p:spTgt>
                                        </p:tgtEl>
                                        <p:attrNameLst>
                                          <p:attrName>ppt_x</p:attrName>
                                        </p:attrNameLst>
                                      </p:cBhvr>
                                      <p:tavLst>
                                        <p:tav tm="0">
                                          <p:val>
                                            <p:strVal val="#ppt_x"/>
                                          </p:val>
                                        </p:tav>
                                        <p:tav tm="100000">
                                          <p:val>
                                            <p:strVal val="#ppt_x"/>
                                          </p:val>
                                        </p:tav>
                                      </p:tavLst>
                                    </p:anim>
                                    <p:anim calcmode="lin" valueType="num">
                                      <p:cBhvr>
                                        <p:cTn id="48" dur="1000" fill="hold"/>
                                        <p:tgtEl>
                                          <p:spTgt spid="6">
                                            <p:graphicEl>
                                              <a:chart seriesIdx="1" categoryIdx="1" bldStep="ptInCategory"/>
                                            </p:graphicEl>
                                          </p:spTgt>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fade">
                                      <p:cBhvr>
                                        <p:cTn id="53" dur="1000"/>
                                        <p:tgtEl>
                                          <p:spTgt spid="11"/>
                                        </p:tgtEl>
                                      </p:cBhvr>
                                    </p:animEffect>
                                  </p:childTnLst>
                                </p:cTn>
                              </p:par>
                              <p:par>
                                <p:cTn id="54" presetID="10" presetClass="entr" presetSubtype="0" fill="hold" nodeType="withEffect">
                                  <p:stCondLst>
                                    <p:cond delay="50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1000"/>
                                        <p:tgtEl>
                                          <p:spTgt spid="20"/>
                                        </p:tgtEl>
                                      </p:cBhvr>
                                    </p:animEffect>
                                  </p:childTnLst>
                                </p:cTn>
                              </p:par>
                              <p:par>
                                <p:cTn id="57" presetID="47" presetClass="entr" presetSubtype="0" fill="hold" grpId="0" nodeType="withEffect">
                                  <p:stCondLst>
                                    <p:cond delay="1000"/>
                                  </p:stCondLst>
                                  <p:childTnLst>
                                    <p:set>
                                      <p:cBhvr>
                                        <p:cTn id="58" dur="1" fill="hold">
                                          <p:stCondLst>
                                            <p:cond delay="0"/>
                                          </p:stCondLst>
                                        </p:cTn>
                                        <p:tgtEl>
                                          <p:spTgt spid="6">
                                            <p:graphicEl>
                                              <a:chart seriesIdx="0" categoryIdx="2" bldStep="ptInCategory"/>
                                            </p:graphicEl>
                                          </p:spTgt>
                                        </p:tgtEl>
                                        <p:attrNameLst>
                                          <p:attrName>style.visibility</p:attrName>
                                        </p:attrNameLst>
                                      </p:cBhvr>
                                      <p:to>
                                        <p:strVal val="visible"/>
                                      </p:to>
                                    </p:set>
                                    <p:animEffect transition="in" filter="fade">
                                      <p:cBhvr>
                                        <p:cTn id="59" dur="1000"/>
                                        <p:tgtEl>
                                          <p:spTgt spid="6">
                                            <p:graphicEl>
                                              <a:chart seriesIdx="0" categoryIdx="2" bldStep="ptInCategory"/>
                                            </p:graphicEl>
                                          </p:spTgt>
                                        </p:tgtEl>
                                      </p:cBhvr>
                                    </p:animEffect>
                                    <p:anim calcmode="lin" valueType="num">
                                      <p:cBhvr>
                                        <p:cTn id="60" dur="1000" fill="hold"/>
                                        <p:tgtEl>
                                          <p:spTgt spid="6">
                                            <p:graphicEl>
                                              <a:chart seriesIdx="0" categoryIdx="2" bldStep="ptInCategory"/>
                                            </p:graphicEl>
                                          </p:spTgt>
                                        </p:tgtEl>
                                        <p:attrNameLst>
                                          <p:attrName>ppt_x</p:attrName>
                                        </p:attrNameLst>
                                      </p:cBhvr>
                                      <p:tavLst>
                                        <p:tav tm="0">
                                          <p:val>
                                            <p:strVal val="#ppt_x"/>
                                          </p:val>
                                        </p:tav>
                                        <p:tav tm="100000">
                                          <p:val>
                                            <p:strVal val="#ppt_x"/>
                                          </p:val>
                                        </p:tav>
                                      </p:tavLst>
                                    </p:anim>
                                    <p:anim calcmode="lin" valueType="num">
                                      <p:cBhvr>
                                        <p:cTn id="61" dur="1000" fill="hold"/>
                                        <p:tgtEl>
                                          <p:spTgt spid="6">
                                            <p:graphicEl>
                                              <a:chart seriesIdx="0" categoryIdx="2" bldStep="ptInCategory"/>
                                            </p:graphicEl>
                                          </p:spTgt>
                                        </p:tgtEl>
                                        <p:attrNameLst>
                                          <p:attrName>ppt_y</p:attrName>
                                        </p:attrNameLst>
                                      </p:cBhvr>
                                      <p:tavLst>
                                        <p:tav tm="0">
                                          <p:val>
                                            <p:strVal val="#ppt_y-.1"/>
                                          </p:val>
                                        </p:tav>
                                        <p:tav tm="100000">
                                          <p:val>
                                            <p:strVal val="#ppt_y"/>
                                          </p:val>
                                        </p:tav>
                                      </p:tavLst>
                                    </p:anim>
                                  </p:childTnLst>
                                </p:cTn>
                              </p:par>
                              <p:par>
                                <p:cTn id="62" presetID="47" presetClass="entr" presetSubtype="0" fill="hold" grpId="0" nodeType="withEffect">
                                  <p:stCondLst>
                                    <p:cond delay="1500"/>
                                  </p:stCondLst>
                                  <p:childTnLst>
                                    <p:set>
                                      <p:cBhvr>
                                        <p:cTn id="63" dur="1" fill="hold">
                                          <p:stCondLst>
                                            <p:cond delay="0"/>
                                          </p:stCondLst>
                                        </p:cTn>
                                        <p:tgtEl>
                                          <p:spTgt spid="6">
                                            <p:graphicEl>
                                              <a:chart seriesIdx="1" categoryIdx="2" bldStep="ptInCategory"/>
                                            </p:graphicEl>
                                          </p:spTgt>
                                        </p:tgtEl>
                                        <p:attrNameLst>
                                          <p:attrName>style.visibility</p:attrName>
                                        </p:attrNameLst>
                                      </p:cBhvr>
                                      <p:to>
                                        <p:strVal val="visible"/>
                                      </p:to>
                                    </p:set>
                                    <p:animEffect transition="in" filter="fade">
                                      <p:cBhvr>
                                        <p:cTn id="64" dur="1000"/>
                                        <p:tgtEl>
                                          <p:spTgt spid="6">
                                            <p:graphicEl>
                                              <a:chart seriesIdx="1" categoryIdx="2" bldStep="ptInCategory"/>
                                            </p:graphicEl>
                                          </p:spTgt>
                                        </p:tgtEl>
                                      </p:cBhvr>
                                    </p:animEffect>
                                    <p:anim calcmode="lin" valueType="num">
                                      <p:cBhvr>
                                        <p:cTn id="65" dur="1000" fill="hold"/>
                                        <p:tgtEl>
                                          <p:spTgt spid="6">
                                            <p:graphicEl>
                                              <a:chart seriesIdx="1" categoryIdx="2" bldStep="ptInCategory"/>
                                            </p:graphicEl>
                                          </p:spTgt>
                                        </p:tgtEl>
                                        <p:attrNameLst>
                                          <p:attrName>ppt_x</p:attrName>
                                        </p:attrNameLst>
                                      </p:cBhvr>
                                      <p:tavLst>
                                        <p:tav tm="0">
                                          <p:val>
                                            <p:strVal val="#ppt_x"/>
                                          </p:val>
                                        </p:tav>
                                        <p:tav tm="100000">
                                          <p:val>
                                            <p:strVal val="#ppt_x"/>
                                          </p:val>
                                        </p:tav>
                                      </p:tavLst>
                                    </p:anim>
                                    <p:anim calcmode="lin" valueType="num">
                                      <p:cBhvr>
                                        <p:cTn id="66" dur="1000" fill="hold"/>
                                        <p:tgtEl>
                                          <p:spTgt spid="6">
                                            <p:graphicEl>
                                              <a:chart seriesIdx="1" categoryIdx="2" bldStep="ptInCategory"/>
                                            </p:graphicEl>
                                          </p:spTgt>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9"/>
                                        </p:tgtEl>
                                        <p:attrNameLst>
                                          <p:attrName>style.visibility</p:attrName>
                                        </p:attrNameLst>
                                      </p:cBhvr>
                                      <p:to>
                                        <p:strVal val="visible"/>
                                      </p:to>
                                    </p:set>
                                    <p:animEffect transition="in" filter="fade">
                                      <p:cBhvr>
                                        <p:cTn id="71" dur="1000"/>
                                        <p:tgtEl>
                                          <p:spTgt spid="9"/>
                                        </p:tgtEl>
                                      </p:cBhvr>
                                    </p:animEffect>
                                  </p:childTnLst>
                                </p:cTn>
                              </p:par>
                              <p:par>
                                <p:cTn id="72" presetID="10" presetClass="entr" presetSubtype="0" fill="hold" nodeType="withEffect">
                                  <p:stCondLst>
                                    <p:cond delay="50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1000"/>
                                        <p:tgtEl>
                                          <p:spTgt spid="21"/>
                                        </p:tgtEl>
                                      </p:cBhvr>
                                    </p:animEffect>
                                  </p:childTnLst>
                                </p:cTn>
                              </p:par>
                              <p:par>
                                <p:cTn id="75" presetID="47" presetClass="entr" presetSubtype="0" fill="hold" grpId="0" nodeType="withEffect">
                                  <p:stCondLst>
                                    <p:cond delay="1000"/>
                                  </p:stCondLst>
                                  <p:childTnLst>
                                    <p:set>
                                      <p:cBhvr>
                                        <p:cTn id="76" dur="1" fill="hold">
                                          <p:stCondLst>
                                            <p:cond delay="0"/>
                                          </p:stCondLst>
                                        </p:cTn>
                                        <p:tgtEl>
                                          <p:spTgt spid="6">
                                            <p:graphicEl>
                                              <a:chart seriesIdx="0" categoryIdx="3" bldStep="ptInCategory"/>
                                            </p:graphicEl>
                                          </p:spTgt>
                                        </p:tgtEl>
                                        <p:attrNameLst>
                                          <p:attrName>style.visibility</p:attrName>
                                        </p:attrNameLst>
                                      </p:cBhvr>
                                      <p:to>
                                        <p:strVal val="visible"/>
                                      </p:to>
                                    </p:set>
                                    <p:animEffect transition="in" filter="fade">
                                      <p:cBhvr>
                                        <p:cTn id="77" dur="1000"/>
                                        <p:tgtEl>
                                          <p:spTgt spid="6">
                                            <p:graphicEl>
                                              <a:chart seriesIdx="0" categoryIdx="3" bldStep="ptInCategory"/>
                                            </p:graphicEl>
                                          </p:spTgt>
                                        </p:tgtEl>
                                      </p:cBhvr>
                                    </p:animEffect>
                                    <p:anim calcmode="lin" valueType="num">
                                      <p:cBhvr>
                                        <p:cTn id="78" dur="1000" fill="hold"/>
                                        <p:tgtEl>
                                          <p:spTgt spid="6">
                                            <p:graphicEl>
                                              <a:chart seriesIdx="0" categoryIdx="3" bldStep="ptInCategory"/>
                                            </p:graphicEl>
                                          </p:spTgt>
                                        </p:tgtEl>
                                        <p:attrNameLst>
                                          <p:attrName>ppt_x</p:attrName>
                                        </p:attrNameLst>
                                      </p:cBhvr>
                                      <p:tavLst>
                                        <p:tav tm="0">
                                          <p:val>
                                            <p:strVal val="#ppt_x"/>
                                          </p:val>
                                        </p:tav>
                                        <p:tav tm="100000">
                                          <p:val>
                                            <p:strVal val="#ppt_x"/>
                                          </p:val>
                                        </p:tav>
                                      </p:tavLst>
                                    </p:anim>
                                    <p:anim calcmode="lin" valueType="num">
                                      <p:cBhvr>
                                        <p:cTn id="79" dur="1000" fill="hold"/>
                                        <p:tgtEl>
                                          <p:spTgt spid="6">
                                            <p:graphicEl>
                                              <a:chart seriesIdx="0" categoryIdx="3" bldStep="ptInCategory"/>
                                            </p:graphicEl>
                                          </p:spTgt>
                                        </p:tgtEl>
                                        <p:attrNameLst>
                                          <p:attrName>ppt_y</p:attrName>
                                        </p:attrNameLst>
                                      </p:cBhvr>
                                      <p:tavLst>
                                        <p:tav tm="0">
                                          <p:val>
                                            <p:strVal val="#ppt_y-.1"/>
                                          </p:val>
                                        </p:tav>
                                        <p:tav tm="100000">
                                          <p:val>
                                            <p:strVal val="#ppt_y"/>
                                          </p:val>
                                        </p:tav>
                                      </p:tavLst>
                                    </p:anim>
                                  </p:childTnLst>
                                </p:cTn>
                              </p:par>
                              <p:par>
                                <p:cTn id="80" presetID="47" presetClass="entr" presetSubtype="0" fill="hold" grpId="0" nodeType="withEffect">
                                  <p:stCondLst>
                                    <p:cond delay="1500"/>
                                  </p:stCondLst>
                                  <p:childTnLst>
                                    <p:set>
                                      <p:cBhvr>
                                        <p:cTn id="81" dur="1" fill="hold">
                                          <p:stCondLst>
                                            <p:cond delay="0"/>
                                          </p:stCondLst>
                                        </p:cTn>
                                        <p:tgtEl>
                                          <p:spTgt spid="6">
                                            <p:graphicEl>
                                              <a:chart seriesIdx="1" categoryIdx="3" bldStep="ptInCategory"/>
                                            </p:graphicEl>
                                          </p:spTgt>
                                        </p:tgtEl>
                                        <p:attrNameLst>
                                          <p:attrName>style.visibility</p:attrName>
                                        </p:attrNameLst>
                                      </p:cBhvr>
                                      <p:to>
                                        <p:strVal val="visible"/>
                                      </p:to>
                                    </p:set>
                                    <p:animEffect transition="in" filter="fade">
                                      <p:cBhvr>
                                        <p:cTn id="82" dur="1000"/>
                                        <p:tgtEl>
                                          <p:spTgt spid="6">
                                            <p:graphicEl>
                                              <a:chart seriesIdx="1" categoryIdx="3" bldStep="ptInCategory"/>
                                            </p:graphicEl>
                                          </p:spTgt>
                                        </p:tgtEl>
                                      </p:cBhvr>
                                    </p:animEffect>
                                    <p:anim calcmode="lin" valueType="num">
                                      <p:cBhvr>
                                        <p:cTn id="83" dur="1000" fill="hold"/>
                                        <p:tgtEl>
                                          <p:spTgt spid="6">
                                            <p:graphicEl>
                                              <a:chart seriesIdx="1" categoryIdx="3" bldStep="ptInCategory"/>
                                            </p:graphicEl>
                                          </p:spTgt>
                                        </p:tgtEl>
                                        <p:attrNameLst>
                                          <p:attrName>ppt_x</p:attrName>
                                        </p:attrNameLst>
                                      </p:cBhvr>
                                      <p:tavLst>
                                        <p:tav tm="0">
                                          <p:val>
                                            <p:strVal val="#ppt_x"/>
                                          </p:val>
                                        </p:tav>
                                        <p:tav tm="100000">
                                          <p:val>
                                            <p:strVal val="#ppt_x"/>
                                          </p:val>
                                        </p:tav>
                                      </p:tavLst>
                                    </p:anim>
                                    <p:anim calcmode="lin" valueType="num">
                                      <p:cBhvr>
                                        <p:cTn id="84" dur="1000" fill="hold"/>
                                        <p:tgtEl>
                                          <p:spTgt spid="6">
                                            <p:graphicEl>
                                              <a:chart seriesIdx="1" categoryIdx="3" bldStep="ptInCategory"/>
                                            </p:graphicEl>
                                          </p:spTgt>
                                        </p:tgtEl>
                                        <p:attrNameLst>
                                          <p:attrName>ppt_y</p:attrName>
                                        </p:attrNameLst>
                                      </p:cBhvr>
                                      <p:tavLst>
                                        <p:tav tm="0">
                                          <p:val>
                                            <p:strVal val="#ppt_y-.1"/>
                                          </p:val>
                                        </p:tav>
                                        <p:tav tm="100000">
                                          <p:val>
                                            <p:strVal val="#ppt_y"/>
                                          </p:val>
                                        </p:tav>
                                      </p:tavLst>
                                    </p:anim>
                                  </p:childTnLst>
                                </p:cTn>
                              </p:par>
                              <p:par>
                                <p:cTn id="85" presetID="10" presetClass="entr" presetSubtype="0" fill="hold" grpId="0" nodeType="withEffect">
                                  <p:stCondLst>
                                    <p:cond delay="2000"/>
                                  </p:stCondLst>
                                  <p:childTnLst>
                                    <p:set>
                                      <p:cBhvr>
                                        <p:cTn id="86" dur="1" fill="hold">
                                          <p:stCondLst>
                                            <p:cond delay="0"/>
                                          </p:stCondLst>
                                        </p:cTn>
                                        <p:tgtEl>
                                          <p:spTgt spid="17"/>
                                        </p:tgtEl>
                                        <p:attrNameLst>
                                          <p:attrName>style.visibility</p:attrName>
                                        </p:attrNameLst>
                                      </p:cBhvr>
                                      <p:to>
                                        <p:strVal val="visible"/>
                                      </p:to>
                                    </p:set>
                                    <p:animEffect transition="in" filter="fade">
                                      <p:cBhvr>
                                        <p:cTn id="87" dur="500"/>
                                        <p:tgtEl>
                                          <p:spTgt spid="17"/>
                                        </p:tgtEl>
                                      </p:cBhvr>
                                    </p:animEffect>
                                  </p:childTnLst>
                                </p:cTn>
                              </p:par>
                              <p:par>
                                <p:cTn id="88" presetID="42" presetClass="path" presetSubtype="0" repeatCount="indefinite" accel="50000" decel="50000" autoRev="1" fill="hold" grpId="1" nodeType="withEffect">
                                  <p:stCondLst>
                                    <p:cond delay="2500"/>
                                  </p:stCondLst>
                                  <p:childTnLst>
                                    <p:animMotion origin="layout" path="M 0 2.22222E-6 L 0 0.0425 " pathEditMode="relative" rAng="0" ptsTypes="AA">
                                      <p:cBhvr>
                                        <p:cTn id="89" dur="500" fill="hold"/>
                                        <p:tgtEl>
                                          <p:spTgt spid="17"/>
                                        </p:tgtEl>
                                        <p:attrNameLst>
                                          <p:attrName>ppt_x</p:attrName>
                                          <p:attrName>ppt_y</p:attrName>
                                        </p:attrNameLst>
                                      </p:cBhvr>
                                      <p:rCtr x="0" y="211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Chart bld="categoryEl"/>
        </p:bldSub>
      </p:bldGraphic>
      <p:bldP spid="8" grpId="0" uiExpand="1" animBg="1"/>
      <p:bldP spid="9" grpId="0" animBg="1"/>
      <p:bldP spid="10" grpId="0" animBg="1"/>
      <p:bldP spid="11" grpId="0" animBg="1"/>
      <p:bldP spid="17" grpId="0" animBg="1"/>
      <p:bldP spid="17" grpId="1" animBg="1"/>
      <p:bldP spid="1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椭圆 30"/>
          <p:cNvSpPr/>
          <p:nvPr/>
        </p:nvSpPr>
        <p:spPr>
          <a:xfrm>
            <a:off x="6525330" y="611614"/>
            <a:ext cx="235099" cy="235099"/>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6736623" y="2446302"/>
            <a:ext cx="1258710" cy="1258710"/>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3870269" y="2446302"/>
            <a:ext cx="1258710" cy="1258710"/>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1033408" y="2446302"/>
            <a:ext cx="1258710" cy="1258710"/>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idx="4294967295"/>
          </p:nvPr>
        </p:nvSpPr>
        <p:spPr>
          <a:xfrm>
            <a:off x="2274125" y="277530"/>
            <a:ext cx="4595750" cy="1104900"/>
          </a:xfrm>
        </p:spPr>
        <p:txBody>
          <a:bodyPr>
            <a:normAutofit/>
          </a:bodyPr>
          <a:lstStyle/>
          <a:p>
            <a:pPr algn="ctr"/>
            <a:r>
              <a:rPr lang="en-US" altLang="zh-CN" sz="2400" b="1" dirty="0">
                <a:solidFill>
                  <a:schemeClr val="tx1">
                    <a:lumMod val="65000"/>
                    <a:lumOff val="35000"/>
                  </a:schemeClr>
                </a:solidFill>
                <a:latin typeface="+mj-ea"/>
              </a:rPr>
              <a:t>2019</a:t>
            </a:r>
            <a:r>
              <a:rPr lang="zh-CN" altLang="en-US" sz="2400" b="1" dirty="0">
                <a:solidFill>
                  <a:schemeClr val="tx1">
                    <a:lumMod val="65000"/>
                    <a:lumOff val="35000"/>
                  </a:schemeClr>
                </a:solidFill>
                <a:latin typeface="+mj-ea"/>
              </a:rPr>
              <a:t>年客户满意度调查情况</a:t>
            </a:r>
          </a:p>
        </p:txBody>
      </p:sp>
      <p:graphicFrame>
        <p:nvGraphicFramePr>
          <p:cNvPr id="6" name="图表 5"/>
          <p:cNvGraphicFramePr/>
          <p:nvPr>
            <p:extLst>
              <p:ext uri="{D42A27DB-BD31-4B8C-83A1-F6EECF244321}">
                <p14:modId xmlns:p14="http://schemas.microsoft.com/office/powerpoint/2010/main" val="2868306177"/>
              </p:ext>
            </p:extLst>
          </p:nvPr>
        </p:nvGraphicFramePr>
        <p:xfrm>
          <a:off x="6139793" y="1785828"/>
          <a:ext cx="2533571" cy="260784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图表 4"/>
          <p:cNvGraphicFramePr/>
          <p:nvPr>
            <p:extLst>
              <p:ext uri="{D42A27DB-BD31-4B8C-83A1-F6EECF244321}">
                <p14:modId xmlns:p14="http://schemas.microsoft.com/office/powerpoint/2010/main" val="3030732772"/>
              </p:ext>
            </p:extLst>
          </p:nvPr>
        </p:nvGraphicFramePr>
        <p:xfrm>
          <a:off x="3288644" y="1785828"/>
          <a:ext cx="2533571" cy="260784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图表 6"/>
          <p:cNvGraphicFramePr/>
          <p:nvPr>
            <p:extLst>
              <p:ext uri="{D42A27DB-BD31-4B8C-83A1-F6EECF244321}">
                <p14:modId xmlns:p14="http://schemas.microsoft.com/office/powerpoint/2010/main" val="3300840693"/>
              </p:ext>
            </p:extLst>
          </p:nvPr>
        </p:nvGraphicFramePr>
        <p:xfrm>
          <a:off x="435872" y="1749087"/>
          <a:ext cx="2535193" cy="2608255"/>
        </p:xfrm>
        <a:graphic>
          <a:graphicData uri="http://schemas.openxmlformats.org/drawingml/2006/chart">
            <c:chart xmlns:c="http://schemas.openxmlformats.org/drawingml/2006/chart" xmlns:r="http://schemas.openxmlformats.org/officeDocument/2006/relationships" r:id="rId4"/>
          </a:graphicData>
        </a:graphic>
      </p:graphicFrame>
      <p:sp>
        <p:nvSpPr>
          <p:cNvPr id="4" name="文本框 3"/>
          <p:cNvSpPr txBox="1"/>
          <p:nvPr/>
        </p:nvSpPr>
        <p:spPr>
          <a:xfrm>
            <a:off x="966845" y="4587706"/>
            <a:ext cx="1409700" cy="442674"/>
          </a:xfrm>
          <a:prstGeom prst="roundRect">
            <a:avLst/>
          </a:prstGeom>
          <a:noFill/>
          <a:ln w="3175">
            <a:noFill/>
          </a:ln>
        </p:spPr>
        <p:txBody>
          <a:bodyPr wrap="square" rtlCol="0">
            <a:spAutoFit/>
          </a:bodyPr>
          <a:lstStyle/>
          <a:p>
            <a:pPr algn="ctr"/>
            <a:r>
              <a:rPr lang="zh-CN" altLang="en-US" sz="2000" b="1" dirty="0">
                <a:solidFill>
                  <a:schemeClr val="accent2"/>
                </a:solidFill>
                <a:latin typeface="+mj-ea"/>
                <a:ea typeface="+mj-ea"/>
              </a:rPr>
              <a:t>全渠道</a:t>
            </a:r>
            <a:endParaRPr lang="en-US" altLang="zh-CN" sz="2000" b="1" dirty="0">
              <a:solidFill>
                <a:schemeClr val="accent2"/>
              </a:solidFill>
              <a:latin typeface="+mj-ea"/>
              <a:ea typeface="+mj-ea"/>
            </a:endParaRPr>
          </a:p>
        </p:txBody>
      </p:sp>
      <p:sp>
        <p:nvSpPr>
          <p:cNvPr id="11" name="文本框 10"/>
          <p:cNvSpPr txBox="1"/>
          <p:nvPr/>
        </p:nvSpPr>
        <p:spPr>
          <a:xfrm>
            <a:off x="3870269" y="4587706"/>
            <a:ext cx="1409700" cy="442674"/>
          </a:xfrm>
          <a:prstGeom prst="roundRect">
            <a:avLst/>
          </a:prstGeom>
          <a:noFill/>
          <a:ln w="3175">
            <a:noFill/>
          </a:ln>
        </p:spPr>
        <p:txBody>
          <a:bodyPr wrap="square" rtlCol="0">
            <a:spAutoFit/>
          </a:bodyPr>
          <a:lstStyle>
            <a:defPPr>
              <a:defRPr lang="en-US"/>
            </a:defPPr>
            <a:lvl1pPr algn="ctr">
              <a:defRPr sz="2000" b="1">
                <a:solidFill>
                  <a:schemeClr val="tx2">
                    <a:lumMod val="50000"/>
                  </a:schemeClr>
                </a:solidFill>
                <a:effectLst>
                  <a:outerShdw blurRad="38100" dist="38100" dir="2700000" algn="tl">
                    <a:srgbClr val="000000">
                      <a:alpha val="43137"/>
                    </a:srgbClr>
                  </a:outerShdw>
                </a:effectLst>
              </a:defRPr>
            </a:lvl1pPr>
          </a:lstStyle>
          <a:p>
            <a:r>
              <a:rPr lang="zh-CN" altLang="en-US" dirty="0">
                <a:solidFill>
                  <a:schemeClr val="tx1">
                    <a:lumMod val="75000"/>
                    <a:lumOff val="25000"/>
                  </a:schemeClr>
                </a:solidFill>
                <a:effectLst/>
                <a:latin typeface="+mj-ea"/>
                <a:ea typeface="+mj-ea"/>
              </a:rPr>
              <a:t>多渠道</a:t>
            </a:r>
            <a:endParaRPr lang="en-US" altLang="zh-CN" dirty="0">
              <a:solidFill>
                <a:schemeClr val="tx1">
                  <a:lumMod val="75000"/>
                  <a:lumOff val="25000"/>
                </a:schemeClr>
              </a:solidFill>
              <a:effectLst/>
              <a:latin typeface="+mj-ea"/>
              <a:ea typeface="+mj-ea"/>
            </a:endParaRPr>
          </a:p>
        </p:txBody>
      </p:sp>
      <p:sp>
        <p:nvSpPr>
          <p:cNvPr id="12" name="文本框 11"/>
          <p:cNvSpPr txBox="1"/>
          <p:nvPr/>
        </p:nvSpPr>
        <p:spPr>
          <a:xfrm>
            <a:off x="6760429" y="4587706"/>
            <a:ext cx="1409700" cy="442674"/>
          </a:xfrm>
          <a:prstGeom prst="roundRect">
            <a:avLst/>
          </a:prstGeom>
          <a:noFill/>
          <a:ln w="3175">
            <a:noFill/>
          </a:ln>
        </p:spPr>
        <p:txBody>
          <a:bodyPr wrap="square" rtlCol="0">
            <a:spAutoFit/>
          </a:bodyPr>
          <a:lstStyle/>
          <a:p>
            <a:pPr algn="ctr"/>
            <a:r>
              <a:rPr lang="zh-CN" altLang="en-US" sz="2000" b="1" dirty="0">
                <a:solidFill>
                  <a:schemeClr val="accent4"/>
                </a:solidFill>
                <a:latin typeface="+mj-ea"/>
                <a:ea typeface="+mj-ea"/>
              </a:rPr>
              <a:t>单一渠道</a:t>
            </a:r>
            <a:endParaRPr lang="en-US" altLang="zh-CN" sz="2000" b="1" dirty="0">
              <a:solidFill>
                <a:schemeClr val="accent4"/>
              </a:solidFill>
              <a:latin typeface="+mj-ea"/>
              <a:ea typeface="+mj-ea"/>
            </a:endParaRPr>
          </a:p>
        </p:txBody>
      </p:sp>
      <p:sp>
        <p:nvSpPr>
          <p:cNvPr id="3" name="矩形: 圆角 2"/>
          <p:cNvSpPr/>
          <p:nvPr/>
        </p:nvSpPr>
        <p:spPr>
          <a:xfrm>
            <a:off x="256783" y="1760386"/>
            <a:ext cx="8630433" cy="2607846"/>
          </a:xfrm>
          <a:prstGeom prst="roundRect">
            <a:avLst/>
          </a:prstGeom>
          <a:noFill/>
          <a:ln w="38100">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6636363" y="379691"/>
            <a:ext cx="467022" cy="467022"/>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4442762" y="311902"/>
            <a:ext cx="99605" cy="99605"/>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25858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25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1500" fill="hold"/>
                                        <p:tgtEl>
                                          <p:spTgt spid="7"/>
                                        </p:tgtEl>
                                        <p:attrNameLst>
                                          <p:attrName>ppt_w</p:attrName>
                                        </p:attrNameLst>
                                      </p:cBhvr>
                                      <p:tavLst>
                                        <p:tav tm="0">
                                          <p:val>
                                            <p:fltVal val="0"/>
                                          </p:val>
                                        </p:tav>
                                        <p:tav tm="100000">
                                          <p:val>
                                            <p:strVal val="#ppt_w"/>
                                          </p:val>
                                        </p:tav>
                                      </p:tavLst>
                                    </p:anim>
                                    <p:anim calcmode="lin" valueType="num">
                                      <p:cBhvr>
                                        <p:cTn id="20" dur="1500" fill="hold"/>
                                        <p:tgtEl>
                                          <p:spTgt spid="7"/>
                                        </p:tgtEl>
                                        <p:attrNameLst>
                                          <p:attrName>ppt_h</p:attrName>
                                        </p:attrNameLst>
                                      </p:cBhvr>
                                      <p:tavLst>
                                        <p:tav tm="0">
                                          <p:val>
                                            <p:fltVal val="0"/>
                                          </p:val>
                                        </p:tav>
                                        <p:tav tm="100000">
                                          <p:val>
                                            <p:strVal val="#ppt_h"/>
                                          </p:val>
                                        </p:tav>
                                      </p:tavLst>
                                    </p:anim>
                                    <p:animEffect transition="in" filter="fade">
                                      <p:cBhvr>
                                        <p:cTn id="21" dur="1500"/>
                                        <p:tgtEl>
                                          <p:spTgt spid="7"/>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1500" fill="hold"/>
                                        <p:tgtEl>
                                          <p:spTgt spid="5"/>
                                        </p:tgtEl>
                                        <p:attrNameLst>
                                          <p:attrName>ppt_w</p:attrName>
                                        </p:attrNameLst>
                                      </p:cBhvr>
                                      <p:tavLst>
                                        <p:tav tm="0">
                                          <p:val>
                                            <p:fltVal val="0"/>
                                          </p:val>
                                        </p:tav>
                                        <p:tav tm="100000">
                                          <p:val>
                                            <p:strVal val="#ppt_w"/>
                                          </p:val>
                                        </p:tav>
                                      </p:tavLst>
                                    </p:anim>
                                    <p:anim calcmode="lin" valueType="num">
                                      <p:cBhvr>
                                        <p:cTn id="25" dur="1500" fill="hold"/>
                                        <p:tgtEl>
                                          <p:spTgt spid="5"/>
                                        </p:tgtEl>
                                        <p:attrNameLst>
                                          <p:attrName>ppt_h</p:attrName>
                                        </p:attrNameLst>
                                      </p:cBhvr>
                                      <p:tavLst>
                                        <p:tav tm="0">
                                          <p:val>
                                            <p:fltVal val="0"/>
                                          </p:val>
                                        </p:tav>
                                        <p:tav tm="100000">
                                          <p:val>
                                            <p:strVal val="#ppt_h"/>
                                          </p:val>
                                        </p:tav>
                                      </p:tavLst>
                                    </p:anim>
                                    <p:animEffect transition="in" filter="fade">
                                      <p:cBhvr>
                                        <p:cTn id="26" dur="1500"/>
                                        <p:tgtEl>
                                          <p:spTgt spid="5"/>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500" fill="hold"/>
                                        <p:tgtEl>
                                          <p:spTgt spid="6"/>
                                        </p:tgtEl>
                                        <p:attrNameLst>
                                          <p:attrName>ppt_w</p:attrName>
                                        </p:attrNameLst>
                                      </p:cBhvr>
                                      <p:tavLst>
                                        <p:tav tm="0">
                                          <p:val>
                                            <p:fltVal val="0"/>
                                          </p:val>
                                        </p:tav>
                                        <p:tav tm="100000">
                                          <p:val>
                                            <p:strVal val="#ppt_w"/>
                                          </p:val>
                                        </p:tav>
                                      </p:tavLst>
                                    </p:anim>
                                    <p:anim calcmode="lin" valueType="num">
                                      <p:cBhvr>
                                        <p:cTn id="30" dur="1500" fill="hold"/>
                                        <p:tgtEl>
                                          <p:spTgt spid="6"/>
                                        </p:tgtEl>
                                        <p:attrNameLst>
                                          <p:attrName>ppt_h</p:attrName>
                                        </p:attrNameLst>
                                      </p:cBhvr>
                                      <p:tavLst>
                                        <p:tav tm="0">
                                          <p:val>
                                            <p:fltVal val="0"/>
                                          </p:val>
                                        </p:tav>
                                        <p:tav tm="100000">
                                          <p:val>
                                            <p:strVal val="#ppt_h"/>
                                          </p:val>
                                        </p:tav>
                                      </p:tavLst>
                                    </p:anim>
                                    <p:animEffect transition="in" filter="fade">
                                      <p:cBhvr>
                                        <p:cTn id="31" dur="1500"/>
                                        <p:tgtEl>
                                          <p:spTgt spid="6"/>
                                        </p:tgtEl>
                                      </p:cBhvr>
                                    </p:animEffect>
                                  </p:childTnLst>
                                </p:cTn>
                              </p:par>
                              <p:par>
                                <p:cTn id="32" presetID="42" presetClass="entr" presetSubtype="0" fill="hold" grpId="0" nodeType="withEffect">
                                  <p:stCondLst>
                                    <p:cond delay="250"/>
                                  </p:stCondLst>
                                  <p:childTnLst>
                                    <p:set>
                                      <p:cBhvr>
                                        <p:cTn id="33" dur="1" fill="hold">
                                          <p:stCondLst>
                                            <p:cond delay="0"/>
                                          </p:stCondLst>
                                        </p:cTn>
                                        <p:tgtEl>
                                          <p:spTgt spid="4">
                                            <p:txEl>
                                              <p:pRg st="0" end="0"/>
                                            </p:txEl>
                                          </p:spTgt>
                                        </p:tgtEl>
                                        <p:attrNameLst>
                                          <p:attrName>style.visibility</p:attrName>
                                        </p:attrNameLst>
                                      </p:cBhvr>
                                      <p:to>
                                        <p:strVal val="visible"/>
                                      </p:to>
                                    </p:set>
                                    <p:animEffect transition="in" filter="fade">
                                      <p:cBhvr>
                                        <p:cTn id="34" dur="1500"/>
                                        <p:tgtEl>
                                          <p:spTgt spid="4">
                                            <p:txEl>
                                              <p:pRg st="0" end="0"/>
                                            </p:txEl>
                                          </p:spTgt>
                                        </p:tgtEl>
                                      </p:cBhvr>
                                    </p:animEffect>
                                    <p:anim calcmode="lin" valueType="num">
                                      <p:cBhvr>
                                        <p:cTn id="35" dur="15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36" dur="1500" fill="hold"/>
                                        <p:tgtEl>
                                          <p:spTgt spid="4">
                                            <p:txEl>
                                              <p:pRg st="0" end="0"/>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500"/>
                                  </p:stCondLst>
                                  <p:childTnLst>
                                    <p:set>
                                      <p:cBhvr>
                                        <p:cTn id="38" dur="1" fill="hold">
                                          <p:stCondLst>
                                            <p:cond delay="0"/>
                                          </p:stCondLst>
                                        </p:cTn>
                                        <p:tgtEl>
                                          <p:spTgt spid="11">
                                            <p:txEl>
                                              <p:pRg st="0" end="0"/>
                                            </p:txEl>
                                          </p:spTgt>
                                        </p:tgtEl>
                                        <p:attrNameLst>
                                          <p:attrName>style.visibility</p:attrName>
                                        </p:attrNameLst>
                                      </p:cBhvr>
                                      <p:to>
                                        <p:strVal val="visible"/>
                                      </p:to>
                                    </p:set>
                                    <p:animEffect transition="in" filter="fade">
                                      <p:cBhvr>
                                        <p:cTn id="39" dur="1000"/>
                                        <p:tgtEl>
                                          <p:spTgt spid="11">
                                            <p:txEl>
                                              <p:pRg st="0" end="0"/>
                                            </p:txEl>
                                          </p:spTgt>
                                        </p:tgtEl>
                                      </p:cBhvr>
                                    </p:animEffect>
                                    <p:anim calcmode="lin" valueType="num">
                                      <p:cBhvr>
                                        <p:cTn id="40"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41" dur="1000" fill="hold"/>
                                        <p:tgtEl>
                                          <p:spTgt spid="11">
                                            <p:txEl>
                                              <p:pRg st="0" end="0"/>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750"/>
                                  </p:stCondLst>
                                  <p:childTnLst>
                                    <p:set>
                                      <p:cBhvr>
                                        <p:cTn id="43" dur="1" fill="hold">
                                          <p:stCondLst>
                                            <p:cond delay="0"/>
                                          </p:stCondLst>
                                        </p:cTn>
                                        <p:tgtEl>
                                          <p:spTgt spid="12">
                                            <p:txEl>
                                              <p:pRg st="0" end="0"/>
                                            </p:txEl>
                                          </p:spTgt>
                                        </p:tgtEl>
                                        <p:attrNameLst>
                                          <p:attrName>style.visibility</p:attrName>
                                        </p:attrNameLst>
                                      </p:cBhvr>
                                      <p:to>
                                        <p:strVal val="visible"/>
                                      </p:to>
                                    </p:set>
                                    <p:animEffect transition="in" filter="fade">
                                      <p:cBhvr>
                                        <p:cTn id="44" dur="1000"/>
                                        <p:tgtEl>
                                          <p:spTgt spid="12">
                                            <p:txEl>
                                              <p:pRg st="0" end="0"/>
                                            </p:txEl>
                                          </p:spTgt>
                                        </p:tgtEl>
                                      </p:cBhvr>
                                    </p:animEffect>
                                    <p:anim calcmode="lin" valueType="num">
                                      <p:cBhvr>
                                        <p:cTn id="45"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46" dur="1000" fill="hold"/>
                                        <p:tgtEl>
                                          <p:spTgt spid="12">
                                            <p:txEl>
                                              <p:pRg st="0" end="0"/>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1250"/>
                                  </p:stCondLst>
                                  <p:childTnLst>
                                    <p:set>
                                      <p:cBhvr>
                                        <p:cTn id="48" dur="1" fill="hold">
                                          <p:stCondLst>
                                            <p:cond delay="0"/>
                                          </p:stCondLst>
                                        </p:cTn>
                                        <p:tgtEl>
                                          <p:spTgt spid="2"/>
                                        </p:tgtEl>
                                        <p:attrNameLst>
                                          <p:attrName>style.visibility</p:attrName>
                                        </p:attrNameLst>
                                      </p:cBhvr>
                                      <p:to>
                                        <p:strVal val="visible"/>
                                      </p:to>
                                    </p:set>
                                    <p:animEffect transition="in" filter="fade">
                                      <p:cBhvr>
                                        <p:cTn id="49" dur="1000"/>
                                        <p:tgtEl>
                                          <p:spTgt spid="2"/>
                                        </p:tgtEl>
                                      </p:cBhvr>
                                    </p:animEffect>
                                    <p:anim calcmode="lin" valueType="num">
                                      <p:cBhvr>
                                        <p:cTn id="50" dur="1000" fill="hold"/>
                                        <p:tgtEl>
                                          <p:spTgt spid="2"/>
                                        </p:tgtEl>
                                        <p:attrNameLst>
                                          <p:attrName>ppt_x</p:attrName>
                                        </p:attrNameLst>
                                      </p:cBhvr>
                                      <p:tavLst>
                                        <p:tav tm="0">
                                          <p:val>
                                            <p:strVal val="#ppt_x"/>
                                          </p:val>
                                        </p:tav>
                                        <p:tav tm="100000">
                                          <p:val>
                                            <p:strVal val="#ppt_x"/>
                                          </p:val>
                                        </p:tav>
                                      </p:tavLst>
                                    </p:anim>
                                    <p:anim calcmode="lin" valueType="num">
                                      <p:cBhvr>
                                        <p:cTn id="51" dur="1000" fill="hold"/>
                                        <p:tgtEl>
                                          <p:spTgt spid="2"/>
                                        </p:tgtEl>
                                        <p:attrNameLst>
                                          <p:attrName>ppt_y</p:attrName>
                                        </p:attrNameLst>
                                      </p:cBhvr>
                                      <p:tavLst>
                                        <p:tav tm="0">
                                          <p:val>
                                            <p:strVal val="#ppt_y+.1"/>
                                          </p:val>
                                        </p:tav>
                                        <p:tav tm="100000">
                                          <p:val>
                                            <p:strVal val="#ppt_y"/>
                                          </p:val>
                                        </p:tav>
                                      </p:tavLst>
                                    </p:anim>
                                  </p:childTnLst>
                                </p:cTn>
                              </p:par>
                              <p:par>
                                <p:cTn id="52" presetID="10" presetClass="entr" presetSubtype="0" fill="hold" grpId="0" nodeType="withEffect">
                                  <p:stCondLst>
                                    <p:cond delay="2250"/>
                                  </p:stCondLst>
                                  <p:childTnLst>
                                    <p:set>
                                      <p:cBhvr>
                                        <p:cTn id="53" dur="1" fill="hold">
                                          <p:stCondLst>
                                            <p:cond delay="0"/>
                                          </p:stCondLst>
                                        </p:cTn>
                                        <p:tgtEl>
                                          <p:spTgt spid="34"/>
                                        </p:tgtEl>
                                        <p:attrNameLst>
                                          <p:attrName>style.visibility</p:attrName>
                                        </p:attrNameLst>
                                      </p:cBhvr>
                                      <p:to>
                                        <p:strVal val="visible"/>
                                      </p:to>
                                    </p:set>
                                    <p:animEffect transition="in" filter="fade">
                                      <p:cBhvr>
                                        <p:cTn id="54" dur="500"/>
                                        <p:tgtEl>
                                          <p:spTgt spid="34"/>
                                        </p:tgtEl>
                                      </p:cBhvr>
                                    </p:animEffect>
                                  </p:childTnLst>
                                </p:cTn>
                              </p:par>
                              <p:par>
                                <p:cTn id="55" presetID="1" presetClass="path" presetSubtype="0" accel="40000" decel="40000" fill="hold" grpId="1" nodeType="withEffect">
                                  <p:stCondLst>
                                    <p:cond delay="2250"/>
                                  </p:stCondLst>
                                  <p:childTnLst>
                                    <p:animMotion origin="layout" path="M 5.55556E-7 4.44444E-6 C 0.12222 4.44444E-6 0.22187 0.03555 0.22187 0.07972 C 0.22187 0.12361 0.12222 0.15972 5.55556E-7 0.15972 C -0.1224 0.15972 -0.22188 0.12361 -0.22188 0.07972 C -0.22188 0.03555 -0.1224 4.44444E-6 5.55556E-7 4.44444E-6 Z " pathEditMode="relative" rAng="0" ptsTypes="AAAAA">
                                      <p:cBhvr>
                                        <p:cTn id="56" dur="2000" fill="hold"/>
                                        <p:tgtEl>
                                          <p:spTgt spid="34"/>
                                        </p:tgtEl>
                                        <p:attrNameLst>
                                          <p:attrName>ppt_x</p:attrName>
                                          <p:attrName>ppt_y</p:attrName>
                                        </p:attrNameLst>
                                      </p:cBhvr>
                                      <p:rCtr x="0" y="7972"/>
                                    </p:animMotion>
                                  </p:childTnLst>
                                </p:cTn>
                              </p:par>
                              <p:par>
                                <p:cTn id="57" presetID="6" presetClass="emph" presetSubtype="0" fill="hold" grpId="2" nodeType="withEffect">
                                  <p:stCondLst>
                                    <p:cond delay="3250"/>
                                  </p:stCondLst>
                                  <p:childTnLst>
                                    <p:animScale>
                                      <p:cBhvr>
                                        <p:cTn id="58" dur="2000" fill="hold"/>
                                        <p:tgtEl>
                                          <p:spTgt spid="34"/>
                                        </p:tgtEl>
                                      </p:cBhvr>
                                      <p:by x="150000" y="150000"/>
                                    </p:animScale>
                                  </p:childTnLst>
                                </p:cTn>
                              </p:par>
                              <p:par>
                                <p:cTn id="59" presetID="10" presetClass="exit" presetSubtype="0" fill="hold" grpId="3" nodeType="withEffect">
                                  <p:stCondLst>
                                    <p:cond delay="4000"/>
                                  </p:stCondLst>
                                  <p:childTnLst>
                                    <p:animEffect transition="out" filter="fade">
                                      <p:cBhvr>
                                        <p:cTn id="60" dur="500"/>
                                        <p:tgtEl>
                                          <p:spTgt spid="34"/>
                                        </p:tgtEl>
                                      </p:cBhvr>
                                    </p:animEffect>
                                    <p:set>
                                      <p:cBhvr>
                                        <p:cTn id="61" dur="1" fill="hold">
                                          <p:stCondLst>
                                            <p:cond delay="499"/>
                                          </p:stCondLst>
                                        </p:cTn>
                                        <p:tgtEl>
                                          <p:spTgt spid="34"/>
                                        </p:tgtEl>
                                        <p:attrNameLst>
                                          <p:attrName>style.visibility</p:attrName>
                                        </p:attrNameLst>
                                      </p:cBhvr>
                                      <p:to>
                                        <p:strVal val="hidden"/>
                                      </p:to>
                                    </p:set>
                                  </p:childTnLst>
                                </p:cTn>
                              </p:par>
                              <p:par>
                                <p:cTn id="62" presetID="53" presetClass="entr" presetSubtype="16" fill="hold" grpId="0" nodeType="withEffect">
                                  <p:stCondLst>
                                    <p:cond delay="3750"/>
                                  </p:stCondLst>
                                  <p:childTnLst>
                                    <p:set>
                                      <p:cBhvr>
                                        <p:cTn id="63" dur="1" fill="hold">
                                          <p:stCondLst>
                                            <p:cond delay="0"/>
                                          </p:stCondLst>
                                        </p:cTn>
                                        <p:tgtEl>
                                          <p:spTgt spid="33"/>
                                        </p:tgtEl>
                                        <p:attrNameLst>
                                          <p:attrName>style.visibility</p:attrName>
                                        </p:attrNameLst>
                                      </p:cBhvr>
                                      <p:to>
                                        <p:strVal val="visible"/>
                                      </p:to>
                                    </p:set>
                                    <p:anim calcmode="lin" valueType="num">
                                      <p:cBhvr>
                                        <p:cTn id="64" dur="750" fill="hold"/>
                                        <p:tgtEl>
                                          <p:spTgt spid="33"/>
                                        </p:tgtEl>
                                        <p:attrNameLst>
                                          <p:attrName>ppt_w</p:attrName>
                                        </p:attrNameLst>
                                      </p:cBhvr>
                                      <p:tavLst>
                                        <p:tav tm="0">
                                          <p:val>
                                            <p:fltVal val="0"/>
                                          </p:val>
                                        </p:tav>
                                        <p:tav tm="100000">
                                          <p:val>
                                            <p:strVal val="#ppt_w"/>
                                          </p:val>
                                        </p:tav>
                                      </p:tavLst>
                                    </p:anim>
                                    <p:anim calcmode="lin" valueType="num">
                                      <p:cBhvr>
                                        <p:cTn id="65" dur="750" fill="hold"/>
                                        <p:tgtEl>
                                          <p:spTgt spid="33"/>
                                        </p:tgtEl>
                                        <p:attrNameLst>
                                          <p:attrName>ppt_h</p:attrName>
                                        </p:attrNameLst>
                                      </p:cBhvr>
                                      <p:tavLst>
                                        <p:tav tm="0">
                                          <p:val>
                                            <p:fltVal val="0"/>
                                          </p:val>
                                        </p:tav>
                                        <p:tav tm="100000">
                                          <p:val>
                                            <p:strVal val="#ppt_h"/>
                                          </p:val>
                                        </p:tav>
                                      </p:tavLst>
                                    </p:anim>
                                    <p:animEffect transition="in" filter="fade">
                                      <p:cBhvr>
                                        <p:cTn id="66" dur="750"/>
                                        <p:tgtEl>
                                          <p:spTgt spid="33"/>
                                        </p:tgtEl>
                                      </p:cBhvr>
                                    </p:animEffect>
                                  </p:childTnLst>
                                </p:cTn>
                              </p:par>
                              <p:par>
                                <p:cTn id="67" presetID="53" presetClass="entr" presetSubtype="16" fill="hold" grpId="0" nodeType="withEffect">
                                  <p:stCondLst>
                                    <p:cond delay="4000"/>
                                  </p:stCondLst>
                                  <p:childTnLst>
                                    <p:set>
                                      <p:cBhvr>
                                        <p:cTn id="68" dur="1" fill="hold">
                                          <p:stCondLst>
                                            <p:cond delay="0"/>
                                          </p:stCondLst>
                                        </p:cTn>
                                        <p:tgtEl>
                                          <p:spTgt spid="31"/>
                                        </p:tgtEl>
                                        <p:attrNameLst>
                                          <p:attrName>style.visibility</p:attrName>
                                        </p:attrNameLst>
                                      </p:cBhvr>
                                      <p:to>
                                        <p:strVal val="visible"/>
                                      </p:to>
                                    </p:set>
                                    <p:anim calcmode="lin" valueType="num">
                                      <p:cBhvr>
                                        <p:cTn id="69" dur="750" fill="hold"/>
                                        <p:tgtEl>
                                          <p:spTgt spid="31"/>
                                        </p:tgtEl>
                                        <p:attrNameLst>
                                          <p:attrName>ppt_w</p:attrName>
                                        </p:attrNameLst>
                                      </p:cBhvr>
                                      <p:tavLst>
                                        <p:tav tm="0">
                                          <p:val>
                                            <p:fltVal val="0"/>
                                          </p:val>
                                        </p:tav>
                                        <p:tav tm="100000">
                                          <p:val>
                                            <p:strVal val="#ppt_w"/>
                                          </p:val>
                                        </p:tav>
                                      </p:tavLst>
                                    </p:anim>
                                    <p:anim calcmode="lin" valueType="num">
                                      <p:cBhvr>
                                        <p:cTn id="70" dur="750" fill="hold"/>
                                        <p:tgtEl>
                                          <p:spTgt spid="31"/>
                                        </p:tgtEl>
                                        <p:attrNameLst>
                                          <p:attrName>ppt_h</p:attrName>
                                        </p:attrNameLst>
                                      </p:cBhvr>
                                      <p:tavLst>
                                        <p:tav tm="0">
                                          <p:val>
                                            <p:fltVal val="0"/>
                                          </p:val>
                                        </p:tav>
                                        <p:tav tm="100000">
                                          <p:val>
                                            <p:strVal val="#ppt_h"/>
                                          </p:val>
                                        </p:tav>
                                      </p:tavLst>
                                    </p:anim>
                                    <p:animEffect transition="in" filter="fade">
                                      <p:cBhvr>
                                        <p:cTn id="71" dur="7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14" grpId="0" animBg="1"/>
      <p:bldP spid="13" grpId="0" animBg="1"/>
      <p:bldP spid="9" grpId="0" animBg="1"/>
      <p:bldP spid="2" grpId="0"/>
      <p:bldGraphic spid="6" grpId="0">
        <p:bldAsOne/>
      </p:bldGraphic>
      <p:bldGraphic spid="5" grpId="0">
        <p:bldAsOne/>
      </p:bldGraphic>
      <p:bldGraphic spid="7" grpId="0">
        <p:bldAsOne/>
      </p:bldGraphic>
      <p:bldP spid="4" grpId="0" build="p"/>
      <p:bldP spid="11" grpId="0" build="p"/>
      <p:bldP spid="12" grpId="0" build="p"/>
      <p:bldP spid="3" grpId="0" animBg="1"/>
      <p:bldP spid="33" grpId="0" animBg="1"/>
      <p:bldP spid="34" grpId="0" animBg="1"/>
      <p:bldP spid="34" grpId="1" animBg="1"/>
      <p:bldP spid="34" grpId="2" animBg="1"/>
      <p:bldP spid="34" grpId="3"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12" name="内容占位符 2"/>
          <p:cNvSpPr txBox="1">
            <a:spLocks/>
          </p:cNvSpPr>
          <p:nvPr/>
        </p:nvSpPr>
        <p:spPr>
          <a:xfrm>
            <a:off x="5951219" y="0"/>
            <a:ext cx="2405084" cy="5715000"/>
          </a:xfrm>
          <a:prstGeom prst="rect">
            <a:avLst/>
          </a:prstGeom>
          <a:solidFill>
            <a:schemeClr val="accent2">
              <a:alpha val="70000"/>
            </a:schemeClr>
          </a:solidFill>
          <a:ln w="44450">
            <a:noFill/>
            <a:prstDash val="dash"/>
          </a:ln>
          <a:effectLst/>
        </p:spPr>
        <p:txBody>
          <a:bodyPr vert="horz" lIns="180000" tIns="45720" rIns="180000" bIns="45720" rtlCol="0" anchor="ct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50000"/>
              </a:lnSpc>
              <a:buNone/>
            </a:pPr>
            <a:r>
              <a:rPr lang="zh-CN" altLang="en-US" sz="1600" b="1" dirty="0">
                <a:solidFill>
                  <a:schemeClr val="bg1"/>
                </a:solidFill>
                <a:effectLst>
                  <a:outerShdw blurRad="38100" dist="38100" dir="2700000" algn="tl">
                    <a:srgbClr val="000000">
                      <a:alpha val="43137"/>
                    </a:srgbClr>
                  </a:outerShdw>
                </a:effectLst>
                <a:latin typeface="+mj-ea"/>
                <a:ea typeface="+mj-ea"/>
              </a:rPr>
              <a:t>全渠道客户服务模式是客户服务行业发展的集大成者，既囊括了传统的客服渠道，又融入了新兴的客服渠道，并且通过进一步整合用户数据、知识数据提升了企业客户服务的效率，进而得到了企业、客服、客户的认可，因此发展极为迅速。</a:t>
            </a:r>
          </a:p>
        </p:txBody>
      </p:sp>
      <p:sp>
        <p:nvSpPr>
          <p:cNvPr id="13" name="等腰三角形 12"/>
          <p:cNvSpPr/>
          <p:nvPr/>
        </p:nvSpPr>
        <p:spPr>
          <a:xfrm flipV="1">
            <a:off x="7012577" y="5081783"/>
            <a:ext cx="282368" cy="12224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题 1"/>
          <p:cNvSpPr txBox="1">
            <a:spLocks/>
          </p:cNvSpPr>
          <p:nvPr/>
        </p:nvSpPr>
        <p:spPr>
          <a:xfrm>
            <a:off x="115747" y="4326152"/>
            <a:ext cx="5680954" cy="1388848"/>
          </a:xfrm>
          <a:prstGeom prst="rect">
            <a:avLst/>
          </a:prstGeom>
          <a:noFill/>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zh-CN" altLang="en-US" sz="4000" b="1" i="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全渠道客户服务总结</a:t>
            </a:r>
          </a:p>
        </p:txBody>
      </p:sp>
    </p:spTree>
    <p:extLst>
      <p:ext uri="{BB962C8B-B14F-4D97-AF65-F5344CB8AC3E}">
        <p14:creationId xmlns:p14="http://schemas.microsoft.com/office/powerpoint/2010/main" val="689597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离页连接符 4"/>
          <p:cNvSpPr/>
          <p:nvPr/>
        </p:nvSpPr>
        <p:spPr>
          <a:xfrm>
            <a:off x="466887" y="0"/>
            <a:ext cx="1855838" cy="3034650"/>
          </a:xfrm>
          <a:prstGeom prst="flowChartOffpageConnector">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lnSpc>
                <a:spcPct val="150000"/>
              </a:lnSpc>
            </a:pPr>
            <a:endParaRPr lang="en-US" altLang="zh-CN" sz="2000" b="1" dirty="0">
              <a:solidFill>
                <a:schemeClr val="tx2">
                  <a:lumMod val="75000"/>
                </a:schemeClr>
              </a:solidFill>
              <a:latin typeface="微软雅黑" panose="020B0503020204020204" pitchFamily="34" charset="-122"/>
              <a:ea typeface="微软雅黑" panose="020B0503020204020204" pitchFamily="34" charset="-122"/>
            </a:endParaRPr>
          </a:p>
        </p:txBody>
      </p:sp>
      <p:sp>
        <p:nvSpPr>
          <p:cNvPr id="11" name="矩形 10"/>
          <p:cNvSpPr/>
          <p:nvPr/>
        </p:nvSpPr>
        <p:spPr>
          <a:xfrm>
            <a:off x="466888" y="6563"/>
            <a:ext cx="1855838" cy="29406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2908454" y="1517325"/>
            <a:ext cx="5585550" cy="3260993"/>
          </a:xfrm>
          <a:prstGeom prst="rect">
            <a:avLst/>
          </a:prstGeom>
          <a:noFill/>
        </p:spPr>
        <p:txBody>
          <a:bodyPr wrap="square" rtlCol="0">
            <a:prstTxWarp prst="textPlain">
              <a:avLst/>
            </a:prstTxWarp>
            <a:spAutoFit/>
          </a:bodyPr>
          <a:lstStyle/>
          <a:p>
            <a:r>
              <a:rPr lang="en-US" altLang="zh-CN" b="1" dirty="0">
                <a:blipFill dpi="0" rotWithShape="1">
                  <a:blip r:embed="rId2"/>
                  <a:srcRect/>
                  <a:stretch>
                    <a:fillRect/>
                  </a:stretch>
                </a:blipFill>
                <a:effectLst>
                  <a:outerShdw blurRad="50800" dist="38100" dir="2700000" algn="tl" rotWithShape="0">
                    <a:prstClr val="black">
                      <a:alpha val="40000"/>
                    </a:prstClr>
                  </a:outerShdw>
                </a:effectLst>
                <a:latin typeface="Microsoft JhengHei" panose="020B0604030504040204" pitchFamily="34" charset="-120"/>
                <a:ea typeface="Microsoft JhengHei" panose="020B0604030504040204" pitchFamily="34" charset="-120"/>
              </a:rPr>
              <a:t>——————————————</a:t>
            </a:r>
            <a:endParaRPr lang="zh-CN" altLang="en-US" b="1" dirty="0">
              <a:blipFill dpi="0" rotWithShape="1">
                <a:blip r:embed="rId2"/>
                <a:srcRect/>
                <a:stretch>
                  <a:fillRect/>
                </a:stretch>
              </a:blipFill>
              <a:effectLst>
                <a:outerShdw blurRad="50800" dist="38100" dir="2700000" algn="tl" rotWithShape="0">
                  <a:prstClr val="black">
                    <a:alpha val="40000"/>
                  </a:prstClr>
                </a:outerShdw>
              </a:effectLst>
              <a:latin typeface="Microsoft JhengHei" panose="020B0604030504040204" pitchFamily="34" charset="-120"/>
              <a:ea typeface="Microsoft JhengHei" panose="020B0604030504040204" pitchFamily="34" charset="-120"/>
            </a:endParaRPr>
          </a:p>
        </p:txBody>
      </p:sp>
      <p:sp>
        <p:nvSpPr>
          <p:cNvPr id="10" name="文本框 9"/>
          <p:cNvSpPr txBox="1"/>
          <p:nvPr/>
        </p:nvSpPr>
        <p:spPr>
          <a:xfrm>
            <a:off x="1086402" y="409329"/>
            <a:ext cx="936434" cy="1107996"/>
          </a:xfrm>
          <a:prstGeom prst="rect">
            <a:avLst/>
          </a:prstGeom>
          <a:noFill/>
        </p:spPr>
        <p:txBody>
          <a:bodyPr wrap="square" rtlCol="0">
            <a:spAutoFit/>
          </a:bodyPr>
          <a:lstStyle/>
          <a:p>
            <a:r>
              <a:rPr lang="en-US" altLang="zh-CN" sz="6600" dirty="0">
                <a:solidFill>
                  <a:schemeClr val="accent2"/>
                </a:solidFill>
                <a:latin typeface="+mn-ea"/>
              </a:rPr>
              <a:t>3</a:t>
            </a:r>
            <a:endParaRPr lang="zh-CN" altLang="en-US" sz="6600" dirty="0">
              <a:solidFill>
                <a:schemeClr val="accent2"/>
              </a:solidFill>
              <a:latin typeface="+mn-ea"/>
            </a:endParaRPr>
          </a:p>
        </p:txBody>
      </p:sp>
      <p:sp>
        <p:nvSpPr>
          <p:cNvPr id="23" name="矩形 22"/>
          <p:cNvSpPr/>
          <p:nvPr/>
        </p:nvSpPr>
        <p:spPr>
          <a:xfrm>
            <a:off x="2908455" y="1123720"/>
            <a:ext cx="5585549" cy="393605"/>
          </a:xfrm>
          <a:prstGeom prst="rect">
            <a:avLst/>
          </a:pr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466887" y="-1"/>
            <a:ext cx="1855838" cy="294061"/>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3" name="直接连接符 2"/>
          <p:cNvCxnSpPr>
            <a:cxnSpLocks/>
          </p:cNvCxnSpPr>
          <p:nvPr/>
        </p:nvCxnSpPr>
        <p:spPr>
          <a:xfrm>
            <a:off x="466887" y="1408204"/>
            <a:ext cx="1855838"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矩形 1"/>
          <p:cNvSpPr/>
          <p:nvPr/>
        </p:nvSpPr>
        <p:spPr>
          <a:xfrm>
            <a:off x="766253" y="1408204"/>
            <a:ext cx="1257105" cy="1289905"/>
          </a:xfrm>
          <a:prstGeom prst="rect">
            <a:avLst/>
          </a:prstGeom>
        </p:spPr>
        <p:txBody>
          <a:bodyPr wrap="square">
            <a:spAutoFit/>
          </a:bodyPr>
          <a:lstStyle/>
          <a:p>
            <a:pPr algn="ctr">
              <a:lnSpc>
                <a:spcPct val="15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社交媒体客户服务促进营销</a:t>
            </a:r>
            <a:endParaRPr lang="en-US" altLang="zh-CN"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60" name="组合 59"/>
          <p:cNvGrpSpPr/>
          <p:nvPr/>
        </p:nvGrpSpPr>
        <p:grpSpPr>
          <a:xfrm>
            <a:off x="7264097" y="4949496"/>
            <a:ext cx="1023255" cy="648772"/>
            <a:chOff x="1419243" y="4456566"/>
            <a:chExt cx="1731363" cy="1097733"/>
          </a:xfrm>
          <a:solidFill>
            <a:schemeClr val="tx1">
              <a:lumMod val="75000"/>
              <a:lumOff val="25000"/>
            </a:schemeClr>
          </a:solidFill>
          <a:effectLst>
            <a:outerShdw blurRad="63500" sx="102000" sy="102000" algn="ctr" rotWithShape="0">
              <a:prstClr val="black">
                <a:alpha val="40000"/>
              </a:prstClr>
            </a:outerShdw>
          </a:effectLst>
        </p:grpSpPr>
        <p:sp>
          <p:nvSpPr>
            <p:cNvPr id="61" name="椭圆 60"/>
            <p:cNvSpPr/>
            <p:nvPr/>
          </p:nvSpPr>
          <p:spPr>
            <a:xfrm>
              <a:off x="1865015" y="4925084"/>
              <a:ext cx="153909" cy="153909"/>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p:nvPr/>
          </p:nvSpPr>
          <p:spPr>
            <a:xfrm>
              <a:off x="2087730"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p:nvPr/>
          </p:nvSpPr>
          <p:spPr>
            <a:xfrm>
              <a:off x="2310445" y="4925084"/>
              <a:ext cx="153909" cy="15390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a:off x="2533160"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a:off x="2755875" y="4925084"/>
              <a:ext cx="153909" cy="15390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2996697"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a:off x="2865422" y="4766648"/>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p:nvSpPr>
          <p:spPr>
            <a:xfrm>
              <a:off x="2736411" y="4610475"/>
              <a:ext cx="153909" cy="153909"/>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p:nvSpPr>
          <p:spPr>
            <a:xfrm>
              <a:off x="2865422" y="50857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a:off x="2736411" y="5251011"/>
              <a:ext cx="153909" cy="15390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2601966" y="4456566"/>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2601966" y="5400390"/>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a:off x="1644563"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1419243"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5" name="椭圆 74"/>
          <p:cNvSpPr/>
          <p:nvPr/>
        </p:nvSpPr>
        <p:spPr>
          <a:xfrm>
            <a:off x="2908454" y="669032"/>
            <a:ext cx="129209" cy="12920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a:off x="3149457" y="669032"/>
            <a:ext cx="129209" cy="129209"/>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nvSpPr>
        <p:spPr>
          <a:xfrm>
            <a:off x="3390460" y="665816"/>
            <a:ext cx="129209" cy="12920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nvSpPr>
        <p:spPr>
          <a:xfrm>
            <a:off x="3631463" y="665816"/>
            <a:ext cx="129209" cy="129209"/>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9" name="椭圆 78"/>
          <p:cNvSpPr/>
          <p:nvPr/>
        </p:nvSpPr>
        <p:spPr>
          <a:xfrm>
            <a:off x="3872466" y="665815"/>
            <a:ext cx="129209" cy="129209"/>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59578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1000"/>
                                        <p:tgtEl>
                                          <p:spTgt spid="5"/>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par>
                          <p:cTn id="12" fill="hold">
                            <p:stCondLst>
                              <p:cond delay="1500"/>
                            </p:stCondLst>
                            <p:childTnLst>
                              <p:par>
                                <p:cTn id="13" presetID="17" presetClass="entr" presetSubtype="8" fill="hold" grpId="0" nodeType="afterEffect">
                                  <p:stCondLst>
                                    <p:cond delay="0"/>
                                  </p:stCondLst>
                                  <p:childTnLst>
                                    <p:set>
                                      <p:cBhvr>
                                        <p:cTn id="14" dur="1" fill="hold">
                                          <p:stCondLst>
                                            <p:cond delay="0"/>
                                          </p:stCondLst>
                                        </p:cTn>
                                        <p:tgtEl>
                                          <p:spTgt spid="45"/>
                                        </p:tgtEl>
                                        <p:attrNameLst>
                                          <p:attrName>style.visibility</p:attrName>
                                        </p:attrNameLst>
                                      </p:cBhvr>
                                      <p:to>
                                        <p:strVal val="visible"/>
                                      </p:to>
                                    </p:set>
                                    <p:anim calcmode="lin" valueType="num">
                                      <p:cBhvr>
                                        <p:cTn id="15" dur="750" fill="hold"/>
                                        <p:tgtEl>
                                          <p:spTgt spid="45"/>
                                        </p:tgtEl>
                                        <p:attrNameLst>
                                          <p:attrName>ppt_x</p:attrName>
                                        </p:attrNameLst>
                                      </p:cBhvr>
                                      <p:tavLst>
                                        <p:tav tm="0">
                                          <p:val>
                                            <p:strVal val="#ppt_x-#ppt_w/2"/>
                                          </p:val>
                                        </p:tav>
                                        <p:tav tm="100000">
                                          <p:val>
                                            <p:strVal val="#ppt_x"/>
                                          </p:val>
                                        </p:tav>
                                      </p:tavLst>
                                    </p:anim>
                                    <p:anim calcmode="lin" valueType="num">
                                      <p:cBhvr>
                                        <p:cTn id="16" dur="750" fill="hold"/>
                                        <p:tgtEl>
                                          <p:spTgt spid="45"/>
                                        </p:tgtEl>
                                        <p:attrNameLst>
                                          <p:attrName>ppt_y</p:attrName>
                                        </p:attrNameLst>
                                      </p:cBhvr>
                                      <p:tavLst>
                                        <p:tav tm="0">
                                          <p:val>
                                            <p:strVal val="#ppt_y"/>
                                          </p:val>
                                        </p:tav>
                                        <p:tav tm="100000">
                                          <p:val>
                                            <p:strVal val="#ppt_y"/>
                                          </p:val>
                                        </p:tav>
                                      </p:tavLst>
                                    </p:anim>
                                    <p:anim calcmode="lin" valueType="num">
                                      <p:cBhvr>
                                        <p:cTn id="17" dur="750" fill="hold"/>
                                        <p:tgtEl>
                                          <p:spTgt spid="45"/>
                                        </p:tgtEl>
                                        <p:attrNameLst>
                                          <p:attrName>ppt_w</p:attrName>
                                        </p:attrNameLst>
                                      </p:cBhvr>
                                      <p:tavLst>
                                        <p:tav tm="0">
                                          <p:val>
                                            <p:fltVal val="0"/>
                                          </p:val>
                                        </p:tav>
                                        <p:tav tm="100000">
                                          <p:val>
                                            <p:strVal val="#ppt_w"/>
                                          </p:val>
                                        </p:tav>
                                      </p:tavLst>
                                    </p:anim>
                                    <p:anim calcmode="lin" valueType="num">
                                      <p:cBhvr>
                                        <p:cTn id="18" dur="750" fill="hold"/>
                                        <p:tgtEl>
                                          <p:spTgt spid="45"/>
                                        </p:tgtEl>
                                        <p:attrNameLst>
                                          <p:attrName>ppt_h</p:attrName>
                                        </p:attrNameLst>
                                      </p:cBhvr>
                                      <p:tavLst>
                                        <p:tav tm="0">
                                          <p:val>
                                            <p:strVal val="#ppt_h"/>
                                          </p:val>
                                        </p:tav>
                                        <p:tav tm="100000">
                                          <p:val>
                                            <p:strVal val="#ppt_h"/>
                                          </p:val>
                                        </p:tav>
                                      </p:tavLst>
                                    </p:anim>
                                  </p:childTnLst>
                                </p:cTn>
                              </p:par>
                            </p:childTnLst>
                          </p:cTn>
                        </p:par>
                        <p:par>
                          <p:cTn id="19" fill="hold">
                            <p:stCondLst>
                              <p:cond delay="2250"/>
                            </p:stCondLst>
                            <p:childTnLst>
                              <p:par>
                                <p:cTn id="20" presetID="10" presetClass="entr" presetSubtype="0" fill="hold"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p:cTn id="25" dur="1000" fill="hold"/>
                                        <p:tgtEl>
                                          <p:spTgt spid="10"/>
                                        </p:tgtEl>
                                        <p:attrNameLst>
                                          <p:attrName>ppt_w</p:attrName>
                                        </p:attrNameLst>
                                      </p:cBhvr>
                                      <p:tavLst>
                                        <p:tav tm="0">
                                          <p:val>
                                            <p:fltVal val="0"/>
                                          </p:val>
                                        </p:tav>
                                        <p:tav tm="100000">
                                          <p:val>
                                            <p:strVal val="#ppt_w"/>
                                          </p:val>
                                        </p:tav>
                                      </p:tavLst>
                                    </p:anim>
                                    <p:anim calcmode="lin" valueType="num">
                                      <p:cBhvr>
                                        <p:cTn id="26" dur="1000" fill="hold"/>
                                        <p:tgtEl>
                                          <p:spTgt spid="10"/>
                                        </p:tgtEl>
                                        <p:attrNameLst>
                                          <p:attrName>ppt_h</p:attrName>
                                        </p:attrNameLst>
                                      </p:cBhvr>
                                      <p:tavLst>
                                        <p:tav tm="0">
                                          <p:val>
                                            <p:fltVal val="0"/>
                                          </p:val>
                                        </p:tav>
                                        <p:tav tm="100000">
                                          <p:val>
                                            <p:strVal val="#ppt_h"/>
                                          </p:val>
                                        </p:tav>
                                      </p:tavLst>
                                    </p:anim>
                                    <p:animEffect transition="in" filter="fade">
                                      <p:cBhvr>
                                        <p:cTn id="27" dur="1000"/>
                                        <p:tgtEl>
                                          <p:spTgt spid="10"/>
                                        </p:tgtEl>
                                      </p:cBhvr>
                                    </p:animEffect>
                                  </p:childTnLst>
                                </p:cTn>
                              </p:par>
                              <p:par>
                                <p:cTn id="28" presetID="42" presetClass="entr" presetSubtype="0" fill="hold" grpId="0" nodeType="with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fade">
                                      <p:cBhvr>
                                        <p:cTn id="30" dur="1000"/>
                                        <p:tgtEl>
                                          <p:spTgt spid="2"/>
                                        </p:tgtEl>
                                      </p:cBhvr>
                                    </p:animEffect>
                                    <p:anim calcmode="lin" valueType="num">
                                      <p:cBhvr>
                                        <p:cTn id="31" dur="1000" fill="hold"/>
                                        <p:tgtEl>
                                          <p:spTgt spid="2"/>
                                        </p:tgtEl>
                                        <p:attrNameLst>
                                          <p:attrName>ppt_x</p:attrName>
                                        </p:attrNameLst>
                                      </p:cBhvr>
                                      <p:tavLst>
                                        <p:tav tm="0">
                                          <p:val>
                                            <p:strVal val="#ppt_x"/>
                                          </p:val>
                                        </p:tav>
                                        <p:tav tm="100000">
                                          <p:val>
                                            <p:strVal val="#ppt_x"/>
                                          </p:val>
                                        </p:tav>
                                      </p:tavLst>
                                    </p:anim>
                                    <p:anim calcmode="lin" valueType="num">
                                      <p:cBhvr>
                                        <p:cTn id="32" dur="1000" fill="hold"/>
                                        <p:tgtEl>
                                          <p:spTgt spid="2"/>
                                        </p:tgtEl>
                                        <p:attrNameLst>
                                          <p:attrName>ppt_y</p:attrName>
                                        </p:attrNameLst>
                                      </p:cBhvr>
                                      <p:tavLst>
                                        <p:tav tm="0">
                                          <p:val>
                                            <p:strVal val="#ppt_y+.1"/>
                                          </p:val>
                                        </p:tav>
                                        <p:tav tm="100000">
                                          <p:val>
                                            <p:strVal val="#ppt_y"/>
                                          </p:val>
                                        </p:tav>
                                      </p:tavLst>
                                    </p:anim>
                                  </p:childTnLst>
                                </p:cTn>
                              </p:par>
                              <p:par>
                                <p:cTn id="33" presetID="47" presetClass="entr" presetSubtype="0" fill="hold" grpId="0" nodeType="withEffect">
                                  <p:stCondLst>
                                    <p:cond delay="100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1000"/>
                                        <p:tgtEl>
                                          <p:spTgt spid="23"/>
                                        </p:tgtEl>
                                      </p:cBhvr>
                                    </p:animEffect>
                                    <p:anim calcmode="lin" valueType="num">
                                      <p:cBhvr>
                                        <p:cTn id="36" dur="1000" fill="hold"/>
                                        <p:tgtEl>
                                          <p:spTgt spid="23"/>
                                        </p:tgtEl>
                                        <p:attrNameLst>
                                          <p:attrName>ppt_x</p:attrName>
                                        </p:attrNameLst>
                                      </p:cBhvr>
                                      <p:tavLst>
                                        <p:tav tm="0">
                                          <p:val>
                                            <p:strVal val="#ppt_x"/>
                                          </p:val>
                                        </p:tav>
                                        <p:tav tm="100000">
                                          <p:val>
                                            <p:strVal val="#ppt_x"/>
                                          </p:val>
                                        </p:tav>
                                      </p:tavLst>
                                    </p:anim>
                                    <p:anim calcmode="lin" valueType="num">
                                      <p:cBhvr>
                                        <p:cTn id="37" dur="1000" fill="hold"/>
                                        <p:tgtEl>
                                          <p:spTgt spid="23"/>
                                        </p:tgtEl>
                                        <p:attrNameLst>
                                          <p:attrName>ppt_y</p:attrName>
                                        </p:attrNameLst>
                                      </p:cBhvr>
                                      <p:tavLst>
                                        <p:tav tm="0">
                                          <p:val>
                                            <p:strVal val="#ppt_y-.1"/>
                                          </p:val>
                                        </p:tav>
                                        <p:tav tm="100000">
                                          <p:val>
                                            <p:strVal val="#ppt_y"/>
                                          </p:val>
                                        </p:tav>
                                      </p:tavLst>
                                    </p:anim>
                                  </p:childTnLst>
                                </p:cTn>
                              </p:par>
                              <p:par>
                                <p:cTn id="38" presetID="53" presetClass="entr" presetSubtype="16" fill="hold" grpId="0" nodeType="withEffect">
                                  <p:stCondLst>
                                    <p:cond delay="1000"/>
                                  </p:stCondLst>
                                  <p:iterate type="lt">
                                    <p:tmPct val="10000"/>
                                  </p:iterate>
                                  <p:childTnLst>
                                    <p:set>
                                      <p:cBhvr>
                                        <p:cTn id="39" dur="1" fill="hold">
                                          <p:stCondLst>
                                            <p:cond delay="0"/>
                                          </p:stCondLst>
                                        </p:cTn>
                                        <p:tgtEl>
                                          <p:spTgt spid="15">
                                            <p:txEl>
                                              <p:pRg st="0" end="0"/>
                                            </p:txEl>
                                          </p:spTgt>
                                        </p:tgtEl>
                                        <p:attrNameLst>
                                          <p:attrName>style.visibility</p:attrName>
                                        </p:attrNameLst>
                                      </p:cBhvr>
                                      <p:to>
                                        <p:strVal val="visible"/>
                                      </p:to>
                                    </p:set>
                                    <p:anim calcmode="lin" valueType="num">
                                      <p:cBhvr>
                                        <p:cTn id="40" dur="1000" fill="hold"/>
                                        <p:tgtEl>
                                          <p:spTgt spid="15">
                                            <p:txEl>
                                              <p:pRg st="0" end="0"/>
                                            </p:txEl>
                                          </p:spTgt>
                                        </p:tgtEl>
                                        <p:attrNameLst>
                                          <p:attrName>ppt_w</p:attrName>
                                        </p:attrNameLst>
                                      </p:cBhvr>
                                      <p:tavLst>
                                        <p:tav tm="0">
                                          <p:val>
                                            <p:fltVal val="0"/>
                                          </p:val>
                                        </p:tav>
                                        <p:tav tm="100000">
                                          <p:val>
                                            <p:strVal val="#ppt_w"/>
                                          </p:val>
                                        </p:tav>
                                      </p:tavLst>
                                    </p:anim>
                                    <p:anim calcmode="lin" valueType="num">
                                      <p:cBhvr>
                                        <p:cTn id="41" dur="1000" fill="hold"/>
                                        <p:tgtEl>
                                          <p:spTgt spid="15">
                                            <p:txEl>
                                              <p:pRg st="0" end="0"/>
                                            </p:txEl>
                                          </p:spTgt>
                                        </p:tgtEl>
                                        <p:attrNameLst>
                                          <p:attrName>ppt_h</p:attrName>
                                        </p:attrNameLst>
                                      </p:cBhvr>
                                      <p:tavLst>
                                        <p:tav tm="0">
                                          <p:val>
                                            <p:fltVal val="0"/>
                                          </p:val>
                                        </p:tav>
                                        <p:tav tm="100000">
                                          <p:val>
                                            <p:strVal val="#ppt_h"/>
                                          </p:val>
                                        </p:tav>
                                      </p:tavLst>
                                    </p:anim>
                                    <p:animEffect transition="in" filter="fade">
                                      <p:cBhvr>
                                        <p:cTn id="42" dur="1000"/>
                                        <p:tgtEl>
                                          <p:spTgt spid="15">
                                            <p:txEl>
                                              <p:pRg st="0" end="0"/>
                                            </p:txEl>
                                          </p:spTgt>
                                        </p:tgtEl>
                                      </p:cBhvr>
                                    </p:animEffect>
                                  </p:childTnLst>
                                </p:cTn>
                              </p:par>
                              <p:par>
                                <p:cTn id="43" presetID="10" presetClass="entr" presetSubtype="0" fill="hold" nodeType="withEffect">
                                  <p:stCondLst>
                                    <p:cond delay="3000"/>
                                  </p:stCondLst>
                                  <p:childTnLst>
                                    <p:set>
                                      <p:cBhvr>
                                        <p:cTn id="44" dur="1" fill="hold">
                                          <p:stCondLst>
                                            <p:cond delay="0"/>
                                          </p:stCondLst>
                                        </p:cTn>
                                        <p:tgtEl>
                                          <p:spTgt spid="60"/>
                                        </p:tgtEl>
                                        <p:attrNameLst>
                                          <p:attrName>style.visibility</p:attrName>
                                        </p:attrNameLst>
                                      </p:cBhvr>
                                      <p:to>
                                        <p:strVal val="visible"/>
                                      </p:to>
                                    </p:set>
                                    <p:animEffect transition="in" filter="fade">
                                      <p:cBhvr>
                                        <p:cTn id="45" dur="500"/>
                                        <p:tgtEl>
                                          <p:spTgt spid="60"/>
                                        </p:tgtEl>
                                      </p:cBhvr>
                                    </p:animEffect>
                                  </p:childTnLst>
                                </p:cTn>
                              </p:par>
                              <p:par>
                                <p:cTn id="46" presetID="42" presetClass="path" presetSubtype="0" repeatCount="indefinite" accel="50000" decel="50000" autoRev="1" fill="hold" nodeType="withEffect">
                                  <p:stCondLst>
                                    <p:cond delay="3250"/>
                                  </p:stCondLst>
                                  <p:childTnLst>
                                    <p:animMotion origin="layout" path="M 2.77778E-6 -2.22222E-6 L 0.06614 0.00334 " pathEditMode="relative" rAng="0" ptsTypes="AA">
                                      <p:cBhvr>
                                        <p:cTn id="47" dur="750" fill="hold"/>
                                        <p:tgtEl>
                                          <p:spTgt spid="60"/>
                                        </p:tgtEl>
                                        <p:attrNameLst>
                                          <p:attrName>ppt_x</p:attrName>
                                          <p:attrName>ppt_y</p:attrName>
                                        </p:attrNameLst>
                                      </p:cBhvr>
                                      <p:rCtr x="3299" y="167"/>
                                    </p:animMotion>
                                  </p:childTnLst>
                                </p:cTn>
                              </p:par>
                              <p:par>
                                <p:cTn id="48" presetID="2" presetClass="entr" presetSubtype="1" fill="hold" grpId="0" nodeType="withEffect">
                                  <p:stCondLst>
                                    <p:cond delay="0"/>
                                  </p:stCondLst>
                                  <p:childTnLst>
                                    <p:set>
                                      <p:cBhvr>
                                        <p:cTn id="49" dur="1" fill="hold">
                                          <p:stCondLst>
                                            <p:cond delay="0"/>
                                          </p:stCondLst>
                                        </p:cTn>
                                        <p:tgtEl>
                                          <p:spTgt spid="75"/>
                                        </p:tgtEl>
                                        <p:attrNameLst>
                                          <p:attrName>style.visibility</p:attrName>
                                        </p:attrNameLst>
                                      </p:cBhvr>
                                      <p:to>
                                        <p:strVal val="visible"/>
                                      </p:to>
                                    </p:set>
                                    <p:anim calcmode="lin" valueType="num">
                                      <p:cBhvr additive="base">
                                        <p:cTn id="50" dur="750" fill="hold"/>
                                        <p:tgtEl>
                                          <p:spTgt spid="75"/>
                                        </p:tgtEl>
                                        <p:attrNameLst>
                                          <p:attrName>ppt_x</p:attrName>
                                        </p:attrNameLst>
                                      </p:cBhvr>
                                      <p:tavLst>
                                        <p:tav tm="0">
                                          <p:val>
                                            <p:strVal val="#ppt_x"/>
                                          </p:val>
                                        </p:tav>
                                        <p:tav tm="100000">
                                          <p:val>
                                            <p:strVal val="#ppt_x"/>
                                          </p:val>
                                        </p:tav>
                                      </p:tavLst>
                                    </p:anim>
                                    <p:anim calcmode="lin" valueType="num">
                                      <p:cBhvr additive="base">
                                        <p:cTn id="51" dur="750" fill="hold"/>
                                        <p:tgtEl>
                                          <p:spTgt spid="75"/>
                                        </p:tgtEl>
                                        <p:attrNameLst>
                                          <p:attrName>ppt_y</p:attrName>
                                        </p:attrNameLst>
                                      </p:cBhvr>
                                      <p:tavLst>
                                        <p:tav tm="0">
                                          <p:val>
                                            <p:strVal val="0-#ppt_h/2"/>
                                          </p:val>
                                        </p:tav>
                                        <p:tav tm="100000">
                                          <p:val>
                                            <p:strVal val="#ppt_y"/>
                                          </p:val>
                                        </p:tav>
                                      </p:tavLst>
                                    </p:anim>
                                  </p:childTnLst>
                                </p:cTn>
                              </p:par>
                              <p:par>
                                <p:cTn id="52" presetID="2" presetClass="entr" presetSubtype="1" fill="hold" grpId="0" nodeType="withEffect">
                                  <p:stCondLst>
                                    <p:cond delay="250"/>
                                  </p:stCondLst>
                                  <p:childTnLst>
                                    <p:set>
                                      <p:cBhvr>
                                        <p:cTn id="53" dur="1" fill="hold">
                                          <p:stCondLst>
                                            <p:cond delay="0"/>
                                          </p:stCondLst>
                                        </p:cTn>
                                        <p:tgtEl>
                                          <p:spTgt spid="76"/>
                                        </p:tgtEl>
                                        <p:attrNameLst>
                                          <p:attrName>style.visibility</p:attrName>
                                        </p:attrNameLst>
                                      </p:cBhvr>
                                      <p:to>
                                        <p:strVal val="visible"/>
                                      </p:to>
                                    </p:set>
                                    <p:anim calcmode="lin" valueType="num">
                                      <p:cBhvr additive="base">
                                        <p:cTn id="54" dur="750" fill="hold"/>
                                        <p:tgtEl>
                                          <p:spTgt spid="76"/>
                                        </p:tgtEl>
                                        <p:attrNameLst>
                                          <p:attrName>ppt_x</p:attrName>
                                        </p:attrNameLst>
                                      </p:cBhvr>
                                      <p:tavLst>
                                        <p:tav tm="0">
                                          <p:val>
                                            <p:strVal val="#ppt_x"/>
                                          </p:val>
                                        </p:tav>
                                        <p:tav tm="100000">
                                          <p:val>
                                            <p:strVal val="#ppt_x"/>
                                          </p:val>
                                        </p:tav>
                                      </p:tavLst>
                                    </p:anim>
                                    <p:anim calcmode="lin" valueType="num">
                                      <p:cBhvr additive="base">
                                        <p:cTn id="55" dur="750" fill="hold"/>
                                        <p:tgtEl>
                                          <p:spTgt spid="76"/>
                                        </p:tgtEl>
                                        <p:attrNameLst>
                                          <p:attrName>ppt_y</p:attrName>
                                        </p:attrNameLst>
                                      </p:cBhvr>
                                      <p:tavLst>
                                        <p:tav tm="0">
                                          <p:val>
                                            <p:strVal val="0-#ppt_h/2"/>
                                          </p:val>
                                        </p:tav>
                                        <p:tav tm="100000">
                                          <p:val>
                                            <p:strVal val="#ppt_y"/>
                                          </p:val>
                                        </p:tav>
                                      </p:tavLst>
                                    </p:anim>
                                  </p:childTnLst>
                                </p:cTn>
                              </p:par>
                              <p:par>
                                <p:cTn id="56" presetID="2" presetClass="entr" presetSubtype="1" fill="hold" grpId="0" nodeType="withEffect">
                                  <p:stCondLst>
                                    <p:cond delay="500"/>
                                  </p:stCondLst>
                                  <p:childTnLst>
                                    <p:set>
                                      <p:cBhvr>
                                        <p:cTn id="57" dur="1" fill="hold">
                                          <p:stCondLst>
                                            <p:cond delay="0"/>
                                          </p:stCondLst>
                                        </p:cTn>
                                        <p:tgtEl>
                                          <p:spTgt spid="77"/>
                                        </p:tgtEl>
                                        <p:attrNameLst>
                                          <p:attrName>style.visibility</p:attrName>
                                        </p:attrNameLst>
                                      </p:cBhvr>
                                      <p:to>
                                        <p:strVal val="visible"/>
                                      </p:to>
                                    </p:set>
                                    <p:anim calcmode="lin" valueType="num">
                                      <p:cBhvr additive="base">
                                        <p:cTn id="58" dur="750" fill="hold"/>
                                        <p:tgtEl>
                                          <p:spTgt spid="77"/>
                                        </p:tgtEl>
                                        <p:attrNameLst>
                                          <p:attrName>ppt_x</p:attrName>
                                        </p:attrNameLst>
                                      </p:cBhvr>
                                      <p:tavLst>
                                        <p:tav tm="0">
                                          <p:val>
                                            <p:strVal val="#ppt_x"/>
                                          </p:val>
                                        </p:tav>
                                        <p:tav tm="100000">
                                          <p:val>
                                            <p:strVal val="#ppt_x"/>
                                          </p:val>
                                        </p:tav>
                                      </p:tavLst>
                                    </p:anim>
                                    <p:anim calcmode="lin" valueType="num">
                                      <p:cBhvr additive="base">
                                        <p:cTn id="59" dur="750" fill="hold"/>
                                        <p:tgtEl>
                                          <p:spTgt spid="77"/>
                                        </p:tgtEl>
                                        <p:attrNameLst>
                                          <p:attrName>ppt_y</p:attrName>
                                        </p:attrNameLst>
                                      </p:cBhvr>
                                      <p:tavLst>
                                        <p:tav tm="0">
                                          <p:val>
                                            <p:strVal val="0-#ppt_h/2"/>
                                          </p:val>
                                        </p:tav>
                                        <p:tav tm="100000">
                                          <p:val>
                                            <p:strVal val="#ppt_y"/>
                                          </p:val>
                                        </p:tav>
                                      </p:tavLst>
                                    </p:anim>
                                  </p:childTnLst>
                                </p:cTn>
                              </p:par>
                              <p:par>
                                <p:cTn id="60" presetID="2" presetClass="entr" presetSubtype="1" fill="hold" grpId="0" nodeType="withEffect">
                                  <p:stCondLst>
                                    <p:cond delay="750"/>
                                  </p:stCondLst>
                                  <p:childTnLst>
                                    <p:set>
                                      <p:cBhvr>
                                        <p:cTn id="61" dur="1" fill="hold">
                                          <p:stCondLst>
                                            <p:cond delay="0"/>
                                          </p:stCondLst>
                                        </p:cTn>
                                        <p:tgtEl>
                                          <p:spTgt spid="78"/>
                                        </p:tgtEl>
                                        <p:attrNameLst>
                                          <p:attrName>style.visibility</p:attrName>
                                        </p:attrNameLst>
                                      </p:cBhvr>
                                      <p:to>
                                        <p:strVal val="visible"/>
                                      </p:to>
                                    </p:set>
                                    <p:anim calcmode="lin" valueType="num">
                                      <p:cBhvr additive="base">
                                        <p:cTn id="62" dur="750" fill="hold"/>
                                        <p:tgtEl>
                                          <p:spTgt spid="78"/>
                                        </p:tgtEl>
                                        <p:attrNameLst>
                                          <p:attrName>ppt_x</p:attrName>
                                        </p:attrNameLst>
                                      </p:cBhvr>
                                      <p:tavLst>
                                        <p:tav tm="0">
                                          <p:val>
                                            <p:strVal val="#ppt_x"/>
                                          </p:val>
                                        </p:tav>
                                        <p:tav tm="100000">
                                          <p:val>
                                            <p:strVal val="#ppt_x"/>
                                          </p:val>
                                        </p:tav>
                                      </p:tavLst>
                                    </p:anim>
                                    <p:anim calcmode="lin" valueType="num">
                                      <p:cBhvr additive="base">
                                        <p:cTn id="63" dur="750" fill="hold"/>
                                        <p:tgtEl>
                                          <p:spTgt spid="78"/>
                                        </p:tgtEl>
                                        <p:attrNameLst>
                                          <p:attrName>ppt_y</p:attrName>
                                        </p:attrNameLst>
                                      </p:cBhvr>
                                      <p:tavLst>
                                        <p:tav tm="0">
                                          <p:val>
                                            <p:strVal val="0-#ppt_h/2"/>
                                          </p:val>
                                        </p:tav>
                                        <p:tav tm="100000">
                                          <p:val>
                                            <p:strVal val="#ppt_y"/>
                                          </p:val>
                                        </p:tav>
                                      </p:tavLst>
                                    </p:anim>
                                  </p:childTnLst>
                                </p:cTn>
                              </p:par>
                              <p:par>
                                <p:cTn id="64" presetID="2" presetClass="entr" presetSubtype="1" fill="hold" grpId="0" nodeType="withEffect">
                                  <p:stCondLst>
                                    <p:cond delay="1000"/>
                                  </p:stCondLst>
                                  <p:childTnLst>
                                    <p:set>
                                      <p:cBhvr>
                                        <p:cTn id="65" dur="1" fill="hold">
                                          <p:stCondLst>
                                            <p:cond delay="0"/>
                                          </p:stCondLst>
                                        </p:cTn>
                                        <p:tgtEl>
                                          <p:spTgt spid="79"/>
                                        </p:tgtEl>
                                        <p:attrNameLst>
                                          <p:attrName>style.visibility</p:attrName>
                                        </p:attrNameLst>
                                      </p:cBhvr>
                                      <p:to>
                                        <p:strVal val="visible"/>
                                      </p:to>
                                    </p:set>
                                    <p:anim calcmode="lin" valueType="num">
                                      <p:cBhvr additive="base">
                                        <p:cTn id="66" dur="750" fill="hold"/>
                                        <p:tgtEl>
                                          <p:spTgt spid="79"/>
                                        </p:tgtEl>
                                        <p:attrNameLst>
                                          <p:attrName>ppt_x</p:attrName>
                                        </p:attrNameLst>
                                      </p:cBhvr>
                                      <p:tavLst>
                                        <p:tav tm="0">
                                          <p:val>
                                            <p:strVal val="#ppt_x"/>
                                          </p:val>
                                        </p:tav>
                                        <p:tav tm="100000">
                                          <p:val>
                                            <p:strVal val="#ppt_x"/>
                                          </p:val>
                                        </p:tav>
                                      </p:tavLst>
                                    </p:anim>
                                    <p:anim calcmode="lin" valueType="num">
                                      <p:cBhvr additive="base">
                                        <p:cTn id="67" dur="750" fill="hold"/>
                                        <p:tgtEl>
                                          <p:spTgt spid="7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5" grpId="0" build="p"/>
      <p:bldP spid="10" grpId="0"/>
      <p:bldP spid="23" grpId="0" animBg="1"/>
      <p:bldP spid="45" grpId="0" animBg="1"/>
      <p:bldP spid="2" grpId="0"/>
      <p:bldP spid="75" grpId="0" animBg="1"/>
      <p:bldP spid="76" grpId="0" animBg="1"/>
      <p:bldP spid="77" grpId="0" animBg="1"/>
      <p:bldP spid="78" grpId="0" animBg="1"/>
      <p:bldP spid="7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939833" y="335985"/>
            <a:ext cx="7471497" cy="1457553"/>
          </a:xfrm>
        </p:spPr>
        <p:txBody>
          <a:bodyPr>
            <a:noAutofit/>
          </a:bodyPr>
          <a:lstStyle/>
          <a:p>
            <a:pPr algn="ctr">
              <a:lnSpc>
                <a:spcPct val="150000"/>
              </a:lnSpc>
            </a:pPr>
            <a:r>
              <a:rPr lang="zh-CN" altLang="en-US" sz="2800" b="1" dirty="0">
                <a:solidFill>
                  <a:schemeClr val="tx1">
                    <a:lumMod val="65000"/>
                    <a:lumOff val="35000"/>
                  </a:schemeClr>
                </a:solidFill>
                <a:latin typeface="微软雅黑" panose="020B0503020204020204" pitchFamily="34" charset="-122"/>
                <a:ea typeface="微软雅黑" panose="020B0503020204020204" pitchFamily="34" charset="-122"/>
              </a:rPr>
              <a:t>媒体和互联网金融行业偏爱社交媒体客户服务</a:t>
            </a:r>
            <a:br>
              <a:rPr lang="en-US" altLang="zh-CN" sz="2800" b="1" dirty="0">
                <a:latin typeface="微软雅黑" panose="020B0503020204020204" pitchFamily="34" charset="-122"/>
                <a:ea typeface="微软雅黑" panose="020B0503020204020204" pitchFamily="34" charset="-122"/>
              </a:rPr>
            </a:br>
            <a:r>
              <a:rPr lang="zh-CN" altLang="en-US" sz="1800" b="1" spc="300" dirty="0">
                <a:solidFill>
                  <a:schemeClr val="accent2"/>
                </a:solidFill>
                <a:latin typeface="微软雅黑" panose="020B0503020204020204" pitchFamily="34" charset="-122"/>
                <a:ea typeface="微软雅黑" panose="020B0503020204020204" pitchFamily="34" charset="-122"/>
              </a:rPr>
              <a:t>不同行业社交媒体客户服务选择情况</a:t>
            </a:r>
            <a:br>
              <a:rPr lang="zh-CN" altLang="en-US" sz="2800" b="1" spc="300" dirty="0">
                <a:solidFill>
                  <a:schemeClr val="tx2">
                    <a:lumMod val="60000"/>
                    <a:lumOff val="40000"/>
                  </a:schemeClr>
                </a:solidFill>
                <a:latin typeface="微软雅黑" panose="020B0503020204020204" pitchFamily="34" charset="-122"/>
                <a:ea typeface="微软雅黑" panose="020B0503020204020204" pitchFamily="34" charset="-122"/>
              </a:rPr>
            </a:br>
            <a:endParaRPr lang="zh-CN" altLang="en-US" sz="2800" b="1" dirty="0">
              <a:latin typeface="微软雅黑" panose="020B0503020204020204" pitchFamily="34" charset="-122"/>
              <a:ea typeface="微软雅黑" panose="020B0503020204020204" pitchFamily="34" charset="-122"/>
            </a:endParaRPr>
          </a:p>
        </p:txBody>
      </p:sp>
      <p:graphicFrame>
        <p:nvGraphicFramePr>
          <p:cNvPr id="6" name="图表 5"/>
          <p:cNvGraphicFramePr/>
          <p:nvPr>
            <p:extLst>
              <p:ext uri="{D42A27DB-BD31-4B8C-83A1-F6EECF244321}">
                <p14:modId xmlns:p14="http://schemas.microsoft.com/office/powerpoint/2010/main" val="1930158320"/>
              </p:ext>
            </p:extLst>
          </p:nvPr>
        </p:nvGraphicFramePr>
        <p:xfrm>
          <a:off x="1157605" y="1584075"/>
          <a:ext cx="6991350" cy="3611223"/>
        </p:xfrm>
        <a:graphic>
          <a:graphicData uri="http://schemas.openxmlformats.org/drawingml/2006/chart">
            <c:chart xmlns:c="http://schemas.openxmlformats.org/drawingml/2006/chart" xmlns:r="http://schemas.openxmlformats.org/officeDocument/2006/relationships" r:id="rId2"/>
          </a:graphicData>
        </a:graphic>
      </p:graphicFrame>
      <p:sp>
        <p:nvSpPr>
          <p:cNvPr id="4" name="文本框 3"/>
          <p:cNvSpPr txBox="1"/>
          <p:nvPr/>
        </p:nvSpPr>
        <p:spPr>
          <a:xfrm>
            <a:off x="1460766" y="2007831"/>
            <a:ext cx="758537" cy="368602"/>
          </a:xfrm>
          <a:prstGeom prst="rect">
            <a:avLst/>
          </a:prstGeom>
          <a:noFill/>
        </p:spPr>
        <p:txBody>
          <a:bodyPr wrap="square" rtlCol="0">
            <a:spAutoFit/>
          </a:bodyPr>
          <a:lstStyle/>
          <a:p>
            <a:r>
              <a:rPr lang="en-US" altLang="zh-CN" dirty="0">
                <a:solidFill>
                  <a:schemeClr val="tx1">
                    <a:lumMod val="65000"/>
                    <a:lumOff val="35000"/>
                  </a:schemeClr>
                </a:solidFill>
              </a:rPr>
              <a:t>83%</a:t>
            </a:r>
            <a:endParaRPr lang="zh-CN" altLang="en-US" dirty="0">
              <a:solidFill>
                <a:schemeClr val="tx1">
                  <a:lumMod val="65000"/>
                  <a:lumOff val="35000"/>
                </a:schemeClr>
              </a:solidFill>
            </a:endParaRPr>
          </a:p>
        </p:txBody>
      </p:sp>
      <p:sp>
        <p:nvSpPr>
          <p:cNvPr id="11" name="文本框 10"/>
          <p:cNvSpPr txBox="1"/>
          <p:nvPr/>
        </p:nvSpPr>
        <p:spPr>
          <a:xfrm>
            <a:off x="2217371" y="2398807"/>
            <a:ext cx="758537" cy="368602"/>
          </a:xfrm>
          <a:prstGeom prst="rect">
            <a:avLst/>
          </a:prstGeom>
          <a:noFill/>
        </p:spPr>
        <p:txBody>
          <a:bodyPr wrap="square" rtlCol="0">
            <a:spAutoFit/>
          </a:bodyPr>
          <a:lstStyle/>
          <a:p>
            <a:r>
              <a:rPr lang="en-US" altLang="zh-CN" dirty="0">
                <a:solidFill>
                  <a:schemeClr val="tx1">
                    <a:lumMod val="65000"/>
                    <a:lumOff val="35000"/>
                  </a:schemeClr>
                </a:solidFill>
              </a:rPr>
              <a:t>72%</a:t>
            </a:r>
            <a:endParaRPr lang="zh-CN" altLang="en-US" dirty="0">
              <a:solidFill>
                <a:schemeClr val="tx1">
                  <a:lumMod val="65000"/>
                  <a:lumOff val="35000"/>
                </a:schemeClr>
              </a:solidFill>
            </a:endParaRPr>
          </a:p>
        </p:txBody>
      </p:sp>
      <p:sp>
        <p:nvSpPr>
          <p:cNvPr id="12" name="文本框 11"/>
          <p:cNvSpPr txBox="1"/>
          <p:nvPr/>
        </p:nvSpPr>
        <p:spPr>
          <a:xfrm>
            <a:off x="2944456" y="3040303"/>
            <a:ext cx="758537" cy="368602"/>
          </a:xfrm>
          <a:prstGeom prst="rect">
            <a:avLst/>
          </a:prstGeom>
          <a:noFill/>
        </p:spPr>
        <p:txBody>
          <a:bodyPr wrap="square" rtlCol="0">
            <a:spAutoFit/>
          </a:bodyPr>
          <a:lstStyle/>
          <a:p>
            <a:r>
              <a:rPr lang="en-US" altLang="zh-CN" dirty="0">
                <a:solidFill>
                  <a:schemeClr val="tx1">
                    <a:lumMod val="65000"/>
                    <a:lumOff val="35000"/>
                  </a:schemeClr>
                </a:solidFill>
              </a:rPr>
              <a:t>54%</a:t>
            </a:r>
            <a:endParaRPr lang="zh-CN" altLang="en-US" dirty="0">
              <a:solidFill>
                <a:schemeClr val="tx1">
                  <a:lumMod val="65000"/>
                  <a:lumOff val="35000"/>
                </a:schemeClr>
              </a:solidFill>
            </a:endParaRPr>
          </a:p>
        </p:txBody>
      </p:sp>
      <p:sp>
        <p:nvSpPr>
          <p:cNvPr id="13" name="文本框 12"/>
          <p:cNvSpPr txBox="1"/>
          <p:nvPr/>
        </p:nvSpPr>
        <p:spPr>
          <a:xfrm>
            <a:off x="3702993" y="3298646"/>
            <a:ext cx="758537" cy="368602"/>
          </a:xfrm>
          <a:prstGeom prst="rect">
            <a:avLst/>
          </a:prstGeom>
          <a:noFill/>
        </p:spPr>
        <p:txBody>
          <a:bodyPr wrap="square" rtlCol="0">
            <a:spAutoFit/>
          </a:bodyPr>
          <a:lstStyle/>
          <a:p>
            <a:r>
              <a:rPr lang="en-US" altLang="zh-CN" dirty="0">
                <a:solidFill>
                  <a:schemeClr val="tx1">
                    <a:lumMod val="65000"/>
                    <a:lumOff val="35000"/>
                  </a:schemeClr>
                </a:solidFill>
              </a:rPr>
              <a:t>47%</a:t>
            </a:r>
            <a:endParaRPr lang="zh-CN" altLang="en-US" dirty="0">
              <a:solidFill>
                <a:schemeClr val="tx1">
                  <a:lumMod val="65000"/>
                  <a:lumOff val="35000"/>
                </a:schemeClr>
              </a:solidFill>
            </a:endParaRPr>
          </a:p>
        </p:txBody>
      </p:sp>
      <p:sp>
        <p:nvSpPr>
          <p:cNvPr id="14" name="文本框 13"/>
          <p:cNvSpPr txBox="1"/>
          <p:nvPr/>
        </p:nvSpPr>
        <p:spPr>
          <a:xfrm>
            <a:off x="4461530" y="3486778"/>
            <a:ext cx="758537" cy="368602"/>
          </a:xfrm>
          <a:prstGeom prst="rect">
            <a:avLst/>
          </a:prstGeom>
          <a:noFill/>
        </p:spPr>
        <p:txBody>
          <a:bodyPr wrap="square" rtlCol="0">
            <a:spAutoFit/>
          </a:bodyPr>
          <a:lstStyle/>
          <a:p>
            <a:r>
              <a:rPr lang="en-US" altLang="zh-CN" dirty="0">
                <a:solidFill>
                  <a:schemeClr val="tx1">
                    <a:lumMod val="65000"/>
                    <a:lumOff val="35000"/>
                  </a:schemeClr>
                </a:solidFill>
              </a:rPr>
              <a:t>42%</a:t>
            </a:r>
            <a:endParaRPr lang="zh-CN" altLang="en-US" dirty="0">
              <a:solidFill>
                <a:schemeClr val="tx1">
                  <a:lumMod val="65000"/>
                  <a:lumOff val="35000"/>
                </a:schemeClr>
              </a:solidFill>
            </a:endParaRPr>
          </a:p>
        </p:txBody>
      </p:sp>
      <p:sp>
        <p:nvSpPr>
          <p:cNvPr id="15" name="文本框 14"/>
          <p:cNvSpPr txBox="1"/>
          <p:nvPr/>
        </p:nvSpPr>
        <p:spPr>
          <a:xfrm>
            <a:off x="5189587" y="3776945"/>
            <a:ext cx="758537" cy="368602"/>
          </a:xfrm>
          <a:prstGeom prst="rect">
            <a:avLst/>
          </a:prstGeom>
          <a:noFill/>
        </p:spPr>
        <p:txBody>
          <a:bodyPr wrap="square" rtlCol="0">
            <a:spAutoFit/>
          </a:bodyPr>
          <a:lstStyle/>
          <a:p>
            <a:r>
              <a:rPr lang="en-US" altLang="zh-CN" dirty="0">
                <a:solidFill>
                  <a:schemeClr val="tx1">
                    <a:lumMod val="65000"/>
                    <a:lumOff val="35000"/>
                  </a:schemeClr>
                </a:solidFill>
              </a:rPr>
              <a:t>35%</a:t>
            </a:r>
            <a:endParaRPr lang="zh-CN" altLang="en-US" dirty="0">
              <a:solidFill>
                <a:schemeClr val="tx1">
                  <a:lumMod val="65000"/>
                  <a:lumOff val="35000"/>
                </a:schemeClr>
              </a:solidFill>
            </a:endParaRPr>
          </a:p>
        </p:txBody>
      </p:sp>
      <p:sp>
        <p:nvSpPr>
          <p:cNvPr id="16" name="文本框 15"/>
          <p:cNvSpPr txBox="1"/>
          <p:nvPr/>
        </p:nvSpPr>
        <p:spPr>
          <a:xfrm>
            <a:off x="5910734" y="3894659"/>
            <a:ext cx="758537" cy="368602"/>
          </a:xfrm>
          <a:prstGeom prst="rect">
            <a:avLst/>
          </a:prstGeom>
          <a:noFill/>
        </p:spPr>
        <p:txBody>
          <a:bodyPr wrap="square" rtlCol="0">
            <a:spAutoFit/>
          </a:bodyPr>
          <a:lstStyle/>
          <a:p>
            <a:r>
              <a:rPr lang="en-US" altLang="zh-CN" dirty="0">
                <a:solidFill>
                  <a:schemeClr val="tx1">
                    <a:lumMod val="65000"/>
                    <a:lumOff val="35000"/>
                  </a:schemeClr>
                </a:solidFill>
              </a:rPr>
              <a:t>32%</a:t>
            </a:r>
            <a:endParaRPr lang="zh-CN" altLang="en-US" dirty="0">
              <a:solidFill>
                <a:schemeClr val="tx1">
                  <a:lumMod val="65000"/>
                  <a:lumOff val="35000"/>
                </a:schemeClr>
              </a:solidFill>
            </a:endParaRPr>
          </a:p>
        </p:txBody>
      </p:sp>
      <p:sp>
        <p:nvSpPr>
          <p:cNvPr id="17" name="文本框 16"/>
          <p:cNvSpPr txBox="1"/>
          <p:nvPr/>
        </p:nvSpPr>
        <p:spPr>
          <a:xfrm>
            <a:off x="6669271" y="4012373"/>
            <a:ext cx="758537" cy="368602"/>
          </a:xfrm>
          <a:prstGeom prst="rect">
            <a:avLst/>
          </a:prstGeom>
          <a:noFill/>
        </p:spPr>
        <p:txBody>
          <a:bodyPr wrap="square" rtlCol="0">
            <a:spAutoFit/>
          </a:bodyPr>
          <a:lstStyle/>
          <a:p>
            <a:r>
              <a:rPr lang="en-US" altLang="zh-CN" dirty="0">
                <a:solidFill>
                  <a:schemeClr val="tx1">
                    <a:lumMod val="65000"/>
                    <a:lumOff val="35000"/>
                  </a:schemeClr>
                </a:solidFill>
              </a:rPr>
              <a:t>28%</a:t>
            </a:r>
            <a:endParaRPr lang="zh-CN" altLang="en-US" dirty="0">
              <a:solidFill>
                <a:schemeClr val="tx1">
                  <a:lumMod val="65000"/>
                  <a:lumOff val="35000"/>
                </a:schemeClr>
              </a:solidFill>
            </a:endParaRPr>
          </a:p>
        </p:txBody>
      </p:sp>
      <p:sp>
        <p:nvSpPr>
          <p:cNvPr id="18" name="文本框 17"/>
          <p:cNvSpPr txBox="1"/>
          <p:nvPr/>
        </p:nvSpPr>
        <p:spPr>
          <a:xfrm>
            <a:off x="7412363" y="4123036"/>
            <a:ext cx="758537" cy="368602"/>
          </a:xfrm>
          <a:prstGeom prst="rect">
            <a:avLst/>
          </a:prstGeom>
          <a:noFill/>
        </p:spPr>
        <p:txBody>
          <a:bodyPr wrap="square" rtlCol="0">
            <a:spAutoFit/>
          </a:bodyPr>
          <a:lstStyle/>
          <a:p>
            <a:r>
              <a:rPr lang="en-US" altLang="zh-CN" dirty="0">
                <a:solidFill>
                  <a:schemeClr val="tx1">
                    <a:lumMod val="65000"/>
                    <a:lumOff val="35000"/>
                  </a:schemeClr>
                </a:solidFill>
              </a:rPr>
              <a:t>25%</a:t>
            </a:r>
            <a:endParaRPr lang="zh-CN" altLang="en-US" dirty="0">
              <a:solidFill>
                <a:schemeClr val="tx1">
                  <a:lumMod val="65000"/>
                  <a:lumOff val="35000"/>
                </a:schemeClr>
              </a:solidFill>
            </a:endParaRPr>
          </a:p>
        </p:txBody>
      </p:sp>
      <p:sp>
        <p:nvSpPr>
          <p:cNvPr id="10" name="对话气泡: 矩形 9"/>
          <p:cNvSpPr/>
          <p:nvPr/>
        </p:nvSpPr>
        <p:spPr>
          <a:xfrm>
            <a:off x="5645359" y="1700799"/>
            <a:ext cx="2503596" cy="830864"/>
          </a:xfrm>
          <a:prstGeom prst="wedgeRectCallout">
            <a:avLst>
              <a:gd name="adj1" fmla="val -36294"/>
              <a:gd name="adj2" fmla="val 6250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solidFill>
                <a:latin typeface="微软雅黑 Light" panose="020B0502040204020203" pitchFamily="34" charset="-122"/>
                <a:ea typeface="微软雅黑 Light" panose="020B0502040204020203" pitchFamily="34" charset="-122"/>
              </a:rPr>
              <a:t>媒体和互联网金融对客户自传播强烈的需求，让他们的社交媒体客户服务选择率远高于其他行业。</a:t>
            </a:r>
          </a:p>
        </p:txBody>
      </p:sp>
    </p:spTree>
    <p:extLst>
      <p:ext uri="{BB962C8B-B14F-4D97-AF65-F5344CB8AC3E}">
        <p14:creationId xmlns:p14="http://schemas.microsoft.com/office/powerpoint/2010/main" val="2478471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2"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path" presetSubtype="0" accel="50000" decel="50000" fill="hold" grpId="3" nodeType="withEffect">
                                  <p:stCondLst>
                                    <p:cond delay="0"/>
                                  </p:stCondLst>
                                  <p:childTnLst>
                                    <p:animMotion origin="layout" path="M -4.72222E-6 -4.44444E-6 L -4.72222E-6 0.09667 " pathEditMode="relative" rAng="0" ptsTypes="AA">
                                      <p:cBhvr>
                                        <p:cTn id="9" dur="1000" fill="hold"/>
                                        <p:tgtEl>
                                          <p:spTgt spid="2"/>
                                        </p:tgtEl>
                                        <p:attrNameLst>
                                          <p:attrName>ppt_x</p:attrName>
                                          <p:attrName>ppt_y</p:attrName>
                                        </p:attrNameLst>
                                      </p:cBhvr>
                                      <p:rCtr x="0" y="4833"/>
                                    </p:animMotion>
                                  </p:childTnLst>
                                </p:cTn>
                              </p:par>
                            </p:childTnLst>
                          </p:cTn>
                        </p:par>
                        <p:par>
                          <p:cTn id="10" fill="hold">
                            <p:stCondLst>
                              <p:cond delay="1000"/>
                            </p:stCondLst>
                            <p:childTnLst>
                              <p:par>
                                <p:cTn id="11" presetID="42" presetClass="path" presetSubtype="0" accel="50000" decel="50000" fill="hold" grpId="1" nodeType="afterEffect">
                                  <p:stCondLst>
                                    <p:cond delay="0"/>
                                  </p:stCondLst>
                                  <p:childTnLst>
                                    <p:animMotion origin="layout" path="M -4.72222E-6 -4.44444E-6 L -4.72222E-6 0.09667 " pathEditMode="relative" rAng="0" ptsTypes="AA">
                                      <p:cBhvr>
                                        <p:cTn id="12" dur="1000" spd="-100000" fill="hold"/>
                                        <p:tgtEl>
                                          <p:spTgt spid="2"/>
                                        </p:tgtEl>
                                        <p:attrNameLst>
                                          <p:attrName>ppt_x</p:attrName>
                                          <p:attrName>ppt_y</p:attrName>
                                        </p:attrNameLst>
                                      </p:cBhvr>
                                      <p:rCtr x="0" y="4833"/>
                                    </p:animMotion>
                                  </p:childTnLst>
                                </p:cTn>
                              </p:par>
                            </p:childTnLst>
                          </p:cTn>
                        </p:par>
                        <p:par>
                          <p:cTn id="13" fill="hold">
                            <p:stCondLst>
                              <p:cond delay="2000"/>
                            </p:stCondLst>
                            <p:childTnLst>
                              <p:par>
                                <p:cTn id="14" presetID="22" presetClass="entr" presetSubtype="8" fill="hold" grpId="0" nodeType="afterEffect">
                                  <p:stCondLst>
                                    <p:cond delay="0"/>
                                  </p:stCondLst>
                                  <p:childTnLst>
                                    <p:set>
                                      <p:cBhvr>
                                        <p:cTn id="15" dur="1" fill="hold">
                                          <p:stCondLst>
                                            <p:cond delay="0"/>
                                          </p:stCondLst>
                                        </p:cTn>
                                        <p:tgtEl>
                                          <p:spTgt spid="6">
                                            <p:graphicEl>
                                              <a:chart seriesIdx="-3" categoryIdx="-3" bldStep="gridLegend"/>
                                            </p:graphicEl>
                                          </p:spTgt>
                                        </p:tgtEl>
                                        <p:attrNameLst>
                                          <p:attrName>style.visibility</p:attrName>
                                        </p:attrNameLst>
                                      </p:cBhvr>
                                      <p:to>
                                        <p:strVal val="visible"/>
                                      </p:to>
                                    </p:set>
                                    <p:animEffect transition="in" filter="wipe(left)">
                                      <p:cBhvr>
                                        <p:cTn id="16" dur="750"/>
                                        <p:tgtEl>
                                          <p:spTgt spid="6">
                                            <p:graphicEl>
                                              <a:chart seriesIdx="-3" categoryIdx="-3" bldStep="gridLegend"/>
                                            </p:graphicEl>
                                          </p:spTgt>
                                        </p:tgtEl>
                                      </p:cBhvr>
                                    </p:animEffect>
                                  </p:childTnLst>
                                </p:cTn>
                              </p:par>
                            </p:childTnLst>
                          </p:cTn>
                        </p:par>
                        <p:par>
                          <p:cTn id="17" fill="hold">
                            <p:stCondLst>
                              <p:cond delay="2750"/>
                            </p:stCondLst>
                            <p:childTnLst>
                              <p:par>
                                <p:cTn id="18" presetID="22" presetClass="entr" presetSubtype="4" fill="hold" grpId="0" nodeType="afterEffect">
                                  <p:stCondLst>
                                    <p:cond delay="0"/>
                                  </p:stCondLst>
                                  <p:childTnLst>
                                    <p:set>
                                      <p:cBhvr>
                                        <p:cTn id="19" dur="1" fill="hold">
                                          <p:stCondLst>
                                            <p:cond delay="0"/>
                                          </p:stCondLst>
                                        </p:cTn>
                                        <p:tgtEl>
                                          <p:spTgt spid="6">
                                            <p:graphicEl>
                                              <a:chart seriesIdx="-4" categoryIdx="0" bldStep="category"/>
                                            </p:graphicEl>
                                          </p:spTgt>
                                        </p:tgtEl>
                                        <p:attrNameLst>
                                          <p:attrName>style.visibility</p:attrName>
                                        </p:attrNameLst>
                                      </p:cBhvr>
                                      <p:to>
                                        <p:strVal val="visible"/>
                                      </p:to>
                                    </p:set>
                                    <p:animEffect transition="in" filter="wipe(down)">
                                      <p:cBhvr>
                                        <p:cTn id="20" dur="500"/>
                                        <p:tgtEl>
                                          <p:spTgt spid="6">
                                            <p:graphicEl>
                                              <a:chart seriesIdx="-4" categoryIdx="0" bldStep="category"/>
                                            </p:graphicEl>
                                          </p:spTgt>
                                        </p:tgtEl>
                                      </p:cBhvr>
                                    </p:animEffect>
                                  </p:childTnLst>
                                </p:cTn>
                              </p:par>
                              <p:par>
                                <p:cTn id="21" presetID="10" presetClass="entr" presetSubtype="0" fill="hold" grpId="0" nodeType="withEffect">
                                  <p:stCondLst>
                                    <p:cond delay="50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750"/>
                                        <p:tgtEl>
                                          <p:spTgt spid="4"/>
                                        </p:tgtEl>
                                      </p:cBhvr>
                                    </p:animEffect>
                                  </p:childTnLst>
                                </p:cTn>
                              </p:par>
                              <p:par>
                                <p:cTn id="24" presetID="64" presetClass="path" presetSubtype="0" accel="50000" decel="50000" fill="hold" grpId="1" nodeType="withEffect">
                                  <p:stCondLst>
                                    <p:cond delay="500"/>
                                  </p:stCondLst>
                                  <p:childTnLst>
                                    <p:animMotion origin="layout" path="M 4.72222E-6 -0.07361 L 4.72222E-6 -1.11111E-6 " pathEditMode="relative" rAng="0" ptsTypes="AA">
                                      <p:cBhvr>
                                        <p:cTn id="25" dur="1000" spd="-100000" fill="hold"/>
                                        <p:tgtEl>
                                          <p:spTgt spid="4"/>
                                        </p:tgtEl>
                                        <p:attrNameLst>
                                          <p:attrName>ppt_x</p:attrName>
                                          <p:attrName>ppt_y</p:attrName>
                                        </p:attrNameLst>
                                      </p:cBhvr>
                                      <p:rCtr x="0" y="3667"/>
                                    </p:animMotion>
                                  </p:childTnLst>
                                </p:cTn>
                              </p:par>
                              <p:par>
                                <p:cTn id="26" presetID="22" presetClass="entr" presetSubtype="4" fill="hold" grpId="0" nodeType="withEffect">
                                  <p:stCondLst>
                                    <p:cond delay="600"/>
                                  </p:stCondLst>
                                  <p:childTnLst>
                                    <p:set>
                                      <p:cBhvr>
                                        <p:cTn id="27" dur="1" fill="hold">
                                          <p:stCondLst>
                                            <p:cond delay="0"/>
                                          </p:stCondLst>
                                        </p:cTn>
                                        <p:tgtEl>
                                          <p:spTgt spid="6">
                                            <p:graphicEl>
                                              <a:chart seriesIdx="-4" categoryIdx="1" bldStep="category"/>
                                            </p:graphicEl>
                                          </p:spTgt>
                                        </p:tgtEl>
                                        <p:attrNameLst>
                                          <p:attrName>style.visibility</p:attrName>
                                        </p:attrNameLst>
                                      </p:cBhvr>
                                      <p:to>
                                        <p:strVal val="visible"/>
                                      </p:to>
                                    </p:set>
                                    <p:animEffect transition="in" filter="wipe(down)">
                                      <p:cBhvr>
                                        <p:cTn id="28" dur="500"/>
                                        <p:tgtEl>
                                          <p:spTgt spid="6">
                                            <p:graphicEl>
                                              <a:chart seriesIdx="-4" categoryIdx="1" bldStep="category"/>
                                            </p:graphicEl>
                                          </p:spTgt>
                                        </p:tgtEl>
                                      </p:cBhvr>
                                    </p:animEffect>
                                  </p:childTnLst>
                                </p:cTn>
                              </p:par>
                              <p:par>
                                <p:cTn id="29" presetID="10" presetClass="entr" presetSubtype="0" fill="hold" grpId="0" nodeType="withEffect">
                                  <p:stCondLst>
                                    <p:cond delay="80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750"/>
                                        <p:tgtEl>
                                          <p:spTgt spid="11"/>
                                        </p:tgtEl>
                                      </p:cBhvr>
                                    </p:animEffect>
                                  </p:childTnLst>
                                </p:cTn>
                              </p:par>
                              <p:par>
                                <p:cTn id="32" presetID="64" presetClass="path" presetSubtype="0" accel="50000" decel="50000" fill="hold" grpId="1" nodeType="withEffect">
                                  <p:stCondLst>
                                    <p:cond delay="800"/>
                                  </p:stCondLst>
                                  <p:childTnLst>
                                    <p:animMotion origin="layout" path="M 2.22222E-6 -0.07361 L 2.22222E-6 -4.44444E-6 " pathEditMode="relative" rAng="0" ptsTypes="AA">
                                      <p:cBhvr>
                                        <p:cTn id="33" dur="1000" spd="-100000" fill="hold"/>
                                        <p:tgtEl>
                                          <p:spTgt spid="11"/>
                                        </p:tgtEl>
                                        <p:attrNameLst>
                                          <p:attrName>ppt_x</p:attrName>
                                          <p:attrName>ppt_y</p:attrName>
                                        </p:attrNameLst>
                                      </p:cBhvr>
                                      <p:rCtr x="0" y="3667"/>
                                    </p:animMotion>
                                  </p:childTnLst>
                                </p:cTn>
                              </p:par>
                              <p:par>
                                <p:cTn id="34" presetID="22" presetClass="entr" presetSubtype="4" fill="hold" grpId="0" nodeType="withEffect">
                                  <p:stCondLst>
                                    <p:cond delay="900"/>
                                  </p:stCondLst>
                                  <p:childTnLst>
                                    <p:set>
                                      <p:cBhvr>
                                        <p:cTn id="35" dur="1" fill="hold">
                                          <p:stCondLst>
                                            <p:cond delay="0"/>
                                          </p:stCondLst>
                                        </p:cTn>
                                        <p:tgtEl>
                                          <p:spTgt spid="6">
                                            <p:graphicEl>
                                              <a:chart seriesIdx="-4" categoryIdx="2" bldStep="category"/>
                                            </p:graphicEl>
                                          </p:spTgt>
                                        </p:tgtEl>
                                        <p:attrNameLst>
                                          <p:attrName>style.visibility</p:attrName>
                                        </p:attrNameLst>
                                      </p:cBhvr>
                                      <p:to>
                                        <p:strVal val="visible"/>
                                      </p:to>
                                    </p:set>
                                    <p:animEffect transition="in" filter="wipe(down)">
                                      <p:cBhvr>
                                        <p:cTn id="36" dur="500"/>
                                        <p:tgtEl>
                                          <p:spTgt spid="6">
                                            <p:graphicEl>
                                              <a:chart seriesIdx="-4" categoryIdx="2" bldStep="category"/>
                                            </p:graphicEl>
                                          </p:spTgt>
                                        </p:tgtEl>
                                      </p:cBhvr>
                                    </p:animEffect>
                                  </p:childTnLst>
                                </p:cTn>
                              </p:par>
                              <p:par>
                                <p:cTn id="37" presetID="10" presetClass="entr" presetSubtype="0" fill="hold" grpId="0" nodeType="withEffect">
                                  <p:stCondLst>
                                    <p:cond delay="110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750"/>
                                        <p:tgtEl>
                                          <p:spTgt spid="12"/>
                                        </p:tgtEl>
                                      </p:cBhvr>
                                    </p:animEffect>
                                  </p:childTnLst>
                                </p:cTn>
                              </p:par>
                              <p:par>
                                <p:cTn id="40" presetID="64" presetClass="path" presetSubtype="0" accel="50000" decel="50000" fill="hold" grpId="1" nodeType="withEffect">
                                  <p:stCondLst>
                                    <p:cond delay="1100"/>
                                  </p:stCondLst>
                                  <p:childTnLst>
                                    <p:animMotion origin="layout" path="M -1.66667E-6 -0.07361 L -1.66667E-6 3.33333E-6 " pathEditMode="relative" rAng="0" ptsTypes="AA">
                                      <p:cBhvr>
                                        <p:cTn id="41" dur="1000" spd="-100000" fill="hold"/>
                                        <p:tgtEl>
                                          <p:spTgt spid="12"/>
                                        </p:tgtEl>
                                        <p:attrNameLst>
                                          <p:attrName>ppt_x</p:attrName>
                                          <p:attrName>ppt_y</p:attrName>
                                        </p:attrNameLst>
                                      </p:cBhvr>
                                      <p:rCtr x="0" y="3667"/>
                                    </p:animMotion>
                                  </p:childTnLst>
                                </p:cTn>
                              </p:par>
                              <p:par>
                                <p:cTn id="42" presetID="22" presetClass="entr" presetSubtype="4" fill="hold" grpId="0" nodeType="withEffect">
                                  <p:stCondLst>
                                    <p:cond delay="1200"/>
                                  </p:stCondLst>
                                  <p:childTnLst>
                                    <p:set>
                                      <p:cBhvr>
                                        <p:cTn id="43" dur="1" fill="hold">
                                          <p:stCondLst>
                                            <p:cond delay="0"/>
                                          </p:stCondLst>
                                        </p:cTn>
                                        <p:tgtEl>
                                          <p:spTgt spid="6">
                                            <p:graphicEl>
                                              <a:chart seriesIdx="-4" categoryIdx="3" bldStep="category"/>
                                            </p:graphicEl>
                                          </p:spTgt>
                                        </p:tgtEl>
                                        <p:attrNameLst>
                                          <p:attrName>style.visibility</p:attrName>
                                        </p:attrNameLst>
                                      </p:cBhvr>
                                      <p:to>
                                        <p:strVal val="visible"/>
                                      </p:to>
                                    </p:set>
                                    <p:animEffect transition="in" filter="wipe(down)">
                                      <p:cBhvr>
                                        <p:cTn id="44" dur="500"/>
                                        <p:tgtEl>
                                          <p:spTgt spid="6">
                                            <p:graphicEl>
                                              <a:chart seriesIdx="-4" categoryIdx="3" bldStep="category"/>
                                            </p:graphicEl>
                                          </p:spTgt>
                                        </p:tgtEl>
                                      </p:cBhvr>
                                    </p:animEffect>
                                  </p:childTnLst>
                                </p:cTn>
                              </p:par>
                              <p:par>
                                <p:cTn id="45" presetID="10" presetClass="entr" presetSubtype="0" fill="hold" grpId="0" nodeType="withEffect">
                                  <p:stCondLst>
                                    <p:cond delay="140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750"/>
                                        <p:tgtEl>
                                          <p:spTgt spid="13"/>
                                        </p:tgtEl>
                                      </p:cBhvr>
                                    </p:animEffect>
                                  </p:childTnLst>
                                </p:cTn>
                              </p:par>
                              <p:par>
                                <p:cTn id="48" presetID="64" presetClass="path" presetSubtype="0" accel="50000" decel="50000" fill="hold" grpId="1" nodeType="withEffect">
                                  <p:stCondLst>
                                    <p:cond delay="1400"/>
                                  </p:stCondLst>
                                  <p:childTnLst>
                                    <p:animMotion origin="layout" path="M -4.16667E-6 -0.0775 L -4.16667E-6 -4.44444E-6 " pathEditMode="relative" rAng="0" ptsTypes="AA">
                                      <p:cBhvr>
                                        <p:cTn id="49" dur="1000" spd="-100000" fill="hold"/>
                                        <p:tgtEl>
                                          <p:spTgt spid="13"/>
                                        </p:tgtEl>
                                        <p:attrNameLst>
                                          <p:attrName>ppt_x</p:attrName>
                                          <p:attrName>ppt_y</p:attrName>
                                        </p:attrNameLst>
                                      </p:cBhvr>
                                      <p:rCtr x="0" y="3861"/>
                                    </p:animMotion>
                                  </p:childTnLst>
                                </p:cTn>
                              </p:par>
                              <p:par>
                                <p:cTn id="50" presetID="22" presetClass="entr" presetSubtype="4" fill="hold" grpId="0" nodeType="withEffect">
                                  <p:stCondLst>
                                    <p:cond delay="1500"/>
                                  </p:stCondLst>
                                  <p:childTnLst>
                                    <p:set>
                                      <p:cBhvr>
                                        <p:cTn id="51" dur="1" fill="hold">
                                          <p:stCondLst>
                                            <p:cond delay="0"/>
                                          </p:stCondLst>
                                        </p:cTn>
                                        <p:tgtEl>
                                          <p:spTgt spid="6">
                                            <p:graphicEl>
                                              <a:chart seriesIdx="-4" categoryIdx="4" bldStep="category"/>
                                            </p:graphicEl>
                                          </p:spTgt>
                                        </p:tgtEl>
                                        <p:attrNameLst>
                                          <p:attrName>style.visibility</p:attrName>
                                        </p:attrNameLst>
                                      </p:cBhvr>
                                      <p:to>
                                        <p:strVal val="visible"/>
                                      </p:to>
                                    </p:set>
                                    <p:animEffect transition="in" filter="wipe(down)">
                                      <p:cBhvr>
                                        <p:cTn id="52" dur="500"/>
                                        <p:tgtEl>
                                          <p:spTgt spid="6">
                                            <p:graphicEl>
                                              <a:chart seriesIdx="-4" categoryIdx="4" bldStep="category"/>
                                            </p:graphicEl>
                                          </p:spTgt>
                                        </p:tgtEl>
                                      </p:cBhvr>
                                    </p:animEffect>
                                  </p:childTnLst>
                                </p:cTn>
                              </p:par>
                              <p:par>
                                <p:cTn id="53" presetID="10" presetClass="entr" presetSubtype="0" fill="hold" grpId="0" nodeType="withEffect">
                                  <p:stCondLst>
                                    <p:cond delay="170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750"/>
                                        <p:tgtEl>
                                          <p:spTgt spid="14"/>
                                        </p:tgtEl>
                                      </p:cBhvr>
                                    </p:animEffect>
                                  </p:childTnLst>
                                </p:cTn>
                              </p:par>
                              <p:par>
                                <p:cTn id="56" presetID="64" presetClass="path" presetSubtype="0" accel="50000" decel="50000" fill="hold" grpId="1" nodeType="withEffect">
                                  <p:stCondLst>
                                    <p:cond delay="1700"/>
                                  </p:stCondLst>
                                  <p:childTnLst>
                                    <p:animMotion origin="layout" path="M -2.77778E-7 -0.0825 L -2.77778E-7 -2.22222E-6 " pathEditMode="relative" rAng="0" ptsTypes="AA">
                                      <p:cBhvr>
                                        <p:cTn id="57" dur="1000" spd="-100000" fill="hold"/>
                                        <p:tgtEl>
                                          <p:spTgt spid="14"/>
                                        </p:tgtEl>
                                        <p:attrNameLst>
                                          <p:attrName>ppt_x</p:attrName>
                                          <p:attrName>ppt_y</p:attrName>
                                        </p:attrNameLst>
                                      </p:cBhvr>
                                      <p:rCtr x="0" y="4111"/>
                                    </p:animMotion>
                                  </p:childTnLst>
                                </p:cTn>
                              </p:par>
                              <p:par>
                                <p:cTn id="58" presetID="22" presetClass="entr" presetSubtype="4" fill="hold" grpId="0" nodeType="withEffect">
                                  <p:stCondLst>
                                    <p:cond delay="1800"/>
                                  </p:stCondLst>
                                  <p:childTnLst>
                                    <p:set>
                                      <p:cBhvr>
                                        <p:cTn id="59" dur="1" fill="hold">
                                          <p:stCondLst>
                                            <p:cond delay="0"/>
                                          </p:stCondLst>
                                        </p:cTn>
                                        <p:tgtEl>
                                          <p:spTgt spid="6">
                                            <p:graphicEl>
                                              <a:chart seriesIdx="-4" categoryIdx="5" bldStep="category"/>
                                            </p:graphicEl>
                                          </p:spTgt>
                                        </p:tgtEl>
                                        <p:attrNameLst>
                                          <p:attrName>style.visibility</p:attrName>
                                        </p:attrNameLst>
                                      </p:cBhvr>
                                      <p:to>
                                        <p:strVal val="visible"/>
                                      </p:to>
                                    </p:set>
                                    <p:animEffect transition="in" filter="wipe(down)">
                                      <p:cBhvr>
                                        <p:cTn id="60" dur="500"/>
                                        <p:tgtEl>
                                          <p:spTgt spid="6">
                                            <p:graphicEl>
                                              <a:chart seriesIdx="-4" categoryIdx="5" bldStep="category"/>
                                            </p:graphicEl>
                                          </p:spTgt>
                                        </p:tgtEl>
                                      </p:cBhvr>
                                    </p:animEffect>
                                  </p:childTnLst>
                                </p:cTn>
                              </p:par>
                              <p:par>
                                <p:cTn id="61" presetID="10" presetClass="entr" presetSubtype="0" fill="hold" grpId="0" nodeType="withEffect">
                                  <p:stCondLst>
                                    <p:cond delay="200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750"/>
                                        <p:tgtEl>
                                          <p:spTgt spid="15"/>
                                        </p:tgtEl>
                                      </p:cBhvr>
                                    </p:animEffect>
                                  </p:childTnLst>
                                </p:cTn>
                              </p:par>
                              <p:par>
                                <p:cTn id="64" presetID="64" presetClass="path" presetSubtype="0" accel="50000" decel="50000" fill="hold" grpId="1" nodeType="withEffect">
                                  <p:stCondLst>
                                    <p:cond delay="2000"/>
                                  </p:stCondLst>
                                  <p:childTnLst>
                                    <p:animMotion origin="layout" path="M 2.22222E-6 -0.09639 L 2.22222E-6 4.44444E-6 " pathEditMode="relative" rAng="0" ptsTypes="AA">
                                      <p:cBhvr>
                                        <p:cTn id="65" dur="1000" spd="-100000" fill="hold"/>
                                        <p:tgtEl>
                                          <p:spTgt spid="15"/>
                                        </p:tgtEl>
                                        <p:attrNameLst>
                                          <p:attrName>ppt_x</p:attrName>
                                          <p:attrName>ppt_y</p:attrName>
                                        </p:attrNameLst>
                                      </p:cBhvr>
                                      <p:rCtr x="0" y="4806"/>
                                    </p:animMotion>
                                  </p:childTnLst>
                                </p:cTn>
                              </p:par>
                              <p:par>
                                <p:cTn id="66" presetID="22" presetClass="entr" presetSubtype="4" fill="hold" grpId="0" nodeType="withEffect">
                                  <p:stCondLst>
                                    <p:cond delay="2100"/>
                                  </p:stCondLst>
                                  <p:childTnLst>
                                    <p:set>
                                      <p:cBhvr>
                                        <p:cTn id="67" dur="1" fill="hold">
                                          <p:stCondLst>
                                            <p:cond delay="0"/>
                                          </p:stCondLst>
                                        </p:cTn>
                                        <p:tgtEl>
                                          <p:spTgt spid="6">
                                            <p:graphicEl>
                                              <a:chart seriesIdx="-4" categoryIdx="6" bldStep="category"/>
                                            </p:graphicEl>
                                          </p:spTgt>
                                        </p:tgtEl>
                                        <p:attrNameLst>
                                          <p:attrName>style.visibility</p:attrName>
                                        </p:attrNameLst>
                                      </p:cBhvr>
                                      <p:to>
                                        <p:strVal val="visible"/>
                                      </p:to>
                                    </p:set>
                                    <p:animEffect transition="in" filter="wipe(down)">
                                      <p:cBhvr>
                                        <p:cTn id="68" dur="500"/>
                                        <p:tgtEl>
                                          <p:spTgt spid="6">
                                            <p:graphicEl>
                                              <a:chart seriesIdx="-4" categoryIdx="6" bldStep="category"/>
                                            </p:graphicEl>
                                          </p:spTgt>
                                        </p:tgtEl>
                                      </p:cBhvr>
                                    </p:animEffect>
                                  </p:childTnLst>
                                </p:cTn>
                              </p:par>
                              <p:par>
                                <p:cTn id="69" presetID="10" presetClass="entr" presetSubtype="0" fill="hold" grpId="0" nodeType="withEffect">
                                  <p:stCondLst>
                                    <p:cond delay="2300"/>
                                  </p:stCondLst>
                                  <p:childTnLst>
                                    <p:set>
                                      <p:cBhvr>
                                        <p:cTn id="70" dur="1" fill="hold">
                                          <p:stCondLst>
                                            <p:cond delay="0"/>
                                          </p:stCondLst>
                                        </p:cTn>
                                        <p:tgtEl>
                                          <p:spTgt spid="16"/>
                                        </p:tgtEl>
                                        <p:attrNameLst>
                                          <p:attrName>style.visibility</p:attrName>
                                        </p:attrNameLst>
                                      </p:cBhvr>
                                      <p:to>
                                        <p:strVal val="visible"/>
                                      </p:to>
                                    </p:set>
                                    <p:animEffect transition="in" filter="fade">
                                      <p:cBhvr>
                                        <p:cTn id="71" dur="750"/>
                                        <p:tgtEl>
                                          <p:spTgt spid="16"/>
                                        </p:tgtEl>
                                      </p:cBhvr>
                                    </p:animEffect>
                                  </p:childTnLst>
                                </p:cTn>
                              </p:par>
                              <p:par>
                                <p:cTn id="72" presetID="64" presetClass="path" presetSubtype="0" accel="50000" decel="50000" fill="hold" grpId="1" nodeType="withEffect">
                                  <p:stCondLst>
                                    <p:cond delay="2300"/>
                                  </p:stCondLst>
                                  <p:childTnLst>
                                    <p:animMotion origin="layout" path="M 2.77778E-6 -0.10361 L 2.77778E-6 -1.11111E-6 " pathEditMode="relative" rAng="0" ptsTypes="AA">
                                      <p:cBhvr>
                                        <p:cTn id="73" dur="1000" spd="-100000" fill="hold"/>
                                        <p:tgtEl>
                                          <p:spTgt spid="16"/>
                                        </p:tgtEl>
                                        <p:attrNameLst>
                                          <p:attrName>ppt_x</p:attrName>
                                          <p:attrName>ppt_y</p:attrName>
                                        </p:attrNameLst>
                                      </p:cBhvr>
                                      <p:rCtr x="0" y="5167"/>
                                    </p:animMotion>
                                  </p:childTnLst>
                                </p:cTn>
                              </p:par>
                              <p:par>
                                <p:cTn id="74" presetID="22" presetClass="entr" presetSubtype="4" fill="hold" grpId="0" nodeType="withEffect">
                                  <p:stCondLst>
                                    <p:cond delay="2400"/>
                                  </p:stCondLst>
                                  <p:childTnLst>
                                    <p:set>
                                      <p:cBhvr>
                                        <p:cTn id="75" dur="1" fill="hold">
                                          <p:stCondLst>
                                            <p:cond delay="0"/>
                                          </p:stCondLst>
                                        </p:cTn>
                                        <p:tgtEl>
                                          <p:spTgt spid="6">
                                            <p:graphicEl>
                                              <a:chart seriesIdx="-4" categoryIdx="7" bldStep="category"/>
                                            </p:graphicEl>
                                          </p:spTgt>
                                        </p:tgtEl>
                                        <p:attrNameLst>
                                          <p:attrName>style.visibility</p:attrName>
                                        </p:attrNameLst>
                                      </p:cBhvr>
                                      <p:to>
                                        <p:strVal val="visible"/>
                                      </p:to>
                                    </p:set>
                                    <p:animEffect transition="in" filter="wipe(down)">
                                      <p:cBhvr>
                                        <p:cTn id="76" dur="500"/>
                                        <p:tgtEl>
                                          <p:spTgt spid="6">
                                            <p:graphicEl>
                                              <a:chart seriesIdx="-4" categoryIdx="7" bldStep="category"/>
                                            </p:graphicEl>
                                          </p:spTgt>
                                        </p:tgtEl>
                                      </p:cBhvr>
                                    </p:animEffect>
                                  </p:childTnLst>
                                </p:cTn>
                              </p:par>
                              <p:par>
                                <p:cTn id="77" presetID="10" presetClass="entr" presetSubtype="0" fill="hold" grpId="0" nodeType="withEffect">
                                  <p:stCondLst>
                                    <p:cond delay="2600"/>
                                  </p:stCondLst>
                                  <p:childTnLst>
                                    <p:set>
                                      <p:cBhvr>
                                        <p:cTn id="78" dur="1" fill="hold">
                                          <p:stCondLst>
                                            <p:cond delay="0"/>
                                          </p:stCondLst>
                                        </p:cTn>
                                        <p:tgtEl>
                                          <p:spTgt spid="17"/>
                                        </p:tgtEl>
                                        <p:attrNameLst>
                                          <p:attrName>style.visibility</p:attrName>
                                        </p:attrNameLst>
                                      </p:cBhvr>
                                      <p:to>
                                        <p:strVal val="visible"/>
                                      </p:to>
                                    </p:set>
                                    <p:animEffect transition="in" filter="fade">
                                      <p:cBhvr>
                                        <p:cTn id="79" dur="750"/>
                                        <p:tgtEl>
                                          <p:spTgt spid="17"/>
                                        </p:tgtEl>
                                      </p:cBhvr>
                                    </p:animEffect>
                                  </p:childTnLst>
                                </p:cTn>
                              </p:par>
                              <p:par>
                                <p:cTn id="80" presetID="64" presetClass="path" presetSubtype="0" accel="50000" decel="50000" fill="hold" grpId="1" nodeType="withEffect">
                                  <p:stCondLst>
                                    <p:cond delay="2600"/>
                                  </p:stCondLst>
                                  <p:childTnLst>
                                    <p:animMotion origin="layout" path="M -3.33333E-6 -0.09278 L -3.33333E-6 3.33333E-6 " pathEditMode="relative" rAng="0" ptsTypes="AA">
                                      <p:cBhvr>
                                        <p:cTn id="81" dur="1000" spd="-100000" fill="hold"/>
                                        <p:tgtEl>
                                          <p:spTgt spid="17"/>
                                        </p:tgtEl>
                                        <p:attrNameLst>
                                          <p:attrName>ppt_x</p:attrName>
                                          <p:attrName>ppt_y</p:attrName>
                                        </p:attrNameLst>
                                      </p:cBhvr>
                                      <p:rCtr x="0" y="4639"/>
                                    </p:animMotion>
                                  </p:childTnLst>
                                </p:cTn>
                              </p:par>
                              <p:par>
                                <p:cTn id="82" presetID="22" presetClass="entr" presetSubtype="4" fill="hold" grpId="0" nodeType="withEffect">
                                  <p:stCondLst>
                                    <p:cond delay="2700"/>
                                  </p:stCondLst>
                                  <p:childTnLst>
                                    <p:set>
                                      <p:cBhvr>
                                        <p:cTn id="83" dur="1" fill="hold">
                                          <p:stCondLst>
                                            <p:cond delay="0"/>
                                          </p:stCondLst>
                                        </p:cTn>
                                        <p:tgtEl>
                                          <p:spTgt spid="6">
                                            <p:graphicEl>
                                              <a:chart seriesIdx="-4" categoryIdx="8" bldStep="category"/>
                                            </p:graphicEl>
                                          </p:spTgt>
                                        </p:tgtEl>
                                        <p:attrNameLst>
                                          <p:attrName>style.visibility</p:attrName>
                                        </p:attrNameLst>
                                      </p:cBhvr>
                                      <p:to>
                                        <p:strVal val="visible"/>
                                      </p:to>
                                    </p:set>
                                    <p:animEffect transition="in" filter="wipe(down)">
                                      <p:cBhvr>
                                        <p:cTn id="84" dur="500"/>
                                        <p:tgtEl>
                                          <p:spTgt spid="6">
                                            <p:graphicEl>
                                              <a:chart seriesIdx="-4" categoryIdx="8" bldStep="category"/>
                                            </p:graphicEl>
                                          </p:spTgt>
                                        </p:tgtEl>
                                      </p:cBhvr>
                                    </p:animEffect>
                                  </p:childTnLst>
                                </p:cTn>
                              </p:par>
                              <p:par>
                                <p:cTn id="85" presetID="10" presetClass="entr" presetSubtype="0" fill="hold" grpId="0" nodeType="withEffect">
                                  <p:stCondLst>
                                    <p:cond delay="290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750"/>
                                        <p:tgtEl>
                                          <p:spTgt spid="18"/>
                                        </p:tgtEl>
                                      </p:cBhvr>
                                    </p:animEffect>
                                  </p:childTnLst>
                                </p:cTn>
                              </p:par>
                              <p:par>
                                <p:cTn id="88" presetID="64" presetClass="path" presetSubtype="0" accel="50000" decel="50000" fill="hold" grpId="1" nodeType="withEffect">
                                  <p:stCondLst>
                                    <p:cond delay="2900"/>
                                  </p:stCondLst>
                                  <p:childTnLst>
                                    <p:animMotion origin="layout" path="M -3.33333E-6 -0.09278 L -3.33333E-6 -1.11111E-6 " pathEditMode="relative" rAng="0" ptsTypes="AA">
                                      <p:cBhvr>
                                        <p:cTn id="89" dur="1000" spd="-100000" fill="hold"/>
                                        <p:tgtEl>
                                          <p:spTgt spid="18"/>
                                        </p:tgtEl>
                                        <p:attrNameLst>
                                          <p:attrName>ppt_x</p:attrName>
                                          <p:attrName>ppt_y</p:attrName>
                                        </p:attrNameLst>
                                      </p:cBhvr>
                                      <p:rCtr x="0" y="4639"/>
                                    </p:animMotion>
                                  </p:childTnLst>
                                </p:cTn>
                              </p:par>
                            </p:childTnLst>
                          </p:cTn>
                        </p:par>
                        <p:par>
                          <p:cTn id="90" fill="hold">
                            <p:stCondLst>
                              <p:cond delay="6650"/>
                            </p:stCondLst>
                            <p:childTnLst>
                              <p:par>
                                <p:cTn id="91" presetID="42" presetClass="entr" presetSubtype="0" fill="hold" grpId="0" nodeType="afterEffect">
                                  <p:stCondLst>
                                    <p:cond delay="0"/>
                                  </p:stCondLst>
                                  <p:childTnLst>
                                    <p:set>
                                      <p:cBhvr>
                                        <p:cTn id="92" dur="1" fill="hold">
                                          <p:stCondLst>
                                            <p:cond delay="0"/>
                                          </p:stCondLst>
                                        </p:cTn>
                                        <p:tgtEl>
                                          <p:spTgt spid="10"/>
                                        </p:tgtEl>
                                        <p:attrNameLst>
                                          <p:attrName>style.visibility</p:attrName>
                                        </p:attrNameLst>
                                      </p:cBhvr>
                                      <p:to>
                                        <p:strVal val="visible"/>
                                      </p:to>
                                    </p:set>
                                    <p:animEffect transition="in" filter="fade">
                                      <p:cBhvr>
                                        <p:cTn id="93" dur="1000"/>
                                        <p:tgtEl>
                                          <p:spTgt spid="10"/>
                                        </p:tgtEl>
                                      </p:cBhvr>
                                    </p:animEffect>
                                    <p:anim calcmode="lin" valueType="num">
                                      <p:cBhvr>
                                        <p:cTn id="94" dur="1000" fill="hold"/>
                                        <p:tgtEl>
                                          <p:spTgt spid="10"/>
                                        </p:tgtEl>
                                        <p:attrNameLst>
                                          <p:attrName>ppt_x</p:attrName>
                                        </p:attrNameLst>
                                      </p:cBhvr>
                                      <p:tavLst>
                                        <p:tav tm="0">
                                          <p:val>
                                            <p:strVal val="#ppt_x"/>
                                          </p:val>
                                        </p:tav>
                                        <p:tav tm="100000">
                                          <p:val>
                                            <p:strVal val="#ppt_x"/>
                                          </p:val>
                                        </p:tav>
                                      </p:tavLst>
                                    </p:anim>
                                    <p:anim calcmode="lin" valueType="num">
                                      <p:cBhvr>
                                        <p:cTn id="9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p:bldP spid="2" grpId="2"/>
      <p:bldP spid="2" grpId="3"/>
      <p:bldGraphic spid="6" grpId="0" uiExpand="1">
        <p:bldSub>
          <a:bldChart bld="category"/>
        </p:bldSub>
      </p:bldGraphic>
      <p:bldP spid="4" grpId="0"/>
      <p:bldP spid="4" grpId="1"/>
      <p:bldP spid="11" grpId="0"/>
      <p:bldP spid="11" grpId="1"/>
      <p:bldP spid="12" grpId="0"/>
      <p:bldP spid="12" grpId="1"/>
      <p:bldP spid="13" grpId="0"/>
      <p:bldP spid="13" grpId="1"/>
      <p:bldP spid="14" grpId="0"/>
      <p:bldP spid="14" grpId="1"/>
      <p:bldP spid="15" grpId="0"/>
      <p:bldP spid="15" grpId="1"/>
      <p:bldP spid="16" grpId="0"/>
      <p:bldP spid="16" grpId="1"/>
      <p:bldP spid="17" grpId="0"/>
      <p:bldP spid="17" grpId="1"/>
      <p:bldP spid="18" grpId="0"/>
      <p:bldP spid="18" grpId="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图表 6"/>
          <p:cNvGraphicFramePr/>
          <p:nvPr>
            <p:extLst>
              <p:ext uri="{D42A27DB-BD31-4B8C-83A1-F6EECF244321}">
                <p14:modId xmlns:p14="http://schemas.microsoft.com/office/powerpoint/2010/main" val="3654104404"/>
              </p:ext>
            </p:extLst>
          </p:nvPr>
        </p:nvGraphicFramePr>
        <p:xfrm>
          <a:off x="85764" y="1510150"/>
          <a:ext cx="8572499" cy="4182267"/>
        </p:xfrm>
        <a:graphic>
          <a:graphicData uri="http://schemas.openxmlformats.org/drawingml/2006/chart">
            <c:chart xmlns:c="http://schemas.openxmlformats.org/drawingml/2006/chart" xmlns:r="http://schemas.openxmlformats.org/officeDocument/2006/relationships" r:id="rId2"/>
          </a:graphicData>
        </a:graphic>
      </p:graphicFrame>
      <p:sp>
        <p:nvSpPr>
          <p:cNvPr id="4" name="等腰三角形 3"/>
          <p:cNvSpPr/>
          <p:nvPr/>
        </p:nvSpPr>
        <p:spPr>
          <a:xfrm flipH="1" flipV="1">
            <a:off x="4465172" y="1313881"/>
            <a:ext cx="213657" cy="117981"/>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125954" y="475989"/>
            <a:ext cx="6892093" cy="461665"/>
          </a:xfrm>
          <a:prstGeom prst="rect">
            <a:avLst/>
          </a:prstGeom>
          <a:noFill/>
        </p:spPr>
        <p:txBody>
          <a:bodyPr wrap="square" rtlCol="0">
            <a:spAutoFit/>
          </a:bodyPr>
          <a:lstStyle/>
          <a:p>
            <a:pPr algn="ctr"/>
            <a:r>
              <a:rPr lang="en-US" altLang="zh-CN" sz="2400" b="1" dirty="0">
                <a:solidFill>
                  <a:schemeClr val="tx1">
                    <a:lumMod val="65000"/>
                    <a:lumOff val="35000"/>
                  </a:schemeClr>
                </a:solidFill>
                <a:latin typeface="+mj-ea"/>
                <a:ea typeface="+mj-ea"/>
              </a:rPr>
              <a:t>2019</a:t>
            </a:r>
            <a:r>
              <a:rPr lang="zh-CN" altLang="en-US" sz="2400" b="1" dirty="0">
                <a:solidFill>
                  <a:schemeClr val="tx1">
                    <a:lumMod val="65000"/>
                    <a:lumOff val="35000"/>
                  </a:schemeClr>
                </a:solidFill>
                <a:latin typeface="+mj-ea"/>
                <a:ea typeface="+mj-ea"/>
              </a:rPr>
              <a:t>年全渠道客户服务不同渠道服务次数对比</a:t>
            </a:r>
            <a:endParaRPr lang="zh-CN" altLang="en-US" sz="2400" dirty="0">
              <a:solidFill>
                <a:schemeClr val="tx1">
                  <a:lumMod val="65000"/>
                  <a:lumOff val="35000"/>
                </a:schemeClr>
              </a:solidFill>
              <a:latin typeface="+mj-ea"/>
              <a:ea typeface="+mj-ea"/>
            </a:endParaRPr>
          </a:p>
        </p:txBody>
      </p:sp>
    </p:spTree>
    <p:extLst>
      <p:ext uri="{BB962C8B-B14F-4D97-AF65-F5344CB8AC3E}">
        <p14:creationId xmlns:p14="http://schemas.microsoft.com/office/powerpoint/2010/main" val="1667370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8" presetClass="entr" presetSubtype="6" fill="hold" grpId="0" nodeType="withEffect">
                                  <p:stCondLst>
                                    <p:cond delay="250"/>
                                  </p:stCondLst>
                                  <p:childTnLst>
                                    <p:set>
                                      <p:cBhvr>
                                        <p:cTn id="11" dur="1" fill="hold">
                                          <p:stCondLst>
                                            <p:cond delay="0"/>
                                          </p:stCondLst>
                                        </p:cTn>
                                        <p:tgtEl>
                                          <p:spTgt spid="7">
                                            <p:graphicEl>
                                              <a:chart seriesIdx="-3" categoryIdx="-3" bldStep="gridLegend"/>
                                            </p:graphicEl>
                                          </p:spTgt>
                                        </p:tgtEl>
                                        <p:attrNameLst>
                                          <p:attrName>style.visibility</p:attrName>
                                        </p:attrNameLst>
                                      </p:cBhvr>
                                      <p:to>
                                        <p:strVal val="visible"/>
                                      </p:to>
                                    </p:set>
                                    <p:animEffect transition="in" filter="strips(downRight)">
                                      <p:cBhvr>
                                        <p:cTn id="12" dur="1000"/>
                                        <p:tgtEl>
                                          <p:spTgt spid="7">
                                            <p:graphicEl>
                                              <a:chart seriesIdx="-3" categoryIdx="-3" bldStep="gridLegend"/>
                                            </p:graphicEl>
                                          </p:spTgt>
                                        </p:tgtEl>
                                      </p:cBhvr>
                                    </p:animEffect>
                                  </p:childTnLst>
                                </p:cTn>
                              </p:par>
                              <p:par>
                                <p:cTn id="13" presetID="18" presetClass="entr" presetSubtype="6" fill="hold" grpId="0" nodeType="withEffect">
                                  <p:stCondLst>
                                    <p:cond delay="250"/>
                                  </p:stCondLst>
                                  <p:childTnLst>
                                    <p:set>
                                      <p:cBhvr>
                                        <p:cTn id="14" dur="1" fill="hold">
                                          <p:stCondLst>
                                            <p:cond delay="0"/>
                                          </p:stCondLst>
                                        </p:cTn>
                                        <p:tgtEl>
                                          <p:spTgt spid="7">
                                            <p:graphicEl>
                                              <a:chart seriesIdx="0" categoryIdx="-4" bldStep="series"/>
                                            </p:graphicEl>
                                          </p:spTgt>
                                        </p:tgtEl>
                                        <p:attrNameLst>
                                          <p:attrName>style.visibility</p:attrName>
                                        </p:attrNameLst>
                                      </p:cBhvr>
                                      <p:to>
                                        <p:strVal val="visible"/>
                                      </p:to>
                                    </p:set>
                                    <p:animEffect transition="in" filter="strips(downRight)">
                                      <p:cBhvr>
                                        <p:cTn id="15" dur="1500"/>
                                        <p:tgtEl>
                                          <p:spTgt spid="7">
                                            <p:graphicEl>
                                              <a:chart seriesIdx="0" categoryIdx="-4" bldStep="series"/>
                                            </p:graphicEl>
                                          </p:spTgt>
                                        </p:tgtEl>
                                      </p:cBhvr>
                                    </p:animEffect>
                                  </p:childTnLst>
                                </p:cTn>
                              </p:par>
                              <p:par>
                                <p:cTn id="16" presetID="18" presetClass="entr" presetSubtype="6" fill="hold" grpId="0" nodeType="withEffect">
                                  <p:stCondLst>
                                    <p:cond delay="1250"/>
                                  </p:stCondLst>
                                  <p:childTnLst>
                                    <p:set>
                                      <p:cBhvr>
                                        <p:cTn id="17" dur="1" fill="hold">
                                          <p:stCondLst>
                                            <p:cond delay="0"/>
                                          </p:stCondLst>
                                        </p:cTn>
                                        <p:tgtEl>
                                          <p:spTgt spid="7">
                                            <p:graphicEl>
                                              <a:chart seriesIdx="1" categoryIdx="-4" bldStep="series"/>
                                            </p:graphicEl>
                                          </p:spTgt>
                                        </p:tgtEl>
                                        <p:attrNameLst>
                                          <p:attrName>style.visibility</p:attrName>
                                        </p:attrNameLst>
                                      </p:cBhvr>
                                      <p:to>
                                        <p:strVal val="visible"/>
                                      </p:to>
                                    </p:set>
                                    <p:animEffect transition="in" filter="strips(downRight)">
                                      <p:cBhvr>
                                        <p:cTn id="18" dur="1500"/>
                                        <p:tgtEl>
                                          <p:spTgt spid="7">
                                            <p:graphicEl>
                                              <a:chart seriesIdx="1" categoryIdx="-4" bldStep="series"/>
                                            </p:graphicEl>
                                          </p:spTgt>
                                        </p:tgtEl>
                                      </p:cBhvr>
                                    </p:animEffect>
                                  </p:childTnLst>
                                </p:cTn>
                              </p:par>
                              <p:par>
                                <p:cTn id="19" presetID="10" presetClass="entr" presetSubtype="0" fill="hold" grpId="1" nodeType="withEffect">
                                  <p:stCondLst>
                                    <p:cond delay="225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par>
                                <p:cTn id="22" presetID="42" presetClass="path" presetSubtype="0" repeatCount="indefinite" accel="50000" decel="50000" autoRev="1" fill="hold" grpId="0" nodeType="withEffect">
                                  <p:stCondLst>
                                    <p:cond delay="2750"/>
                                  </p:stCondLst>
                                  <p:childTnLst>
                                    <p:animMotion origin="layout" path="M 0 2.22222E-6 L 0 0.0425 " pathEditMode="relative" rAng="0" ptsTypes="AA">
                                      <p:cBhvr>
                                        <p:cTn id="23" dur="500" fill="hold"/>
                                        <p:tgtEl>
                                          <p:spTgt spid="4"/>
                                        </p:tgtEl>
                                        <p:attrNameLst>
                                          <p:attrName>ppt_x</p:attrName>
                                          <p:attrName>ppt_y</p:attrName>
                                        </p:attrNameLst>
                                      </p:cBhvr>
                                      <p:rCtr x="0" y="211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uiExpand="1">
        <p:bldSub>
          <a:bldChart bld="series"/>
        </p:bldSub>
      </p:bldGraphic>
      <p:bldP spid="4" grpId="0" animBg="1"/>
      <p:bldP spid="4" grpId="1" animBg="1"/>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图表 5"/>
          <p:cNvGraphicFramePr/>
          <p:nvPr>
            <p:extLst>
              <p:ext uri="{D42A27DB-BD31-4B8C-83A1-F6EECF244321}">
                <p14:modId xmlns:p14="http://schemas.microsoft.com/office/powerpoint/2010/main" val="3841615419"/>
              </p:ext>
            </p:extLst>
          </p:nvPr>
        </p:nvGraphicFramePr>
        <p:xfrm>
          <a:off x="874199" y="1129154"/>
          <a:ext cx="7449577" cy="4286177"/>
        </p:xfrm>
        <a:graphic>
          <a:graphicData uri="http://schemas.openxmlformats.org/drawingml/2006/chart">
            <c:chart xmlns:c="http://schemas.openxmlformats.org/drawingml/2006/chart" xmlns:r="http://schemas.openxmlformats.org/officeDocument/2006/relationships" r:id="rId2"/>
          </a:graphicData>
        </a:graphic>
      </p:graphicFrame>
      <p:sp>
        <p:nvSpPr>
          <p:cNvPr id="9" name="文本框 8"/>
          <p:cNvSpPr txBox="1"/>
          <p:nvPr/>
        </p:nvSpPr>
        <p:spPr>
          <a:xfrm>
            <a:off x="874199" y="164447"/>
            <a:ext cx="7377847" cy="1053622"/>
          </a:xfrm>
          <a:prstGeom prst="rect">
            <a:avLst/>
          </a:prstGeom>
          <a:noFill/>
        </p:spPr>
        <p:txBody>
          <a:bodyPr wrap="square" rtlCol="0">
            <a:spAutoFit/>
          </a:bodyPr>
          <a:lstStyle/>
          <a:p>
            <a:pPr algn="ctr">
              <a:lnSpc>
                <a:spcPct val="150000"/>
              </a:lnSpc>
            </a:pPr>
            <a:r>
              <a:rPr lang="en-US" altLang="zh-CN" sz="2400" b="1" spc="600" dirty="0">
                <a:solidFill>
                  <a:schemeClr val="tx1">
                    <a:lumMod val="65000"/>
                    <a:lumOff val="35000"/>
                  </a:schemeClr>
                </a:solidFill>
                <a:latin typeface="微软雅黑" panose="020B0503020204020204" pitchFamily="34" charset="-122"/>
                <a:ea typeface="微软雅黑" panose="020B0503020204020204" pitchFamily="34" charset="-122"/>
              </a:rPr>
              <a:t>2019</a:t>
            </a:r>
            <a:r>
              <a:rPr lang="zh-CN" altLang="en-US" sz="2400" b="1" spc="600" dirty="0">
                <a:solidFill>
                  <a:schemeClr val="tx1">
                    <a:lumMod val="65000"/>
                    <a:lumOff val="35000"/>
                  </a:schemeClr>
                </a:solidFill>
                <a:latin typeface="微软雅黑" panose="020B0503020204020204" pitchFamily="34" charset="-122"/>
                <a:ea typeface="微软雅黑" panose="020B0503020204020204" pitchFamily="34" charset="-122"/>
              </a:rPr>
              <a:t>微信微博渠道日平均客服</a:t>
            </a:r>
            <a:endParaRPr lang="en-US" altLang="zh-CN" sz="2400" b="1" spc="600"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2000" b="1" spc="600" dirty="0">
                <a:solidFill>
                  <a:schemeClr val="accent2"/>
                </a:solidFill>
                <a:latin typeface="微软雅黑" panose="020B0503020204020204" pitchFamily="34" charset="-122"/>
                <a:ea typeface="微软雅黑" panose="020B0503020204020204" pitchFamily="34" charset="-122"/>
              </a:rPr>
              <a:t>接入量变化</a:t>
            </a:r>
          </a:p>
        </p:txBody>
      </p:sp>
      <p:sp>
        <p:nvSpPr>
          <p:cNvPr id="38" name="椭圆 37"/>
          <p:cNvSpPr/>
          <p:nvPr/>
        </p:nvSpPr>
        <p:spPr>
          <a:xfrm>
            <a:off x="1384538" y="3572824"/>
            <a:ext cx="239486" cy="239486"/>
          </a:xfrm>
          <a:prstGeom prst="ellipse">
            <a:avLst/>
          </a:prstGeom>
          <a:noFill/>
          <a:ln w="63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1970756" y="3310711"/>
            <a:ext cx="239486" cy="239486"/>
          </a:xfrm>
          <a:prstGeom prst="ellipse">
            <a:avLst/>
          </a:prstGeom>
          <a:noFill/>
          <a:ln w="63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2556788" y="3359464"/>
            <a:ext cx="239486" cy="239486"/>
          </a:xfrm>
          <a:prstGeom prst="ellipse">
            <a:avLst/>
          </a:prstGeom>
          <a:noFill/>
          <a:ln w="63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3119565" y="3022558"/>
            <a:ext cx="239486" cy="239486"/>
          </a:xfrm>
          <a:prstGeom prst="ellipse">
            <a:avLst/>
          </a:prstGeom>
          <a:noFill/>
          <a:ln w="63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nvSpPr>
        <p:spPr>
          <a:xfrm>
            <a:off x="3706856" y="2500580"/>
            <a:ext cx="239486" cy="239486"/>
          </a:xfrm>
          <a:prstGeom prst="ellipse">
            <a:avLst/>
          </a:prstGeom>
          <a:noFill/>
          <a:ln w="63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4268559" y="2581134"/>
            <a:ext cx="239486" cy="239486"/>
          </a:xfrm>
          <a:prstGeom prst="ellipse">
            <a:avLst/>
          </a:prstGeom>
          <a:noFill/>
          <a:ln w="63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4843862" y="2540857"/>
            <a:ext cx="239486" cy="239486"/>
          </a:xfrm>
          <a:prstGeom prst="ellipse">
            <a:avLst/>
          </a:prstGeom>
          <a:noFill/>
          <a:ln w="63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5434824" y="2283953"/>
            <a:ext cx="239486" cy="239486"/>
          </a:xfrm>
          <a:prstGeom prst="ellipse">
            <a:avLst/>
          </a:prstGeom>
          <a:noFill/>
          <a:ln w="63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6000734" y="2190336"/>
            <a:ext cx="239486" cy="239486"/>
          </a:xfrm>
          <a:prstGeom prst="ellipse">
            <a:avLst/>
          </a:prstGeom>
          <a:noFill/>
          <a:ln w="63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6588732" y="2098894"/>
            <a:ext cx="239486" cy="239486"/>
          </a:xfrm>
          <a:prstGeom prst="ellipse">
            <a:avLst/>
          </a:prstGeom>
          <a:noFill/>
          <a:ln w="63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7150266" y="2029223"/>
            <a:ext cx="239486" cy="239486"/>
          </a:xfrm>
          <a:prstGeom prst="ellipse">
            <a:avLst/>
          </a:prstGeom>
          <a:noFill/>
          <a:ln w="63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7724326" y="1846345"/>
            <a:ext cx="239486" cy="239486"/>
          </a:xfrm>
          <a:prstGeom prst="ellipse">
            <a:avLst/>
          </a:prstGeom>
          <a:noFill/>
          <a:ln w="63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1397064" y="4374334"/>
            <a:ext cx="239486" cy="239486"/>
          </a:xfrm>
          <a:prstGeom prst="ellipse">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1970033" y="4331169"/>
            <a:ext cx="239486" cy="239486"/>
          </a:xfrm>
          <a:prstGeom prst="ellipse">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2543002" y="4413686"/>
            <a:ext cx="239486" cy="239486"/>
          </a:xfrm>
          <a:prstGeom prst="ellipse">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3119565" y="4401160"/>
            <a:ext cx="239486" cy="239486"/>
          </a:xfrm>
          <a:prstGeom prst="ellipse">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3689346" y="4432956"/>
            <a:ext cx="239486" cy="239486"/>
          </a:xfrm>
          <a:prstGeom prst="ellipse">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4268559" y="4436385"/>
            <a:ext cx="239486" cy="239486"/>
          </a:xfrm>
          <a:prstGeom prst="ellipse">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nvSpPr>
        <p:spPr>
          <a:xfrm>
            <a:off x="4850866" y="4374334"/>
            <a:ext cx="239486" cy="239486"/>
          </a:xfrm>
          <a:prstGeom prst="ellipse">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p:nvPr/>
        </p:nvSpPr>
        <p:spPr>
          <a:xfrm>
            <a:off x="5427429" y="4335846"/>
            <a:ext cx="239486" cy="239486"/>
          </a:xfrm>
          <a:prstGeom prst="ellipse">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p:nvPr/>
        </p:nvSpPr>
        <p:spPr>
          <a:xfrm>
            <a:off x="5996391" y="4303352"/>
            <a:ext cx="239486" cy="239486"/>
          </a:xfrm>
          <a:prstGeom prst="ellipse">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a:off x="6584562" y="4390760"/>
            <a:ext cx="239486" cy="239486"/>
          </a:xfrm>
          <a:prstGeom prst="ellipse">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a:off x="7146835" y="4353959"/>
            <a:ext cx="239486" cy="239486"/>
          </a:xfrm>
          <a:prstGeom prst="ellipse">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7731188" y="4430582"/>
            <a:ext cx="239486" cy="239486"/>
          </a:xfrm>
          <a:prstGeom prst="ellipse">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1638720" y="2262663"/>
            <a:ext cx="830242" cy="715319"/>
            <a:chOff x="1638720" y="2262663"/>
            <a:chExt cx="830242" cy="715319"/>
          </a:xfrm>
        </p:grpSpPr>
        <p:sp>
          <p:nvSpPr>
            <p:cNvPr id="31" name="对话气泡: 椭圆形 30"/>
            <p:cNvSpPr/>
            <p:nvPr/>
          </p:nvSpPr>
          <p:spPr>
            <a:xfrm>
              <a:off x="1638720" y="2262663"/>
              <a:ext cx="830242" cy="715319"/>
            </a:xfrm>
            <a:prstGeom prst="wedgeEllipseCallout">
              <a:avLst>
                <a:gd name="adj1" fmla="val 42294"/>
                <a:gd name="adj2" fmla="val 50029"/>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3" cstate="hqprint">
              <a:clrChange>
                <a:clrFrom>
                  <a:srgbClr val="FFFFFF"/>
                </a:clrFrom>
                <a:clrTo>
                  <a:srgbClr val="FFFFFF">
                    <a:alpha val="0"/>
                  </a:srgbClr>
                </a:clrTo>
              </a:clrChange>
              <a:biLevel thresh="25000"/>
              <a:extLst>
                <a:ext uri="{28A0092B-C50C-407E-A947-70E740481C1C}">
                  <a14:useLocalDpi xmlns:a14="http://schemas.microsoft.com/office/drawing/2010/main" val="0"/>
                </a:ext>
              </a:extLst>
            </a:blip>
            <a:stretch>
              <a:fillRect/>
            </a:stretch>
          </p:blipFill>
          <p:spPr>
            <a:xfrm>
              <a:off x="1814410" y="2412405"/>
              <a:ext cx="501121" cy="482746"/>
            </a:xfrm>
            <a:prstGeom prst="rect">
              <a:avLst/>
            </a:prstGeom>
          </p:spPr>
        </p:pic>
      </p:grpSp>
      <p:grpSp>
        <p:nvGrpSpPr>
          <p:cNvPr id="10" name="组合 9"/>
          <p:cNvGrpSpPr/>
          <p:nvPr/>
        </p:nvGrpSpPr>
        <p:grpSpPr>
          <a:xfrm>
            <a:off x="6609614" y="3539435"/>
            <a:ext cx="830242" cy="715319"/>
            <a:chOff x="6609614" y="3539435"/>
            <a:chExt cx="830242" cy="715319"/>
          </a:xfrm>
        </p:grpSpPr>
        <p:sp>
          <p:nvSpPr>
            <p:cNvPr id="3" name="对话气泡: 椭圆形 2"/>
            <p:cNvSpPr/>
            <p:nvPr/>
          </p:nvSpPr>
          <p:spPr>
            <a:xfrm>
              <a:off x="6609614" y="3539435"/>
              <a:ext cx="830242" cy="715319"/>
            </a:xfrm>
            <a:prstGeom prst="wedgeEllipseCallout">
              <a:avLst>
                <a:gd name="adj1" fmla="val -24862"/>
                <a:gd name="adj2" fmla="val 57823"/>
              </a:avLst>
            </a:prstGeom>
            <a:solidFill>
              <a:schemeClr val="tx1">
                <a:lumMod val="65000"/>
                <a:lumOff val="3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Id4" cstate="hqprint">
              <a:lum bright="70000" contrast="-70000"/>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6762810" y="3617603"/>
              <a:ext cx="563541" cy="563541"/>
            </a:xfrm>
            <a:prstGeom prst="rect">
              <a:avLst/>
            </a:prstGeom>
            <a:ln>
              <a:noFill/>
            </a:ln>
          </p:spPr>
        </p:pic>
      </p:grpSp>
    </p:spTree>
    <p:extLst>
      <p:ext uri="{BB962C8B-B14F-4D97-AF65-F5344CB8AC3E}">
        <p14:creationId xmlns:p14="http://schemas.microsoft.com/office/powerpoint/2010/main" val="1898463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grpId="0" nodeType="afterEffect">
                                  <p:stCondLst>
                                    <p:cond delay="0"/>
                                  </p:stCondLst>
                                  <p:childTnLst>
                                    <p:set>
                                      <p:cBhvr>
                                        <p:cTn id="12" dur="1" fill="hold">
                                          <p:stCondLst>
                                            <p:cond delay="0"/>
                                          </p:stCondLst>
                                        </p:cTn>
                                        <p:tgtEl>
                                          <p:spTgt spid="6">
                                            <p:graphicEl>
                                              <a:chart seriesIdx="-3" categoryIdx="-3" bldStep="gridLegend"/>
                                            </p:graphicEl>
                                          </p:spTgt>
                                        </p:tgtEl>
                                        <p:attrNameLst>
                                          <p:attrName>style.visibility</p:attrName>
                                        </p:attrNameLst>
                                      </p:cBhvr>
                                      <p:to>
                                        <p:strVal val="visible"/>
                                      </p:to>
                                    </p:set>
                                    <p:animEffect transition="in" filter="wipe(down)">
                                      <p:cBhvr>
                                        <p:cTn id="13" dur="1000"/>
                                        <p:tgtEl>
                                          <p:spTgt spid="6">
                                            <p:graphicEl>
                                              <a:chart seriesIdx="-3" categoryIdx="-3" bldStep="gridLegend"/>
                                            </p:graphicEl>
                                          </p:spTgt>
                                        </p:tgtEl>
                                      </p:cBhvr>
                                    </p:animEffect>
                                  </p:childTnLst>
                                </p:cTn>
                              </p:par>
                              <p:par>
                                <p:cTn id="14" presetID="18" presetClass="entr" presetSubtype="3" fill="hold" grpId="0" nodeType="withEffect">
                                  <p:stCondLst>
                                    <p:cond delay="1500"/>
                                  </p:stCondLst>
                                  <p:childTnLst>
                                    <p:set>
                                      <p:cBhvr>
                                        <p:cTn id="15" dur="1" fill="hold">
                                          <p:stCondLst>
                                            <p:cond delay="0"/>
                                          </p:stCondLst>
                                        </p:cTn>
                                        <p:tgtEl>
                                          <p:spTgt spid="6">
                                            <p:graphicEl>
                                              <a:chart seriesIdx="-4" categoryIdx="0" bldStep="category"/>
                                            </p:graphicEl>
                                          </p:spTgt>
                                        </p:tgtEl>
                                        <p:attrNameLst>
                                          <p:attrName>style.visibility</p:attrName>
                                        </p:attrNameLst>
                                      </p:cBhvr>
                                      <p:to>
                                        <p:strVal val="visible"/>
                                      </p:to>
                                    </p:set>
                                    <p:animEffect transition="in" filter="strips(upRight)">
                                      <p:cBhvr>
                                        <p:cTn id="16" dur="500"/>
                                        <p:tgtEl>
                                          <p:spTgt spid="6">
                                            <p:graphicEl>
                                              <a:chart seriesIdx="-4" categoryIdx="0" bldStep="category"/>
                                            </p:graphicEl>
                                          </p:spTgt>
                                        </p:tgtEl>
                                      </p:cBhvr>
                                    </p:animEffect>
                                  </p:childTnLst>
                                </p:cTn>
                              </p:par>
                              <p:par>
                                <p:cTn id="17" presetID="53" presetClass="entr" presetSubtype="16" fill="hold" grpId="0" nodeType="withEffect">
                                  <p:stCondLst>
                                    <p:cond delay="1500"/>
                                  </p:stCondLst>
                                  <p:childTnLst>
                                    <p:set>
                                      <p:cBhvr>
                                        <p:cTn id="18" dur="1" fill="hold">
                                          <p:stCondLst>
                                            <p:cond delay="0"/>
                                          </p:stCondLst>
                                        </p:cTn>
                                        <p:tgtEl>
                                          <p:spTgt spid="38"/>
                                        </p:tgtEl>
                                        <p:attrNameLst>
                                          <p:attrName>style.visibility</p:attrName>
                                        </p:attrNameLst>
                                      </p:cBhvr>
                                      <p:to>
                                        <p:strVal val="visible"/>
                                      </p:to>
                                    </p:set>
                                    <p:anim calcmode="lin" valueType="num">
                                      <p:cBhvr>
                                        <p:cTn id="19" dur="500" fill="hold"/>
                                        <p:tgtEl>
                                          <p:spTgt spid="38"/>
                                        </p:tgtEl>
                                        <p:attrNameLst>
                                          <p:attrName>ppt_w</p:attrName>
                                        </p:attrNameLst>
                                      </p:cBhvr>
                                      <p:tavLst>
                                        <p:tav tm="0">
                                          <p:val>
                                            <p:fltVal val="0"/>
                                          </p:val>
                                        </p:tav>
                                        <p:tav tm="100000">
                                          <p:val>
                                            <p:strVal val="#ppt_w"/>
                                          </p:val>
                                        </p:tav>
                                      </p:tavLst>
                                    </p:anim>
                                    <p:anim calcmode="lin" valueType="num">
                                      <p:cBhvr>
                                        <p:cTn id="20" dur="500" fill="hold"/>
                                        <p:tgtEl>
                                          <p:spTgt spid="38"/>
                                        </p:tgtEl>
                                        <p:attrNameLst>
                                          <p:attrName>ppt_h</p:attrName>
                                        </p:attrNameLst>
                                      </p:cBhvr>
                                      <p:tavLst>
                                        <p:tav tm="0">
                                          <p:val>
                                            <p:fltVal val="0"/>
                                          </p:val>
                                        </p:tav>
                                        <p:tav tm="100000">
                                          <p:val>
                                            <p:strVal val="#ppt_h"/>
                                          </p:val>
                                        </p:tav>
                                      </p:tavLst>
                                    </p:anim>
                                    <p:animEffect transition="in" filter="fade">
                                      <p:cBhvr>
                                        <p:cTn id="21" dur="500"/>
                                        <p:tgtEl>
                                          <p:spTgt spid="38"/>
                                        </p:tgtEl>
                                      </p:cBhvr>
                                    </p:animEffect>
                                  </p:childTnLst>
                                </p:cTn>
                              </p:par>
                              <p:par>
                                <p:cTn id="22" presetID="6" presetClass="emph" presetSubtype="0" fill="hold" grpId="1" nodeType="withEffect">
                                  <p:stCondLst>
                                    <p:cond delay="1500"/>
                                  </p:stCondLst>
                                  <p:childTnLst>
                                    <p:animScale>
                                      <p:cBhvr>
                                        <p:cTn id="23" dur="750" fill="hold"/>
                                        <p:tgtEl>
                                          <p:spTgt spid="38"/>
                                        </p:tgtEl>
                                      </p:cBhvr>
                                      <p:by x="150000" y="150000"/>
                                    </p:animScale>
                                  </p:childTnLst>
                                </p:cTn>
                              </p:par>
                              <p:par>
                                <p:cTn id="24" presetID="10" presetClass="exit" presetSubtype="0" fill="hold" grpId="2" nodeType="withEffect">
                                  <p:stCondLst>
                                    <p:cond delay="1500"/>
                                  </p:stCondLst>
                                  <p:childTnLst>
                                    <p:animEffect transition="out" filter="fade">
                                      <p:cBhvr>
                                        <p:cTn id="25" dur="750"/>
                                        <p:tgtEl>
                                          <p:spTgt spid="38"/>
                                        </p:tgtEl>
                                      </p:cBhvr>
                                    </p:animEffect>
                                    <p:set>
                                      <p:cBhvr>
                                        <p:cTn id="26" dur="1" fill="hold">
                                          <p:stCondLst>
                                            <p:cond delay="749"/>
                                          </p:stCondLst>
                                        </p:cTn>
                                        <p:tgtEl>
                                          <p:spTgt spid="38"/>
                                        </p:tgtEl>
                                        <p:attrNameLst>
                                          <p:attrName>style.visibility</p:attrName>
                                        </p:attrNameLst>
                                      </p:cBhvr>
                                      <p:to>
                                        <p:strVal val="hidden"/>
                                      </p:to>
                                    </p:set>
                                  </p:childTnLst>
                                </p:cTn>
                              </p:par>
                              <p:par>
                                <p:cTn id="27" presetID="53" presetClass="entr" presetSubtype="16" fill="hold" grpId="0" nodeType="withEffect">
                                  <p:stCondLst>
                                    <p:cond delay="1500"/>
                                  </p:stCondLst>
                                  <p:childTnLst>
                                    <p:set>
                                      <p:cBhvr>
                                        <p:cTn id="28" dur="1" fill="hold">
                                          <p:stCondLst>
                                            <p:cond delay="0"/>
                                          </p:stCondLst>
                                        </p:cTn>
                                        <p:tgtEl>
                                          <p:spTgt spid="53"/>
                                        </p:tgtEl>
                                        <p:attrNameLst>
                                          <p:attrName>style.visibility</p:attrName>
                                        </p:attrNameLst>
                                      </p:cBhvr>
                                      <p:to>
                                        <p:strVal val="visible"/>
                                      </p:to>
                                    </p:set>
                                    <p:anim calcmode="lin" valueType="num">
                                      <p:cBhvr>
                                        <p:cTn id="29" dur="500" fill="hold"/>
                                        <p:tgtEl>
                                          <p:spTgt spid="53"/>
                                        </p:tgtEl>
                                        <p:attrNameLst>
                                          <p:attrName>ppt_w</p:attrName>
                                        </p:attrNameLst>
                                      </p:cBhvr>
                                      <p:tavLst>
                                        <p:tav tm="0">
                                          <p:val>
                                            <p:fltVal val="0"/>
                                          </p:val>
                                        </p:tav>
                                        <p:tav tm="100000">
                                          <p:val>
                                            <p:strVal val="#ppt_w"/>
                                          </p:val>
                                        </p:tav>
                                      </p:tavLst>
                                    </p:anim>
                                    <p:anim calcmode="lin" valueType="num">
                                      <p:cBhvr>
                                        <p:cTn id="30" dur="500" fill="hold"/>
                                        <p:tgtEl>
                                          <p:spTgt spid="53"/>
                                        </p:tgtEl>
                                        <p:attrNameLst>
                                          <p:attrName>ppt_h</p:attrName>
                                        </p:attrNameLst>
                                      </p:cBhvr>
                                      <p:tavLst>
                                        <p:tav tm="0">
                                          <p:val>
                                            <p:fltVal val="0"/>
                                          </p:val>
                                        </p:tav>
                                        <p:tav tm="100000">
                                          <p:val>
                                            <p:strVal val="#ppt_h"/>
                                          </p:val>
                                        </p:tav>
                                      </p:tavLst>
                                    </p:anim>
                                    <p:animEffect transition="in" filter="fade">
                                      <p:cBhvr>
                                        <p:cTn id="31" dur="500"/>
                                        <p:tgtEl>
                                          <p:spTgt spid="53"/>
                                        </p:tgtEl>
                                      </p:cBhvr>
                                    </p:animEffect>
                                  </p:childTnLst>
                                </p:cTn>
                              </p:par>
                              <p:par>
                                <p:cTn id="32" presetID="6" presetClass="emph" presetSubtype="0" fill="hold" grpId="1" nodeType="withEffect">
                                  <p:stCondLst>
                                    <p:cond delay="1500"/>
                                  </p:stCondLst>
                                  <p:childTnLst>
                                    <p:animScale>
                                      <p:cBhvr>
                                        <p:cTn id="33" dur="750" fill="hold"/>
                                        <p:tgtEl>
                                          <p:spTgt spid="53"/>
                                        </p:tgtEl>
                                      </p:cBhvr>
                                      <p:by x="150000" y="150000"/>
                                    </p:animScale>
                                  </p:childTnLst>
                                </p:cTn>
                              </p:par>
                              <p:par>
                                <p:cTn id="34" presetID="10" presetClass="exit" presetSubtype="0" fill="hold" grpId="2" nodeType="withEffect">
                                  <p:stCondLst>
                                    <p:cond delay="1500"/>
                                  </p:stCondLst>
                                  <p:childTnLst>
                                    <p:animEffect transition="out" filter="fade">
                                      <p:cBhvr>
                                        <p:cTn id="35" dur="750"/>
                                        <p:tgtEl>
                                          <p:spTgt spid="53"/>
                                        </p:tgtEl>
                                      </p:cBhvr>
                                    </p:animEffect>
                                    <p:set>
                                      <p:cBhvr>
                                        <p:cTn id="36" dur="1" fill="hold">
                                          <p:stCondLst>
                                            <p:cond delay="749"/>
                                          </p:stCondLst>
                                        </p:cTn>
                                        <p:tgtEl>
                                          <p:spTgt spid="53"/>
                                        </p:tgtEl>
                                        <p:attrNameLst>
                                          <p:attrName>style.visibility</p:attrName>
                                        </p:attrNameLst>
                                      </p:cBhvr>
                                      <p:to>
                                        <p:strVal val="hidden"/>
                                      </p:to>
                                    </p:set>
                                  </p:childTnLst>
                                </p:cTn>
                              </p:par>
                              <p:par>
                                <p:cTn id="37" presetID="18" presetClass="entr" presetSubtype="3" fill="hold" grpId="0" nodeType="withEffect">
                                  <p:stCondLst>
                                    <p:cond delay="2000"/>
                                  </p:stCondLst>
                                  <p:childTnLst>
                                    <p:set>
                                      <p:cBhvr>
                                        <p:cTn id="38" dur="1" fill="hold">
                                          <p:stCondLst>
                                            <p:cond delay="0"/>
                                          </p:stCondLst>
                                        </p:cTn>
                                        <p:tgtEl>
                                          <p:spTgt spid="6">
                                            <p:graphicEl>
                                              <a:chart seriesIdx="-4" categoryIdx="1" bldStep="category"/>
                                            </p:graphicEl>
                                          </p:spTgt>
                                        </p:tgtEl>
                                        <p:attrNameLst>
                                          <p:attrName>style.visibility</p:attrName>
                                        </p:attrNameLst>
                                      </p:cBhvr>
                                      <p:to>
                                        <p:strVal val="visible"/>
                                      </p:to>
                                    </p:set>
                                    <p:animEffect transition="in" filter="strips(upRight)">
                                      <p:cBhvr>
                                        <p:cTn id="39" dur="500"/>
                                        <p:tgtEl>
                                          <p:spTgt spid="6">
                                            <p:graphicEl>
                                              <a:chart seriesIdx="-4" categoryIdx="1" bldStep="category"/>
                                            </p:graphicEl>
                                          </p:spTgt>
                                        </p:tgtEl>
                                      </p:cBhvr>
                                    </p:animEffect>
                                  </p:childTnLst>
                                </p:cTn>
                              </p:par>
                              <p:par>
                                <p:cTn id="40" presetID="53" presetClass="entr" presetSubtype="16" fill="hold" grpId="0" nodeType="withEffect">
                                  <p:stCondLst>
                                    <p:cond delay="2000"/>
                                  </p:stCondLst>
                                  <p:childTnLst>
                                    <p:set>
                                      <p:cBhvr>
                                        <p:cTn id="41" dur="1" fill="hold">
                                          <p:stCondLst>
                                            <p:cond delay="0"/>
                                          </p:stCondLst>
                                        </p:cTn>
                                        <p:tgtEl>
                                          <p:spTgt spid="40"/>
                                        </p:tgtEl>
                                        <p:attrNameLst>
                                          <p:attrName>style.visibility</p:attrName>
                                        </p:attrNameLst>
                                      </p:cBhvr>
                                      <p:to>
                                        <p:strVal val="visible"/>
                                      </p:to>
                                    </p:set>
                                    <p:anim calcmode="lin" valueType="num">
                                      <p:cBhvr>
                                        <p:cTn id="42" dur="500" fill="hold"/>
                                        <p:tgtEl>
                                          <p:spTgt spid="40"/>
                                        </p:tgtEl>
                                        <p:attrNameLst>
                                          <p:attrName>ppt_w</p:attrName>
                                        </p:attrNameLst>
                                      </p:cBhvr>
                                      <p:tavLst>
                                        <p:tav tm="0">
                                          <p:val>
                                            <p:fltVal val="0"/>
                                          </p:val>
                                        </p:tav>
                                        <p:tav tm="100000">
                                          <p:val>
                                            <p:strVal val="#ppt_w"/>
                                          </p:val>
                                        </p:tav>
                                      </p:tavLst>
                                    </p:anim>
                                    <p:anim calcmode="lin" valueType="num">
                                      <p:cBhvr>
                                        <p:cTn id="43" dur="500" fill="hold"/>
                                        <p:tgtEl>
                                          <p:spTgt spid="40"/>
                                        </p:tgtEl>
                                        <p:attrNameLst>
                                          <p:attrName>ppt_h</p:attrName>
                                        </p:attrNameLst>
                                      </p:cBhvr>
                                      <p:tavLst>
                                        <p:tav tm="0">
                                          <p:val>
                                            <p:fltVal val="0"/>
                                          </p:val>
                                        </p:tav>
                                        <p:tav tm="100000">
                                          <p:val>
                                            <p:strVal val="#ppt_h"/>
                                          </p:val>
                                        </p:tav>
                                      </p:tavLst>
                                    </p:anim>
                                    <p:animEffect transition="in" filter="fade">
                                      <p:cBhvr>
                                        <p:cTn id="44" dur="500"/>
                                        <p:tgtEl>
                                          <p:spTgt spid="40"/>
                                        </p:tgtEl>
                                      </p:cBhvr>
                                    </p:animEffect>
                                  </p:childTnLst>
                                </p:cTn>
                              </p:par>
                              <p:par>
                                <p:cTn id="45" presetID="6" presetClass="emph" presetSubtype="0" fill="hold" grpId="1" nodeType="withEffect">
                                  <p:stCondLst>
                                    <p:cond delay="2000"/>
                                  </p:stCondLst>
                                  <p:childTnLst>
                                    <p:animScale>
                                      <p:cBhvr>
                                        <p:cTn id="46" dur="750" fill="hold"/>
                                        <p:tgtEl>
                                          <p:spTgt spid="40"/>
                                        </p:tgtEl>
                                      </p:cBhvr>
                                      <p:by x="150000" y="150000"/>
                                    </p:animScale>
                                  </p:childTnLst>
                                </p:cTn>
                              </p:par>
                              <p:par>
                                <p:cTn id="47" presetID="10" presetClass="exit" presetSubtype="0" fill="hold" grpId="2" nodeType="withEffect">
                                  <p:stCondLst>
                                    <p:cond delay="2000"/>
                                  </p:stCondLst>
                                  <p:childTnLst>
                                    <p:animEffect transition="out" filter="fade">
                                      <p:cBhvr>
                                        <p:cTn id="48" dur="750"/>
                                        <p:tgtEl>
                                          <p:spTgt spid="40"/>
                                        </p:tgtEl>
                                      </p:cBhvr>
                                    </p:animEffect>
                                    <p:set>
                                      <p:cBhvr>
                                        <p:cTn id="49" dur="1" fill="hold">
                                          <p:stCondLst>
                                            <p:cond delay="749"/>
                                          </p:stCondLst>
                                        </p:cTn>
                                        <p:tgtEl>
                                          <p:spTgt spid="40"/>
                                        </p:tgtEl>
                                        <p:attrNameLst>
                                          <p:attrName>style.visibility</p:attrName>
                                        </p:attrNameLst>
                                      </p:cBhvr>
                                      <p:to>
                                        <p:strVal val="hidden"/>
                                      </p:to>
                                    </p:set>
                                  </p:childTnLst>
                                </p:cTn>
                              </p:par>
                              <p:par>
                                <p:cTn id="50" presetID="53" presetClass="entr" presetSubtype="16" fill="hold" grpId="0" nodeType="withEffect">
                                  <p:stCondLst>
                                    <p:cond delay="2000"/>
                                  </p:stCondLst>
                                  <p:childTnLst>
                                    <p:set>
                                      <p:cBhvr>
                                        <p:cTn id="51" dur="1" fill="hold">
                                          <p:stCondLst>
                                            <p:cond delay="0"/>
                                          </p:stCondLst>
                                        </p:cTn>
                                        <p:tgtEl>
                                          <p:spTgt spid="54"/>
                                        </p:tgtEl>
                                        <p:attrNameLst>
                                          <p:attrName>style.visibility</p:attrName>
                                        </p:attrNameLst>
                                      </p:cBhvr>
                                      <p:to>
                                        <p:strVal val="visible"/>
                                      </p:to>
                                    </p:set>
                                    <p:anim calcmode="lin" valueType="num">
                                      <p:cBhvr>
                                        <p:cTn id="52" dur="500" fill="hold"/>
                                        <p:tgtEl>
                                          <p:spTgt spid="54"/>
                                        </p:tgtEl>
                                        <p:attrNameLst>
                                          <p:attrName>ppt_w</p:attrName>
                                        </p:attrNameLst>
                                      </p:cBhvr>
                                      <p:tavLst>
                                        <p:tav tm="0">
                                          <p:val>
                                            <p:fltVal val="0"/>
                                          </p:val>
                                        </p:tav>
                                        <p:tav tm="100000">
                                          <p:val>
                                            <p:strVal val="#ppt_w"/>
                                          </p:val>
                                        </p:tav>
                                      </p:tavLst>
                                    </p:anim>
                                    <p:anim calcmode="lin" valueType="num">
                                      <p:cBhvr>
                                        <p:cTn id="53" dur="500" fill="hold"/>
                                        <p:tgtEl>
                                          <p:spTgt spid="54"/>
                                        </p:tgtEl>
                                        <p:attrNameLst>
                                          <p:attrName>ppt_h</p:attrName>
                                        </p:attrNameLst>
                                      </p:cBhvr>
                                      <p:tavLst>
                                        <p:tav tm="0">
                                          <p:val>
                                            <p:fltVal val="0"/>
                                          </p:val>
                                        </p:tav>
                                        <p:tav tm="100000">
                                          <p:val>
                                            <p:strVal val="#ppt_h"/>
                                          </p:val>
                                        </p:tav>
                                      </p:tavLst>
                                    </p:anim>
                                    <p:animEffect transition="in" filter="fade">
                                      <p:cBhvr>
                                        <p:cTn id="54" dur="500"/>
                                        <p:tgtEl>
                                          <p:spTgt spid="54"/>
                                        </p:tgtEl>
                                      </p:cBhvr>
                                    </p:animEffect>
                                  </p:childTnLst>
                                </p:cTn>
                              </p:par>
                              <p:par>
                                <p:cTn id="55" presetID="6" presetClass="emph" presetSubtype="0" fill="hold" grpId="1" nodeType="withEffect">
                                  <p:stCondLst>
                                    <p:cond delay="2000"/>
                                  </p:stCondLst>
                                  <p:childTnLst>
                                    <p:animScale>
                                      <p:cBhvr>
                                        <p:cTn id="56" dur="750" fill="hold"/>
                                        <p:tgtEl>
                                          <p:spTgt spid="54"/>
                                        </p:tgtEl>
                                      </p:cBhvr>
                                      <p:by x="150000" y="150000"/>
                                    </p:animScale>
                                  </p:childTnLst>
                                </p:cTn>
                              </p:par>
                              <p:par>
                                <p:cTn id="57" presetID="10" presetClass="exit" presetSubtype="0" fill="hold" grpId="2" nodeType="withEffect">
                                  <p:stCondLst>
                                    <p:cond delay="2000"/>
                                  </p:stCondLst>
                                  <p:childTnLst>
                                    <p:animEffect transition="out" filter="fade">
                                      <p:cBhvr>
                                        <p:cTn id="58" dur="750"/>
                                        <p:tgtEl>
                                          <p:spTgt spid="54"/>
                                        </p:tgtEl>
                                      </p:cBhvr>
                                    </p:animEffect>
                                    <p:set>
                                      <p:cBhvr>
                                        <p:cTn id="59" dur="1" fill="hold">
                                          <p:stCondLst>
                                            <p:cond delay="749"/>
                                          </p:stCondLst>
                                        </p:cTn>
                                        <p:tgtEl>
                                          <p:spTgt spid="54"/>
                                        </p:tgtEl>
                                        <p:attrNameLst>
                                          <p:attrName>style.visibility</p:attrName>
                                        </p:attrNameLst>
                                      </p:cBhvr>
                                      <p:to>
                                        <p:strVal val="hidden"/>
                                      </p:to>
                                    </p:set>
                                  </p:childTnLst>
                                </p:cTn>
                              </p:par>
                              <p:par>
                                <p:cTn id="60" presetID="18" presetClass="entr" presetSubtype="3" fill="hold" grpId="0" nodeType="withEffect">
                                  <p:stCondLst>
                                    <p:cond delay="2500"/>
                                  </p:stCondLst>
                                  <p:childTnLst>
                                    <p:set>
                                      <p:cBhvr>
                                        <p:cTn id="61" dur="1" fill="hold">
                                          <p:stCondLst>
                                            <p:cond delay="0"/>
                                          </p:stCondLst>
                                        </p:cTn>
                                        <p:tgtEl>
                                          <p:spTgt spid="6">
                                            <p:graphicEl>
                                              <a:chart seriesIdx="-4" categoryIdx="2" bldStep="category"/>
                                            </p:graphicEl>
                                          </p:spTgt>
                                        </p:tgtEl>
                                        <p:attrNameLst>
                                          <p:attrName>style.visibility</p:attrName>
                                        </p:attrNameLst>
                                      </p:cBhvr>
                                      <p:to>
                                        <p:strVal val="visible"/>
                                      </p:to>
                                    </p:set>
                                    <p:animEffect transition="in" filter="strips(upRight)">
                                      <p:cBhvr>
                                        <p:cTn id="62" dur="500"/>
                                        <p:tgtEl>
                                          <p:spTgt spid="6">
                                            <p:graphicEl>
                                              <a:chart seriesIdx="-4" categoryIdx="2" bldStep="category"/>
                                            </p:graphicEl>
                                          </p:spTgt>
                                        </p:tgtEl>
                                      </p:cBhvr>
                                    </p:animEffect>
                                  </p:childTnLst>
                                </p:cTn>
                              </p:par>
                              <p:par>
                                <p:cTn id="63" presetID="53" presetClass="entr" presetSubtype="16" fill="hold" grpId="0" nodeType="withEffect">
                                  <p:stCondLst>
                                    <p:cond delay="2500"/>
                                  </p:stCondLst>
                                  <p:childTnLst>
                                    <p:set>
                                      <p:cBhvr>
                                        <p:cTn id="64" dur="1" fill="hold">
                                          <p:stCondLst>
                                            <p:cond delay="0"/>
                                          </p:stCondLst>
                                        </p:cTn>
                                        <p:tgtEl>
                                          <p:spTgt spid="41"/>
                                        </p:tgtEl>
                                        <p:attrNameLst>
                                          <p:attrName>style.visibility</p:attrName>
                                        </p:attrNameLst>
                                      </p:cBhvr>
                                      <p:to>
                                        <p:strVal val="visible"/>
                                      </p:to>
                                    </p:set>
                                    <p:anim calcmode="lin" valueType="num">
                                      <p:cBhvr>
                                        <p:cTn id="65" dur="500" fill="hold"/>
                                        <p:tgtEl>
                                          <p:spTgt spid="41"/>
                                        </p:tgtEl>
                                        <p:attrNameLst>
                                          <p:attrName>ppt_w</p:attrName>
                                        </p:attrNameLst>
                                      </p:cBhvr>
                                      <p:tavLst>
                                        <p:tav tm="0">
                                          <p:val>
                                            <p:fltVal val="0"/>
                                          </p:val>
                                        </p:tav>
                                        <p:tav tm="100000">
                                          <p:val>
                                            <p:strVal val="#ppt_w"/>
                                          </p:val>
                                        </p:tav>
                                      </p:tavLst>
                                    </p:anim>
                                    <p:anim calcmode="lin" valueType="num">
                                      <p:cBhvr>
                                        <p:cTn id="66" dur="500" fill="hold"/>
                                        <p:tgtEl>
                                          <p:spTgt spid="41"/>
                                        </p:tgtEl>
                                        <p:attrNameLst>
                                          <p:attrName>ppt_h</p:attrName>
                                        </p:attrNameLst>
                                      </p:cBhvr>
                                      <p:tavLst>
                                        <p:tav tm="0">
                                          <p:val>
                                            <p:fltVal val="0"/>
                                          </p:val>
                                        </p:tav>
                                        <p:tav tm="100000">
                                          <p:val>
                                            <p:strVal val="#ppt_h"/>
                                          </p:val>
                                        </p:tav>
                                      </p:tavLst>
                                    </p:anim>
                                    <p:animEffect transition="in" filter="fade">
                                      <p:cBhvr>
                                        <p:cTn id="67" dur="500"/>
                                        <p:tgtEl>
                                          <p:spTgt spid="41"/>
                                        </p:tgtEl>
                                      </p:cBhvr>
                                    </p:animEffect>
                                  </p:childTnLst>
                                </p:cTn>
                              </p:par>
                              <p:par>
                                <p:cTn id="68" presetID="6" presetClass="emph" presetSubtype="0" fill="hold" grpId="1" nodeType="withEffect">
                                  <p:stCondLst>
                                    <p:cond delay="2500"/>
                                  </p:stCondLst>
                                  <p:childTnLst>
                                    <p:animScale>
                                      <p:cBhvr>
                                        <p:cTn id="69" dur="750" fill="hold"/>
                                        <p:tgtEl>
                                          <p:spTgt spid="41"/>
                                        </p:tgtEl>
                                      </p:cBhvr>
                                      <p:by x="150000" y="150000"/>
                                    </p:animScale>
                                  </p:childTnLst>
                                </p:cTn>
                              </p:par>
                              <p:par>
                                <p:cTn id="70" presetID="10" presetClass="exit" presetSubtype="0" fill="hold" grpId="2" nodeType="withEffect">
                                  <p:stCondLst>
                                    <p:cond delay="2500"/>
                                  </p:stCondLst>
                                  <p:childTnLst>
                                    <p:animEffect transition="out" filter="fade">
                                      <p:cBhvr>
                                        <p:cTn id="71" dur="750"/>
                                        <p:tgtEl>
                                          <p:spTgt spid="41"/>
                                        </p:tgtEl>
                                      </p:cBhvr>
                                    </p:animEffect>
                                    <p:set>
                                      <p:cBhvr>
                                        <p:cTn id="72" dur="1" fill="hold">
                                          <p:stCondLst>
                                            <p:cond delay="749"/>
                                          </p:stCondLst>
                                        </p:cTn>
                                        <p:tgtEl>
                                          <p:spTgt spid="41"/>
                                        </p:tgtEl>
                                        <p:attrNameLst>
                                          <p:attrName>style.visibility</p:attrName>
                                        </p:attrNameLst>
                                      </p:cBhvr>
                                      <p:to>
                                        <p:strVal val="hidden"/>
                                      </p:to>
                                    </p:set>
                                  </p:childTnLst>
                                </p:cTn>
                              </p:par>
                              <p:par>
                                <p:cTn id="73" presetID="53" presetClass="entr" presetSubtype="16" fill="hold" grpId="0" nodeType="withEffect">
                                  <p:stCondLst>
                                    <p:cond delay="2500"/>
                                  </p:stCondLst>
                                  <p:childTnLst>
                                    <p:set>
                                      <p:cBhvr>
                                        <p:cTn id="74" dur="1" fill="hold">
                                          <p:stCondLst>
                                            <p:cond delay="0"/>
                                          </p:stCondLst>
                                        </p:cTn>
                                        <p:tgtEl>
                                          <p:spTgt spid="55"/>
                                        </p:tgtEl>
                                        <p:attrNameLst>
                                          <p:attrName>style.visibility</p:attrName>
                                        </p:attrNameLst>
                                      </p:cBhvr>
                                      <p:to>
                                        <p:strVal val="visible"/>
                                      </p:to>
                                    </p:set>
                                    <p:anim calcmode="lin" valueType="num">
                                      <p:cBhvr>
                                        <p:cTn id="75" dur="500" fill="hold"/>
                                        <p:tgtEl>
                                          <p:spTgt spid="55"/>
                                        </p:tgtEl>
                                        <p:attrNameLst>
                                          <p:attrName>ppt_w</p:attrName>
                                        </p:attrNameLst>
                                      </p:cBhvr>
                                      <p:tavLst>
                                        <p:tav tm="0">
                                          <p:val>
                                            <p:fltVal val="0"/>
                                          </p:val>
                                        </p:tav>
                                        <p:tav tm="100000">
                                          <p:val>
                                            <p:strVal val="#ppt_w"/>
                                          </p:val>
                                        </p:tav>
                                      </p:tavLst>
                                    </p:anim>
                                    <p:anim calcmode="lin" valueType="num">
                                      <p:cBhvr>
                                        <p:cTn id="76" dur="500" fill="hold"/>
                                        <p:tgtEl>
                                          <p:spTgt spid="55"/>
                                        </p:tgtEl>
                                        <p:attrNameLst>
                                          <p:attrName>ppt_h</p:attrName>
                                        </p:attrNameLst>
                                      </p:cBhvr>
                                      <p:tavLst>
                                        <p:tav tm="0">
                                          <p:val>
                                            <p:fltVal val="0"/>
                                          </p:val>
                                        </p:tav>
                                        <p:tav tm="100000">
                                          <p:val>
                                            <p:strVal val="#ppt_h"/>
                                          </p:val>
                                        </p:tav>
                                      </p:tavLst>
                                    </p:anim>
                                    <p:animEffect transition="in" filter="fade">
                                      <p:cBhvr>
                                        <p:cTn id="77" dur="500"/>
                                        <p:tgtEl>
                                          <p:spTgt spid="55"/>
                                        </p:tgtEl>
                                      </p:cBhvr>
                                    </p:animEffect>
                                  </p:childTnLst>
                                </p:cTn>
                              </p:par>
                              <p:par>
                                <p:cTn id="78" presetID="6" presetClass="emph" presetSubtype="0" fill="hold" grpId="1" nodeType="withEffect">
                                  <p:stCondLst>
                                    <p:cond delay="2500"/>
                                  </p:stCondLst>
                                  <p:childTnLst>
                                    <p:animScale>
                                      <p:cBhvr>
                                        <p:cTn id="79" dur="750" fill="hold"/>
                                        <p:tgtEl>
                                          <p:spTgt spid="55"/>
                                        </p:tgtEl>
                                      </p:cBhvr>
                                      <p:by x="150000" y="150000"/>
                                    </p:animScale>
                                  </p:childTnLst>
                                </p:cTn>
                              </p:par>
                              <p:par>
                                <p:cTn id="80" presetID="10" presetClass="exit" presetSubtype="0" fill="hold" grpId="2" nodeType="withEffect">
                                  <p:stCondLst>
                                    <p:cond delay="2500"/>
                                  </p:stCondLst>
                                  <p:childTnLst>
                                    <p:animEffect transition="out" filter="fade">
                                      <p:cBhvr>
                                        <p:cTn id="81" dur="750"/>
                                        <p:tgtEl>
                                          <p:spTgt spid="55"/>
                                        </p:tgtEl>
                                      </p:cBhvr>
                                    </p:animEffect>
                                    <p:set>
                                      <p:cBhvr>
                                        <p:cTn id="82" dur="1" fill="hold">
                                          <p:stCondLst>
                                            <p:cond delay="749"/>
                                          </p:stCondLst>
                                        </p:cTn>
                                        <p:tgtEl>
                                          <p:spTgt spid="55"/>
                                        </p:tgtEl>
                                        <p:attrNameLst>
                                          <p:attrName>style.visibility</p:attrName>
                                        </p:attrNameLst>
                                      </p:cBhvr>
                                      <p:to>
                                        <p:strVal val="hidden"/>
                                      </p:to>
                                    </p:set>
                                  </p:childTnLst>
                                </p:cTn>
                              </p:par>
                              <p:par>
                                <p:cTn id="83" presetID="18" presetClass="entr" presetSubtype="3" fill="hold" grpId="0" nodeType="withEffect">
                                  <p:stCondLst>
                                    <p:cond delay="3000"/>
                                  </p:stCondLst>
                                  <p:childTnLst>
                                    <p:set>
                                      <p:cBhvr>
                                        <p:cTn id="84" dur="1" fill="hold">
                                          <p:stCondLst>
                                            <p:cond delay="0"/>
                                          </p:stCondLst>
                                        </p:cTn>
                                        <p:tgtEl>
                                          <p:spTgt spid="6">
                                            <p:graphicEl>
                                              <a:chart seriesIdx="-4" categoryIdx="3" bldStep="category"/>
                                            </p:graphicEl>
                                          </p:spTgt>
                                        </p:tgtEl>
                                        <p:attrNameLst>
                                          <p:attrName>style.visibility</p:attrName>
                                        </p:attrNameLst>
                                      </p:cBhvr>
                                      <p:to>
                                        <p:strVal val="visible"/>
                                      </p:to>
                                    </p:set>
                                    <p:animEffect transition="in" filter="strips(upRight)">
                                      <p:cBhvr>
                                        <p:cTn id="85" dur="500"/>
                                        <p:tgtEl>
                                          <p:spTgt spid="6">
                                            <p:graphicEl>
                                              <a:chart seriesIdx="-4" categoryIdx="3" bldStep="category"/>
                                            </p:graphicEl>
                                          </p:spTgt>
                                        </p:tgtEl>
                                      </p:cBhvr>
                                    </p:animEffect>
                                  </p:childTnLst>
                                </p:cTn>
                              </p:par>
                              <p:par>
                                <p:cTn id="86" presetID="53" presetClass="entr" presetSubtype="16" fill="hold" grpId="0" nodeType="withEffect">
                                  <p:stCondLst>
                                    <p:cond delay="3000"/>
                                  </p:stCondLst>
                                  <p:childTnLst>
                                    <p:set>
                                      <p:cBhvr>
                                        <p:cTn id="87" dur="1" fill="hold">
                                          <p:stCondLst>
                                            <p:cond delay="0"/>
                                          </p:stCondLst>
                                        </p:cTn>
                                        <p:tgtEl>
                                          <p:spTgt spid="42"/>
                                        </p:tgtEl>
                                        <p:attrNameLst>
                                          <p:attrName>style.visibility</p:attrName>
                                        </p:attrNameLst>
                                      </p:cBhvr>
                                      <p:to>
                                        <p:strVal val="visible"/>
                                      </p:to>
                                    </p:set>
                                    <p:anim calcmode="lin" valueType="num">
                                      <p:cBhvr>
                                        <p:cTn id="88" dur="500" fill="hold"/>
                                        <p:tgtEl>
                                          <p:spTgt spid="42"/>
                                        </p:tgtEl>
                                        <p:attrNameLst>
                                          <p:attrName>ppt_w</p:attrName>
                                        </p:attrNameLst>
                                      </p:cBhvr>
                                      <p:tavLst>
                                        <p:tav tm="0">
                                          <p:val>
                                            <p:fltVal val="0"/>
                                          </p:val>
                                        </p:tav>
                                        <p:tav tm="100000">
                                          <p:val>
                                            <p:strVal val="#ppt_w"/>
                                          </p:val>
                                        </p:tav>
                                      </p:tavLst>
                                    </p:anim>
                                    <p:anim calcmode="lin" valueType="num">
                                      <p:cBhvr>
                                        <p:cTn id="89" dur="500" fill="hold"/>
                                        <p:tgtEl>
                                          <p:spTgt spid="42"/>
                                        </p:tgtEl>
                                        <p:attrNameLst>
                                          <p:attrName>ppt_h</p:attrName>
                                        </p:attrNameLst>
                                      </p:cBhvr>
                                      <p:tavLst>
                                        <p:tav tm="0">
                                          <p:val>
                                            <p:fltVal val="0"/>
                                          </p:val>
                                        </p:tav>
                                        <p:tav tm="100000">
                                          <p:val>
                                            <p:strVal val="#ppt_h"/>
                                          </p:val>
                                        </p:tav>
                                      </p:tavLst>
                                    </p:anim>
                                    <p:animEffect transition="in" filter="fade">
                                      <p:cBhvr>
                                        <p:cTn id="90" dur="500"/>
                                        <p:tgtEl>
                                          <p:spTgt spid="42"/>
                                        </p:tgtEl>
                                      </p:cBhvr>
                                    </p:animEffect>
                                  </p:childTnLst>
                                </p:cTn>
                              </p:par>
                              <p:par>
                                <p:cTn id="91" presetID="6" presetClass="emph" presetSubtype="0" fill="hold" grpId="1" nodeType="withEffect">
                                  <p:stCondLst>
                                    <p:cond delay="3000"/>
                                  </p:stCondLst>
                                  <p:childTnLst>
                                    <p:animScale>
                                      <p:cBhvr>
                                        <p:cTn id="92" dur="750" fill="hold"/>
                                        <p:tgtEl>
                                          <p:spTgt spid="42"/>
                                        </p:tgtEl>
                                      </p:cBhvr>
                                      <p:by x="150000" y="150000"/>
                                    </p:animScale>
                                  </p:childTnLst>
                                </p:cTn>
                              </p:par>
                              <p:par>
                                <p:cTn id="93" presetID="10" presetClass="exit" presetSubtype="0" fill="hold" grpId="2" nodeType="withEffect">
                                  <p:stCondLst>
                                    <p:cond delay="3000"/>
                                  </p:stCondLst>
                                  <p:childTnLst>
                                    <p:animEffect transition="out" filter="fade">
                                      <p:cBhvr>
                                        <p:cTn id="94" dur="700"/>
                                        <p:tgtEl>
                                          <p:spTgt spid="42"/>
                                        </p:tgtEl>
                                      </p:cBhvr>
                                    </p:animEffect>
                                    <p:set>
                                      <p:cBhvr>
                                        <p:cTn id="95" dur="1" fill="hold">
                                          <p:stCondLst>
                                            <p:cond delay="699"/>
                                          </p:stCondLst>
                                        </p:cTn>
                                        <p:tgtEl>
                                          <p:spTgt spid="42"/>
                                        </p:tgtEl>
                                        <p:attrNameLst>
                                          <p:attrName>style.visibility</p:attrName>
                                        </p:attrNameLst>
                                      </p:cBhvr>
                                      <p:to>
                                        <p:strVal val="hidden"/>
                                      </p:to>
                                    </p:set>
                                  </p:childTnLst>
                                </p:cTn>
                              </p:par>
                              <p:par>
                                <p:cTn id="96" presetID="53" presetClass="entr" presetSubtype="16" fill="hold" grpId="0" nodeType="withEffect">
                                  <p:stCondLst>
                                    <p:cond delay="3000"/>
                                  </p:stCondLst>
                                  <p:childTnLst>
                                    <p:set>
                                      <p:cBhvr>
                                        <p:cTn id="97" dur="1" fill="hold">
                                          <p:stCondLst>
                                            <p:cond delay="0"/>
                                          </p:stCondLst>
                                        </p:cTn>
                                        <p:tgtEl>
                                          <p:spTgt spid="56"/>
                                        </p:tgtEl>
                                        <p:attrNameLst>
                                          <p:attrName>style.visibility</p:attrName>
                                        </p:attrNameLst>
                                      </p:cBhvr>
                                      <p:to>
                                        <p:strVal val="visible"/>
                                      </p:to>
                                    </p:set>
                                    <p:anim calcmode="lin" valueType="num">
                                      <p:cBhvr>
                                        <p:cTn id="98" dur="500" fill="hold"/>
                                        <p:tgtEl>
                                          <p:spTgt spid="56"/>
                                        </p:tgtEl>
                                        <p:attrNameLst>
                                          <p:attrName>ppt_w</p:attrName>
                                        </p:attrNameLst>
                                      </p:cBhvr>
                                      <p:tavLst>
                                        <p:tav tm="0">
                                          <p:val>
                                            <p:fltVal val="0"/>
                                          </p:val>
                                        </p:tav>
                                        <p:tav tm="100000">
                                          <p:val>
                                            <p:strVal val="#ppt_w"/>
                                          </p:val>
                                        </p:tav>
                                      </p:tavLst>
                                    </p:anim>
                                    <p:anim calcmode="lin" valueType="num">
                                      <p:cBhvr>
                                        <p:cTn id="99" dur="500" fill="hold"/>
                                        <p:tgtEl>
                                          <p:spTgt spid="56"/>
                                        </p:tgtEl>
                                        <p:attrNameLst>
                                          <p:attrName>ppt_h</p:attrName>
                                        </p:attrNameLst>
                                      </p:cBhvr>
                                      <p:tavLst>
                                        <p:tav tm="0">
                                          <p:val>
                                            <p:fltVal val="0"/>
                                          </p:val>
                                        </p:tav>
                                        <p:tav tm="100000">
                                          <p:val>
                                            <p:strVal val="#ppt_h"/>
                                          </p:val>
                                        </p:tav>
                                      </p:tavLst>
                                    </p:anim>
                                    <p:animEffect transition="in" filter="fade">
                                      <p:cBhvr>
                                        <p:cTn id="100" dur="500"/>
                                        <p:tgtEl>
                                          <p:spTgt spid="56"/>
                                        </p:tgtEl>
                                      </p:cBhvr>
                                    </p:animEffect>
                                  </p:childTnLst>
                                </p:cTn>
                              </p:par>
                              <p:par>
                                <p:cTn id="101" presetID="6" presetClass="emph" presetSubtype="0" fill="hold" grpId="1" nodeType="withEffect">
                                  <p:stCondLst>
                                    <p:cond delay="3000"/>
                                  </p:stCondLst>
                                  <p:childTnLst>
                                    <p:animScale>
                                      <p:cBhvr>
                                        <p:cTn id="102" dur="750" fill="hold"/>
                                        <p:tgtEl>
                                          <p:spTgt spid="56"/>
                                        </p:tgtEl>
                                      </p:cBhvr>
                                      <p:by x="150000" y="150000"/>
                                    </p:animScale>
                                  </p:childTnLst>
                                </p:cTn>
                              </p:par>
                              <p:par>
                                <p:cTn id="103" presetID="10" presetClass="exit" presetSubtype="0" fill="hold" grpId="2" nodeType="withEffect">
                                  <p:stCondLst>
                                    <p:cond delay="3000"/>
                                  </p:stCondLst>
                                  <p:childTnLst>
                                    <p:animEffect transition="out" filter="fade">
                                      <p:cBhvr>
                                        <p:cTn id="104" dur="750"/>
                                        <p:tgtEl>
                                          <p:spTgt spid="56"/>
                                        </p:tgtEl>
                                      </p:cBhvr>
                                    </p:animEffect>
                                    <p:set>
                                      <p:cBhvr>
                                        <p:cTn id="105" dur="1" fill="hold">
                                          <p:stCondLst>
                                            <p:cond delay="749"/>
                                          </p:stCondLst>
                                        </p:cTn>
                                        <p:tgtEl>
                                          <p:spTgt spid="56"/>
                                        </p:tgtEl>
                                        <p:attrNameLst>
                                          <p:attrName>style.visibility</p:attrName>
                                        </p:attrNameLst>
                                      </p:cBhvr>
                                      <p:to>
                                        <p:strVal val="hidden"/>
                                      </p:to>
                                    </p:set>
                                  </p:childTnLst>
                                </p:cTn>
                              </p:par>
                              <p:par>
                                <p:cTn id="106" presetID="18" presetClass="entr" presetSubtype="3" fill="hold" grpId="0" nodeType="withEffect">
                                  <p:stCondLst>
                                    <p:cond delay="3500"/>
                                  </p:stCondLst>
                                  <p:childTnLst>
                                    <p:set>
                                      <p:cBhvr>
                                        <p:cTn id="107" dur="1" fill="hold">
                                          <p:stCondLst>
                                            <p:cond delay="0"/>
                                          </p:stCondLst>
                                        </p:cTn>
                                        <p:tgtEl>
                                          <p:spTgt spid="6">
                                            <p:graphicEl>
                                              <a:chart seriesIdx="-4" categoryIdx="4" bldStep="category"/>
                                            </p:graphicEl>
                                          </p:spTgt>
                                        </p:tgtEl>
                                        <p:attrNameLst>
                                          <p:attrName>style.visibility</p:attrName>
                                        </p:attrNameLst>
                                      </p:cBhvr>
                                      <p:to>
                                        <p:strVal val="visible"/>
                                      </p:to>
                                    </p:set>
                                    <p:animEffect transition="in" filter="strips(upRight)">
                                      <p:cBhvr>
                                        <p:cTn id="108" dur="500"/>
                                        <p:tgtEl>
                                          <p:spTgt spid="6">
                                            <p:graphicEl>
                                              <a:chart seriesIdx="-4" categoryIdx="4" bldStep="category"/>
                                            </p:graphicEl>
                                          </p:spTgt>
                                        </p:tgtEl>
                                      </p:cBhvr>
                                    </p:animEffect>
                                  </p:childTnLst>
                                </p:cTn>
                              </p:par>
                              <p:par>
                                <p:cTn id="109" presetID="53" presetClass="entr" presetSubtype="16" fill="hold" grpId="0" nodeType="withEffect">
                                  <p:stCondLst>
                                    <p:cond delay="3500"/>
                                  </p:stCondLst>
                                  <p:childTnLst>
                                    <p:set>
                                      <p:cBhvr>
                                        <p:cTn id="110" dur="1" fill="hold">
                                          <p:stCondLst>
                                            <p:cond delay="0"/>
                                          </p:stCondLst>
                                        </p:cTn>
                                        <p:tgtEl>
                                          <p:spTgt spid="43"/>
                                        </p:tgtEl>
                                        <p:attrNameLst>
                                          <p:attrName>style.visibility</p:attrName>
                                        </p:attrNameLst>
                                      </p:cBhvr>
                                      <p:to>
                                        <p:strVal val="visible"/>
                                      </p:to>
                                    </p:set>
                                    <p:anim calcmode="lin" valueType="num">
                                      <p:cBhvr>
                                        <p:cTn id="111" dur="500" fill="hold"/>
                                        <p:tgtEl>
                                          <p:spTgt spid="43"/>
                                        </p:tgtEl>
                                        <p:attrNameLst>
                                          <p:attrName>ppt_w</p:attrName>
                                        </p:attrNameLst>
                                      </p:cBhvr>
                                      <p:tavLst>
                                        <p:tav tm="0">
                                          <p:val>
                                            <p:fltVal val="0"/>
                                          </p:val>
                                        </p:tav>
                                        <p:tav tm="100000">
                                          <p:val>
                                            <p:strVal val="#ppt_w"/>
                                          </p:val>
                                        </p:tav>
                                      </p:tavLst>
                                    </p:anim>
                                    <p:anim calcmode="lin" valueType="num">
                                      <p:cBhvr>
                                        <p:cTn id="112" dur="500" fill="hold"/>
                                        <p:tgtEl>
                                          <p:spTgt spid="43"/>
                                        </p:tgtEl>
                                        <p:attrNameLst>
                                          <p:attrName>ppt_h</p:attrName>
                                        </p:attrNameLst>
                                      </p:cBhvr>
                                      <p:tavLst>
                                        <p:tav tm="0">
                                          <p:val>
                                            <p:fltVal val="0"/>
                                          </p:val>
                                        </p:tav>
                                        <p:tav tm="100000">
                                          <p:val>
                                            <p:strVal val="#ppt_h"/>
                                          </p:val>
                                        </p:tav>
                                      </p:tavLst>
                                    </p:anim>
                                    <p:animEffect transition="in" filter="fade">
                                      <p:cBhvr>
                                        <p:cTn id="113" dur="500"/>
                                        <p:tgtEl>
                                          <p:spTgt spid="43"/>
                                        </p:tgtEl>
                                      </p:cBhvr>
                                    </p:animEffect>
                                  </p:childTnLst>
                                </p:cTn>
                              </p:par>
                              <p:par>
                                <p:cTn id="114" presetID="6" presetClass="emph" presetSubtype="0" fill="hold" grpId="1" nodeType="withEffect">
                                  <p:stCondLst>
                                    <p:cond delay="3500"/>
                                  </p:stCondLst>
                                  <p:childTnLst>
                                    <p:animScale>
                                      <p:cBhvr>
                                        <p:cTn id="115" dur="750" fill="hold"/>
                                        <p:tgtEl>
                                          <p:spTgt spid="43"/>
                                        </p:tgtEl>
                                      </p:cBhvr>
                                      <p:by x="150000" y="150000"/>
                                    </p:animScale>
                                  </p:childTnLst>
                                </p:cTn>
                              </p:par>
                              <p:par>
                                <p:cTn id="116" presetID="10" presetClass="exit" presetSubtype="0" fill="hold" grpId="2" nodeType="withEffect">
                                  <p:stCondLst>
                                    <p:cond delay="3500"/>
                                  </p:stCondLst>
                                  <p:childTnLst>
                                    <p:animEffect transition="out" filter="fade">
                                      <p:cBhvr>
                                        <p:cTn id="117" dur="750"/>
                                        <p:tgtEl>
                                          <p:spTgt spid="43"/>
                                        </p:tgtEl>
                                      </p:cBhvr>
                                    </p:animEffect>
                                    <p:set>
                                      <p:cBhvr>
                                        <p:cTn id="118" dur="1" fill="hold">
                                          <p:stCondLst>
                                            <p:cond delay="749"/>
                                          </p:stCondLst>
                                        </p:cTn>
                                        <p:tgtEl>
                                          <p:spTgt spid="43"/>
                                        </p:tgtEl>
                                        <p:attrNameLst>
                                          <p:attrName>style.visibility</p:attrName>
                                        </p:attrNameLst>
                                      </p:cBhvr>
                                      <p:to>
                                        <p:strVal val="hidden"/>
                                      </p:to>
                                    </p:set>
                                  </p:childTnLst>
                                </p:cTn>
                              </p:par>
                              <p:par>
                                <p:cTn id="119" presetID="53" presetClass="entr" presetSubtype="16" fill="hold" grpId="0" nodeType="withEffect">
                                  <p:stCondLst>
                                    <p:cond delay="3500"/>
                                  </p:stCondLst>
                                  <p:childTnLst>
                                    <p:set>
                                      <p:cBhvr>
                                        <p:cTn id="120" dur="1" fill="hold">
                                          <p:stCondLst>
                                            <p:cond delay="0"/>
                                          </p:stCondLst>
                                        </p:cTn>
                                        <p:tgtEl>
                                          <p:spTgt spid="59"/>
                                        </p:tgtEl>
                                        <p:attrNameLst>
                                          <p:attrName>style.visibility</p:attrName>
                                        </p:attrNameLst>
                                      </p:cBhvr>
                                      <p:to>
                                        <p:strVal val="visible"/>
                                      </p:to>
                                    </p:set>
                                    <p:anim calcmode="lin" valueType="num">
                                      <p:cBhvr>
                                        <p:cTn id="121" dur="500" fill="hold"/>
                                        <p:tgtEl>
                                          <p:spTgt spid="59"/>
                                        </p:tgtEl>
                                        <p:attrNameLst>
                                          <p:attrName>ppt_w</p:attrName>
                                        </p:attrNameLst>
                                      </p:cBhvr>
                                      <p:tavLst>
                                        <p:tav tm="0">
                                          <p:val>
                                            <p:fltVal val="0"/>
                                          </p:val>
                                        </p:tav>
                                        <p:tav tm="100000">
                                          <p:val>
                                            <p:strVal val="#ppt_w"/>
                                          </p:val>
                                        </p:tav>
                                      </p:tavLst>
                                    </p:anim>
                                    <p:anim calcmode="lin" valueType="num">
                                      <p:cBhvr>
                                        <p:cTn id="122" dur="500" fill="hold"/>
                                        <p:tgtEl>
                                          <p:spTgt spid="59"/>
                                        </p:tgtEl>
                                        <p:attrNameLst>
                                          <p:attrName>ppt_h</p:attrName>
                                        </p:attrNameLst>
                                      </p:cBhvr>
                                      <p:tavLst>
                                        <p:tav tm="0">
                                          <p:val>
                                            <p:fltVal val="0"/>
                                          </p:val>
                                        </p:tav>
                                        <p:tav tm="100000">
                                          <p:val>
                                            <p:strVal val="#ppt_h"/>
                                          </p:val>
                                        </p:tav>
                                      </p:tavLst>
                                    </p:anim>
                                    <p:animEffect transition="in" filter="fade">
                                      <p:cBhvr>
                                        <p:cTn id="123" dur="500"/>
                                        <p:tgtEl>
                                          <p:spTgt spid="59"/>
                                        </p:tgtEl>
                                      </p:cBhvr>
                                    </p:animEffect>
                                  </p:childTnLst>
                                </p:cTn>
                              </p:par>
                              <p:par>
                                <p:cTn id="124" presetID="6" presetClass="emph" presetSubtype="0" fill="hold" grpId="1" nodeType="withEffect">
                                  <p:stCondLst>
                                    <p:cond delay="3500"/>
                                  </p:stCondLst>
                                  <p:childTnLst>
                                    <p:animScale>
                                      <p:cBhvr>
                                        <p:cTn id="125" dur="750" fill="hold"/>
                                        <p:tgtEl>
                                          <p:spTgt spid="59"/>
                                        </p:tgtEl>
                                      </p:cBhvr>
                                      <p:by x="150000" y="150000"/>
                                    </p:animScale>
                                  </p:childTnLst>
                                </p:cTn>
                              </p:par>
                              <p:par>
                                <p:cTn id="126" presetID="10" presetClass="exit" presetSubtype="0" fill="hold" grpId="2" nodeType="withEffect">
                                  <p:stCondLst>
                                    <p:cond delay="3500"/>
                                  </p:stCondLst>
                                  <p:childTnLst>
                                    <p:animEffect transition="out" filter="fade">
                                      <p:cBhvr>
                                        <p:cTn id="127" dur="750"/>
                                        <p:tgtEl>
                                          <p:spTgt spid="59"/>
                                        </p:tgtEl>
                                      </p:cBhvr>
                                    </p:animEffect>
                                    <p:set>
                                      <p:cBhvr>
                                        <p:cTn id="128" dur="1" fill="hold">
                                          <p:stCondLst>
                                            <p:cond delay="749"/>
                                          </p:stCondLst>
                                        </p:cTn>
                                        <p:tgtEl>
                                          <p:spTgt spid="59"/>
                                        </p:tgtEl>
                                        <p:attrNameLst>
                                          <p:attrName>style.visibility</p:attrName>
                                        </p:attrNameLst>
                                      </p:cBhvr>
                                      <p:to>
                                        <p:strVal val="hidden"/>
                                      </p:to>
                                    </p:set>
                                  </p:childTnLst>
                                </p:cTn>
                              </p:par>
                              <p:par>
                                <p:cTn id="129" presetID="18" presetClass="entr" presetSubtype="3" fill="hold" grpId="0" nodeType="withEffect">
                                  <p:stCondLst>
                                    <p:cond delay="4000"/>
                                  </p:stCondLst>
                                  <p:childTnLst>
                                    <p:set>
                                      <p:cBhvr>
                                        <p:cTn id="130" dur="1" fill="hold">
                                          <p:stCondLst>
                                            <p:cond delay="0"/>
                                          </p:stCondLst>
                                        </p:cTn>
                                        <p:tgtEl>
                                          <p:spTgt spid="6">
                                            <p:graphicEl>
                                              <a:chart seriesIdx="-4" categoryIdx="5" bldStep="category"/>
                                            </p:graphicEl>
                                          </p:spTgt>
                                        </p:tgtEl>
                                        <p:attrNameLst>
                                          <p:attrName>style.visibility</p:attrName>
                                        </p:attrNameLst>
                                      </p:cBhvr>
                                      <p:to>
                                        <p:strVal val="visible"/>
                                      </p:to>
                                    </p:set>
                                    <p:animEffect transition="in" filter="strips(upRight)">
                                      <p:cBhvr>
                                        <p:cTn id="131" dur="500"/>
                                        <p:tgtEl>
                                          <p:spTgt spid="6">
                                            <p:graphicEl>
                                              <a:chart seriesIdx="-4" categoryIdx="5" bldStep="category"/>
                                            </p:graphicEl>
                                          </p:spTgt>
                                        </p:tgtEl>
                                      </p:cBhvr>
                                    </p:animEffect>
                                  </p:childTnLst>
                                </p:cTn>
                              </p:par>
                              <p:par>
                                <p:cTn id="132" presetID="53" presetClass="entr" presetSubtype="16" fill="hold" grpId="0" nodeType="withEffect">
                                  <p:stCondLst>
                                    <p:cond delay="4000"/>
                                  </p:stCondLst>
                                  <p:childTnLst>
                                    <p:set>
                                      <p:cBhvr>
                                        <p:cTn id="133" dur="1" fill="hold">
                                          <p:stCondLst>
                                            <p:cond delay="0"/>
                                          </p:stCondLst>
                                        </p:cTn>
                                        <p:tgtEl>
                                          <p:spTgt spid="44"/>
                                        </p:tgtEl>
                                        <p:attrNameLst>
                                          <p:attrName>style.visibility</p:attrName>
                                        </p:attrNameLst>
                                      </p:cBhvr>
                                      <p:to>
                                        <p:strVal val="visible"/>
                                      </p:to>
                                    </p:set>
                                    <p:anim calcmode="lin" valueType="num">
                                      <p:cBhvr>
                                        <p:cTn id="134" dur="500" fill="hold"/>
                                        <p:tgtEl>
                                          <p:spTgt spid="44"/>
                                        </p:tgtEl>
                                        <p:attrNameLst>
                                          <p:attrName>ppt_w</p:attrName>
                                        </p:attrNameLst>
                                      </p:cBhvr>
                                      <p:tavLst>
                                        <p:tav tm="0">
                                          <p:val>
                                            <p:fltVal val="0"/>
                                          </p:val>
                                        </p:tav>
                                        <p:tav tm="100000">
                                          <p:val>
                                            <p:strVal val="#ppt_w"/>
                                          </p:val>
                                        </p:tav>
                                      </p:tavLst>
                                    </p:anim>
                                    <p:anim calcmode="lin" valueType="num">
                                      <p:cBhvr>
                                        <p:cTn id="135" dur="500" fill="hold"/>
                                        <p:tgtEl>
                                          <p:spTgt spid="44"/>
                                        </p:tgtEl>
                                        <p:attrNameLst>
                                          <p:attrName>ppt_h</p:attrName>
                                        </p:attrNameLst>
                                      </p:cBhvr>
                                      <p:tavLst>
                                        <p:tav tm="0">
                                          <p:val>
                                            <p:fltVal val="0"/>
                                          </p:val>
                                        </p:tav>
                                        <p:tav tm="100000">
                                          <p:val>
                                            <p:strVal val="#ppt_h"/>
                                          </p:val>
                                        </p:tav>
                                      </p:tavLst>
                                    </p:anim>
                                    <p:animEffect transition="in" filter="fade">
                                      <p:cBhvr>
                                        <p:cTn id="136" dur="500"/>
                                        <p:tgtEl>
                                          <p:spTgt spid="44"/>
                                        </p:tgtEl>
                                      </p:cBhvr>
                                    </p:animEffect>
                                  </p:childTnLst>
                                </p:cTn>
                              </p:par>
                              <p:par>
                                <p:cTn id="137" presetID="6" presetClass="emph" presetSubtype="0" fill="hold" grpId="1" nodeType="withEffect">
                                  <p:stCondLst>
                                    <p:cond delay="4000"/>
                                  </p:stCondLst>
                                  <p:childTnLst>
                                    <p:animScale>
                                      <p:cBhvr>
                                        <p:cTn id="138" dur="750" fill="hold"/>
                                        <p:tgtEl>
                                          <p:spTgt spid="44"/>
                                        </p:tgtEl>
                                      </p:cBhvr>
                                      <p:by x="150000" y="150000"/>
                                    </p:animScale>
                                  </p:childTnLst>
                                </p:cTn>
                              </p:par>
                              <p:par>
                                <p:cTn id="139" presetID="10" presetClass="exit" presetSubtype="0" fill="hold" grpId="2" nodeType="withEffect">
                                  <p:stCondLst>
                                    <p:cond delay="4000"/>
                                  </p:stCondLst>
                                  <p:childTnLst>
                                    <p:animEffect transition="out" filter="fade">
                                      <p:cBhvr>
                                        <p:cTn id="140" dur="750"/>
                                        <p:tgtEl>
                                          <p:spTgt spid="44"/>
                                        </p:tgtEl>
                                      </p:cBhvr>
                                    </p:animEffect>
                                    <p:set>
                                      <p:cBhvr>
                                        <p:cTn id="141" dur="1" fill="hold">
                                          <p:stCondLst>
                                            <p:cond delay="749"/>
                                          </p:stCondLst>
                                        </p:cTn>
                                        <p:tgtEl>
                                          <p:spTgt spid="44"/>
                                        </p:tgtEl>
                                        <p:attrNameLst>
                                          <p:attrName>style.visibility</p:attrName>
                                        </p:attrNameLst>
                                      </p:cBhvr>
                                      <p:to>
                                        <p:strVal val="hidden"/>
                                      </p:to>
                                    </p:set>
                                  </p:childTnLst>
                                </p:cTn>
                              </p:par>
                              <p:par>
                                <p:cTn id="142" presetID="53" presetClass="entr" presetSubtype="16" fill="hold" grpId="0" nodeType="withEffect">
                                  <p:stCondLst>
                                    <p:cond delay="4000"/>
                                  </p:stCondLst>
                                  <p:childTnLst>
                                    <p:set>
                                      <p:cBhvr>
                                        <p:cTn id="143" dur="1" fill="hold">
                                          <p:stCondLst>
                                            <p:cond delay="0"/>
                                          </p:stCondLst>
                                        </p:cTn>
                                        <p:tgtEl>
                                          <p:spTgt spid="60"/>
                                        </p:tgtEl>
                                        <p:attrNameLst>
                                          <p:attrName>style.visibility</p:attrName>
                                        </p:attrNameLst>
                                      </p:cBhvr>
                                      <p:to>
                                        <p:strVal val="visible"/>
                                      </p:to>
                                    </p:set>
                                    <p:anim calcmode="lin" valueType="num">
                                      <p:cBhvr>
                                        <p:cTn id="144" dur="500" fill="hold"/>
                                        <p:tgtEl>
                                          <p:spTgt spid="60"/>
                                        </p:tgtEl>
                                        <p:attrNameLst>
                                          <p:attrName>ppt_w</p:attrName>
                                        </p:attrNameLst>
                                      </p:cBhvr>
                                      <p:tavLst>
                                        <p:tav tm="0">
                                          <p:val>
                                            <p:fltVal val="0"/>
                                          </p:val>
                                        </p:tav>
                                        <p:tav tm="100000">
                                          <p:val>
                                            <p:strVal val="#ppt_w"/>
                                          </p:val>
                                        </p:tav>
                                      </p:tavLst>
                                    </p:anim>
                                    <p:anim calcmode="lin" valueType="num">
                                      <p:cBhvr>
                                        <p:cTn id="145" dur="500" fill="hold"/>
                                        <p:tgtEl>
                                          <p:spTgt spid="60"/>
                                        </p:tgtEl>
                                        <p:attrNameLst>
                                          <p:attrName>ppt_h</p:attrName>
                                        </p:attrNameLst>
                                      </p:cBhvr>
                                      <p:tavLst>
                                        <p:tav tm="0">
                                          <p:val>
                                            <p:fltVal val="0"/>
                                          </p:val>
                                        </p:tav>
                                        <p:tav tm="100000">
                                          <p:val>
                                            <p:strVal val="#ppt_h"/>
                                          </p:val>
                                        </p:tav>
                                      </p:tavLst>
                                    </p:anim>
                                    <p:animEffect transition="in" filter="fade">
                                      <p:cBhvr>
                                        <p:cTn id="146" dur="500"/>
                                        <p:tgtEl>
                                          <p:spTgt spid="60"/>
                                        </p:tgtEl>
                                      </p:cBhvr>
                                    </p:animEffect>
                                  </p:childTnLst>
                                </p:cTn>
                              </p:par>
                              <p:par>
                                <p:cTn id="147" presetID="6" presetClass="emph" presetSubtype="0" fill="hold" grpId="1" nodeType="withEffect">
                                  <p:stCondLst>
                                    <p:cond delay="4000"/>
                                  </p:stCondLst>
                                  <p:childTnLst>
                                    <p:animScale>
                                      <p:cBhvr>
                                        <p:cTn id="148" dur="750" fill="hold"/>
                                        <p:tgtEl>
                                          <p:spTgt spid="60"/>
                                        </p:tgtEl>
                                      </p:cBhvr>
                                      <p:by x="150000" y="150000"/>
                                    </p:animScale>
                                  </p:childTnLst>
                                </p:cTn>
                              </p:par>
                              <p:par>
                                <p:cTn id="149" presetID="10" presetClass="exit" presetSubtype="0" fill="hold" grpId="2" nodeType="withEffect">
                                  <p:stCondLst>
                                    <p:cond delay="4000"/>
                                  </p:stCondLst>
                                  <p:childTnLst>
                                    <p:animEffect transition="out" filter="fade">
                                      <p:cBhvr>
                                        <p:cTn id="150" dur="750"/>
                                        <p:tgtEl>
                                          <p:spTgt spid="60"/>
                                        </p:tgtEl>
                                      </p:cBhvr>
                                    </p:animEffect>
                                    <p:set>
                                      <p:cBhvr>
                                        <p:cTn id="151" dur="1" fill="hold">
                                          <p:stCondLst>
                                            <p:cond delay="749"/>
                                          </p:stCondLst>
                                        </p:cTn>
                                        <p:tgtEl>
                                          <p:spTgt spid="60"/>
                                        </p:tgtEl>
                                        <p:attrNameLst>
                                          <p:attrName>style.visibility</p:attrName>
                                        </p:attrNameLst>
                                      </p:cBhvr>
                                      <p:to>
                                        <p:strVal val="hidden"/>
                                      </p:to>
                                    </p:set>
                                  </p:childTnLst>
                                </p:cTn>
                              </p:par>
                              <p:par>
                                <p:cTn id="152" presetID="18" presetClass="entr" presetSubtype="3" fill="hold" grpId="0" nodeType="withEffect">
                                  <p:stCondLst>
                                    <p:cond delay="4500"/>
                                  </p:stCondLst>
                                  <p:childTnLst>
                                    <p:set>
                                      <p:cBhvr>
                                        <p:cTn id="153" dur="1" fill="hold">
                                          <p:stCondLst>
                                            <p:cond delay="0"/>
                                          </p:stCondLst>
                                        </p:cTn>
                                        <p:tgtEl>
                                          <p:spTgt spid="6">
                                            <p:graphicEl>
                                              <a:chart seriesIdx="-4" categoryIdx="6" bldStep="category"/>
                                            </p:graphicEl>
                                          </p:spTgt>
                                        </p:tgtEl>
                                        <p:attrNameLst>
                                          <p:attrName>style.visibility</p:attrName>
                                        </p:attrNameLst>
                                      </p:cBhvr>
                                      <p:to>
                                        <p:strVal val="visible"/>
                                      </p:to>
                                    </p:set>
                                    <p:animEffect transition="in" filter="strips(upRight)">
                                      <p:cBhvr>
                                        <p:cTn id="154" dur="500"/>
                                        <p:tgtEl>
                                          <p:spTgt spid="6">
                                            <p:graphicEl>
                                              <a:chart seriesIdx="-4" categoryIdx="6" bldStep="category"/>
                                            </p:graphicEl>
                                          </p:spTgt>
                                        </p:tgtEl>
                                      </p:cBhvr>
                                    </p:animEffect>
                                  </p:childTnLst>
                                </p:cTn>
                              </p:par>
                              <p:par>
                                <p:cTn id="155" presetID="53" presetClass="entr" presetSubtype="16" fill="hold" grpId="0" nodeType="withEffect">
                                  <p:stCondLst>
                                    <p:cond delay="4500"/>
                                  </p:stCondLst>
                                  <p:childTnLst>
                                    <p:set>
                                      <p:cBhvr>
                                        <p:cTn id="156" dur="1" fill="hold">
                                          <p:stCondLst>
                                            <p:cond delay="0"/>
                                          </p:stCondLst>
                                        </p:cTn>
                                        <p:tgtEl>
                                          <p:spTgt spid="47"/>
                                        </p:tgtEl>
                                        <p:attrNameLst>
                                          <p:attrName>style.visibility</p:attrName>
                                        </p:attrNameLst>
                                      </p:cBhvr>
                                      <p:to>
                                        <p:strVal val="visible"/>
                                      </p:to>
                                    </p:set>
                                    <p:anim calcmode="lin" valueType="num">
                                      <p:cBhvr>
                                        <p:cTn id="157" dur="500" fill="hold"/>
                                        <p:tgtEl>
                                          <p:spTgt spid="47"/>
                                        </p:tgtEl>
                                        <p:attrNameLst>
                                          <p:attrName>ppt_w</p:attrName>
                                        </p:attrNameLst>
                                      </p:cBhvr>
                                      <p:tavLst>
                                        <p:tav tm="0">
                                          <p:val>
                                            <p:fltVal val="0"/>
                                          </p:val>
                                        </p:tav>
                                        <p:tav tm="100000">
                                          <p:val>
                                            <p:strVal val="#ppt_w"/>
                                          </p:val>
                                        </p:tav>
                                      </p:tavLst>
                                    </p:anim>
                                    <p:anim calcmode="lin" valueType="num">
                                      <p:cBhvr>
                                        <p:cTn id="158" dur="500" fill="hold"/>
                                        <p:tgtEl>
                                          <p:spTgt spid="47"/>
                                        </p:tgtEl>
                                        <p:attrNameLst>
                                          <p:attrName>ppt_h</p:attrName>
                                        </p:attrNameLst>
                                      </p:cBhvr>
                                      <p:tavLst>
                                        <p:tav tm="0">
                                          <p:val>
                                            <p:fltVal val="0"/>
                                          </p:val>
                                        </p:tav>
                                        <p:tav tm="100000">
                                          <p:val>
                                            <p:strVal val="#ppt_h"/>
                                          </p:val>
                                        </p:tav>
                                      </p:tavLst>
                                    </p:anim>
                                    <p:animEffect transition="in" filter="fade">
                                      <p:cBhvr>
                                        <p:cTn id="159" dur="500"/>
                                        <p:tgtEl>
                                          <p:spTgt spid="47"/>
                                        </p:tgtEl>
                                      </p:cBhvr>
                                    </p:animEffect>
                                  </p:childTnLst>
                                </p:cTn>
                              </p:par>
                              <p:par>
                                <p:cTn id="160" presetID="6" presetClass="emph" presetSubtype="0" fill="hold" grpId="1" nodeType="withEffect">
                                  <p:stCondLst>
                                    <p:cond delay="4500"/>
                                  </p:stCondLst>
                                  <p:childTnLst>
                                    <p:animScale>
                                      <p:cBhvr>
                                        <p:cTn id="161" dur="750" fill="hold"/>
                                        <p:tgtEl>
                                          <p:spTgt spid="47"/>
                                        </p:tgtEl>
                                      </p:cBhvr>
                                      <p:by x="150000" y="150000"/>
                                    </p:animScale>
                                  </p:childTnLst>
                                </p:cTn>
                              </p:par>
                              <p:par>
                                <p:cTn id="162" presetID="10" presetClass="exit" presetSubtype="0" fill="hold" grpId="2" nodeType="withEffect">
                                  <p:stCondLst>
                                    <p:cond delay="4500"/>
                                  </p:stCondLst>
                                  <p:childTnLst>
                                    <p:animEffect transition="out" filter="fade">
                                      <p:cBhvr>
                                        <p:cTn id="163" dur="750"/>
                                        <p:tgtEl>
                                          <p:spTgt spid="47"/>
                                        </p:tgtEl>
                                      </p:cBhvr>
                                    </p:animEffect>
                                    <p:set>
                                      <p:cBhvr>
                                        <p:cTn id="164" dur="1" fill="hold">
                                          <p:stCondLst>
                                            <p:cond delay="749"/>
                                          </p:stCondLst>
                                        </p:cTn>
                                        <p:tgtEl>
                                          <p:spTgt spid="47"/>
                                        </p:tgtEl>
                                        <p:attrNameLst>
                                          <p:attrName>style.visibility</p:attrName>
                                        </p:attrNameLst>
                                      </p:cBhvr>
                                      <p:to>
                                        <p:strVal val="hidden"/>
                                      </p:to>
                                    </p:set>
                                  </p:childTnLst>
                                </p:cTn>
                              </p:par>
                              <p:par>
                                <p:cTn id="165" presetID="53" presetClass="entr" presetSubtype="16" fill="hold" grpId="0" nodeType="withEffect">
                                  <p:stCondLst>
                                    <p:cond delay="4500"/>
                                  </p:stCondLst>
                                  <p:childTnLst>
                                    <p:set>
                                      <p:cBhvr>
                                        <p:cTn id="166" dur="1" fill="hold">
                                          <p:stCondLst>
                                            <p:cond delay="0"/>
                                          </p:stCondLst>
                                        </p:cTn>
                                        <p:tgtEl>
                                          <p:spTgt spid="61"/>
                                        </p:tgtEl>
                                        <p:attrNameLst>
                                          <p:attrName>style.visibility</p:attrName>
                                        </p:attrNameLst>
                                      </p:cBhvr>
                                      <p:to>
                                        <p:strVal val="visible"/>
                                      </p:to>
                                    </p:set>
                                    <p:anim calcmode="lin" valueType="num">
                                      <p:cBhvr>
                                        <p:cTn id="167" dur="500" fill="hold"/>
                                        <p:tgtEl>
                                          <p:spTgt spid="61"/>
                                        </p:tgtEl>
                                        <p:attrNameLst>
                                          <p:attrName>ppt_w</p:attrName>
                                        </p:attrNameLst>
                                      </p:cBhvr>
                                      <p:tavLst>
                                        <p:tav tm="0">
                                          <p:val>
                                            <p:fltVal val="0"/>
                                          </p:val>
                                        </p:tav>
                                        <p:tav tm="100000">
                                          <p:val>
                                            <p:strVal val="#ppt_w"/>
                                          </p:val>
                                        </p:tav>
                                      </p:tavLst>
                                    </p:anim>
                                    <p:anim calcmode="lin" valueType="num">
                                      <p:cBhvr>
                                        <p:cTn id="168" dur="500" fill="hold"/>
                                        <p:tgtEl>
                                          <p:spTgt spid="61"/>
                                        </p:tgtEl>
                                        <p:attrNameLst>
                                          <p:attrName>ppt_h</p:attrName>
                                        </p:attrNameLst>
                                      </p:cBhvr>
                                      <p:tavLst>
                                        <p:tav tm="0">
                                          <p:val>
                                            <p:fltVal val="0"/>
                                          </p:val>
                                        </p:tav>
                                        <p:tav tm="100000">
                                          <p:val>
                                            <p:strVal val="#ppt_h"/>
                                          </p:val>
                                        </p:tav>
                                      </p:tavLst>
                                    </p:anim>
                                    <p:animEffect transition="in" filter="fade">
                                      <p:cBhvr>
                                        <p:cTn id="169" dur="500"/>
                                        <p:tgtEl>
                                          <p:spTgt spid="61"/>
                                        </p:tgtEl>
                                      </p:cBhvr>
                                    </p:animEffect>
                                  </p:childTnLst>
                                </p:cTn>
                              </p:par>
                              <p:par>
                                <p:cTn id="170" presetID="6" presetClass="emph" presetSubtype="0" fill="hold" grpId="1" nodeType="withEffect">
                                  <p:stCondLst>
                                    <p:cond delay="4500"/>
                                  </p:stCondLst>
                                  <p:childTnLst>
                                    <p:animScale>
                                      <p:cBhvr>
                                        <p:cTn id="171" dur="750" fill="hold"/>
                                        <p:tgtEl>
                                          <p:spTgt spid="61"/>
                                        </p:tgtEl>
                                      </p:cBhvr>
                                      <p:by x="150000" y="150000"/>
                                    </p:animScale>
                                  </p:childTnLst>
                                </p:cTn>
                              </p:par>
                              <p:par>
                                <p:cTn id="172" presetID="10" presetClass="exit" presetSubtype="0" fill="hold" grpId="2" nodeType="withEffect">
                                  <p:stCondLst>
                                    <p:cond delay="4500"/>
                                  </p:stCondLst>
                                  <p:childTnLst>
                                    <p:animEffect transition="out" filter="fade">
                                      <p:cBhvr>
                                        <p:cTn id="173" dur="750"/>
                                        <p:tgtEl>
                                          <p:spTgt spid="61"/>
                                        </p:tgtEl>
                                      </p:cBhvr>
                                    </p:animEffect>
                                    <p:set>
                                      <p:cBhvr>
                                        <p:cTn id="174" dur="1" fill="hold">
                                          <p:stCondLst>
                                            <p:cond delay="749"/>
                                          </p:stCondLst>
                                        </p:cTn>
                                        <p:tgtEl>
                                          <p:spTgt spid="61"/>
                                        </p:tgtEl>
                                        <p:attrNameLst>
                                          <p:attrName>style.visibility</p:attrName>
                                        </p:attrNameLst>
                                      </p:cBhvr>
                                      <p:to>
                                        <p:strVal val="hidden"/>
                                      </p:to>
                                    </p:set>
                                  </p:childTnLst>
                                </p:cTn>
                              </p:par>
                              <p:par>
                                <p:cTn id="175" presetID="18" presetClass="entr" presetSubtype="3" fill="hold" grpId="0" nodeType="withEffect">
                                  <p:stCondLst>
                                    <p:cond delay="5000"/>
                                  </p:stCondLst>
                                  <p:childTnLst>
                                    <p:set>
                                      <p:cBhvr>
                                        <p:cTn id="176" dur="1" fill="hold">
                                          <p:stCondLst>
                                            <p:cond delay="0"/>
                                          </p:stCondLst>
                                        </p:cTn>
                                        <p:tgtEl>
                                          <p:spTgt spid="6">
                                            <p:graphicEl>
                                              <a:chart seriesIdx="-4" categoryIdx="7" bldStep="category"/>
                                            </p:graphicEl>
                                          </p:spTgt>
                                        </p:tgtEl>
                                        <p:attrNameLst>
                                          <p:attrName>style.visibility</p:attrName>
                                        </p:attrNameLst>
                                      </p:cBhvr>
                                      <p:to>
                                        <p:strVal val="visible"/>
                                      </p:to>
                                    </p:set>
                                    <p:animEffect transition="in" filter="strips(upRight)">
                                      <p:cBhvr>
                                        <p:cTn id="177" dur="500"/>
                                        <p:tgtEl>
                                          <p:spTgt spid="6">
                                            <p:graphicEl>
                                              <a:chart seriesIdx="-4" categoryIdx="7" bldStep="category"/>
                                            </p:graphicEl>
                                          </p:spTgt>
                                        </p:tgtEl>
                                      </p:cBhvr>
                                    </p:animEffect>
                                  </p:childTnLst>
                                </p:cTn>
                              </p:par>
                              <p:par>
                                <p:cTn id="178" presetID="53" presetClass="entr" presetSubtype="16" fill="hold" grpId="0" nodeType="withEffect">
                                  <p:stCondLst>
                                    <p:cond delay="5000"/>
                                  </p:stCondLst>
                                  <p:childTnLst>
                                    <p:set>
                                      <p:cBhvr>
                                        <p:cTn id="179" dur="1" fill="hold">
                                          <p:stCondLst>
                                            <p:cond delay="0"/>
                                          </p:stCondLst>
                                        </p:cTn>
                                        <p:tgtEl>
                                          <p:spTgt spid="48"/>
                                        </p:tgtEl>
                                        <p:attrNameLst>
                                          <p:attrName>style.visibility</p:attrName>
                                        </p:attrNameLst>
                                      </p:cBhvr>
                                      <p:to>
                                        <p:strVal val="visible"/>
                                      </p:to>
                                    </p:set>
                                    <p:anim calcmode="lin" valueType="num">
                                      <p:cBhvr>
                                        <p:cTn id="180" dur="500" fill="hold"/>
                                        <p:tgtEl>
                                          <p:spTgt spid="48"/>
                                        </p:tgtEl>
                                        <p:attrNameLst>
                                          <p:attrName>ppt_w</p:attrName>
                                        </p:attrNameLst>
                                      </p:cBhvr>
                                      <p:tavLst>
                                        <p:tav tm="0">
                                          <p:val>
                                            <p:fltVal val="0"/>
                                          </p:val>
                                        </p:tav>
                                        <p:tav tm="100000">
                                          <p:val>
                                            <p:strVal val="#ppt_w"/>
                                          </p:val>
                                        </p:tav>
                                      </p:tavLst>
                                    </p:anim>
                                    <p:anim calcmode="lin" valueType="num">
                                      <p:cBhvr>
                                        <p:cTn id="181" dur="500" fill="hold"/>
                                        <p:tgtEl>
                                          <p:spTgt spid="48"/>
                                        </p:tgtEl>
                                        <p:attrNameLst>
                                          <p:attrName>ppt_h</p:attrName>
                                        </p:attrNameLst>
                                      </p:cBhvr>
                                      <p:tavLst>
                                        <p:tav tm="0">
                                          <p:val>
                                            <p:fltVal val="0"/>
                                          </p:val>
                                        </p:tav>
                                        <p:tav tm="100000">
                                          <p:val>
                                            <p:strVal val="#ppt_h"/>
                                          </p:val>
                                        </p:tav>
                                      </p:tavLst>
                                    </p:anim>
                                    <p:animEffect transition="in" filter="fade">
                                      <p:cBhvr>
                                        <p:cTn id="182" dur="500"/>
                                        <p:tgtEl>
                                          <p:spTgt spid="48"/>
                                        </p:tgtEl>
                                      </p:cBhvr>
                                    </p:animEffect>
                                  </p:childTnLst>
                                </p:cTn>
                              </p:par>
                              <p:par>
                                <p:cTn id="183" presetID="6" presetClass="emph" presetSubtype="0" fill="hold" grpId="1" nodeType="withEffect">
                                  <p:stCondLst>
                                    <p:cond delay="5000"/>
                                  </p:stCondLst>
                                  <p:childTnLst>
                                    <p:animScale>
                                      <p:cBhvr>
                                        <p:cTn id="184" dur="750" fill="hold"/>
                                        <p:tgtEl>
                                          <p:spTgt spid="48"/>
                                        </p:tgtEl>
                                      </p:cBhvr>
                                      <p:by x="150000" y="150000"/>
                                    </p:animScale>
                                  </p:childTnLst>
                                </p:cTn>
                              </p:par>
                              <p:par>
                                <p:cTn id="185" presetID="10" presetClass="exit" presetSubtype="0" fill="hold" grpId="2" nodeType="withEffect">
                                  <p:stCondLst>
                                    <p:cond delay="5000"/>
                                  </p:stCondLst>
                                  <p:childTnLst>
                                    <p:animEffect transition="out" filter="fade">
                                      <p:cBhvr>
                                        <p:cTn id="186" dur="750"/>
                                        <p:tgtEl>
                                          <p:spTgt spid="48"/>
                                        </p:tgtEl>
                                      </p:cBhvr>
                                    </p:animEffect>
                                    <p:set>
                                      <p:cBhvr>
                                        <p:cTn id="187" dur="1" fill="hold">
                                          <p:stCondLst>
                                            <p:cond delay="749"/>
                                          </p:stCondLst>
                                        </p:cTn>
                                        <p:tgtEl>
                                          <p:spTgt spid="48"/>
                                        </p:tgtEl>
                                        <p:attrNameLst>
                                          <p:attrName>style.visibility</p:attrName>
                                        </p:attrNameLst>
                                      </p:cBhvr>
                                      <p:to>
                                        <p:strVal val="hidden"/>
                                      </p:to>
                                    </p:set>
                                  </p:childTnLst>
                                </p:cTn>
                              </p:par>
                              <p:par>
                                <p:cTn id="188" presetID="53" presetClass="entr" presetSubtype="16" fill="hold" grpId="0" nodeType="withEffect">
                                  <p:stCondLst>
                                    <p:cond delay="5000"/>
                                  </p:stCondLst>
                                  <p:childTnLst>
                                    <p:set>
                                      <p:cBhvr>
                                        <p:cTn id="189" dur="1" fill="hold">
                                          <p:stCondLst>
                                            <p:cond delay="0"/>
                                          </p:stCondLst>
                                        </p:cTn>
                                        <p:tgtEl>
                                          <p:spTgt spid="62"/>
                                        </p:tgtEl>
                                        <p:attrNameLst>
                                          <p:attrName>style.visibility</p:attrName>
                                        </p:attrNameLst>
                                      </p:cBhvr>
                                      <p:to>
                                        <p:strVal val="visible"/>
                                      </p:to>
                                    </p:set>
                                    <p:anim calcmode="lin" valueType="num">
                                      <p:cBhvr>
                                        <p:cTn id="190" dur="500" fill="hold"/>
                                        <p:tgtEl>
                                          <p:spTgt spid="62"/>
                                        </p:tgtEl>
                                        <p:attrNameLst>
                                          <p:attrName>ppt_w</p:attrName>
                                        </p:attrNameLst>
                                      </p:cBhvr>
                                      <p:tavLst>
                                        <p:tav tm="0">
                                          <p:val>
                                            <p:fltVal val="0"/>
                                          </p:val>
                                        </p:tav>
                                        <p:tav tm="100000">
                                          <p:val>
                                            <p:strVal val="#ppt_w"/>
                                          </p:val>
                                        </p:tav>
                                      </p:tavLst>
                                    </p:anim>
                                    <p:anim calcmode="lin" valueType="num">
                                      <p:cBhvr>
                                        <p:cTn id="191" dur="500" fill="hold"/>
                                        <p:tgtEl>
                                          <p:spTgt spid="62"/>
                                        </p:tgtEl>
                                        <p:attrNameLst>
                                          <p:attrName>ppt_h</p:attrName>
                                        </p:attrNameLst>
                                      </p:cBhvr>
                                      <p:tavLst>
                                        <p:tav tm="0">
                                          <p:val>
                                            <p:fltVal val="0"/>
                                          </p:val>
                                        </p:tav>
                                        <p:tav tm="100000">
                                          <p:val>
                                            <p:strVal val="#ppt_h"/>
                                          </p:val>
                                        </p:tav>
                                      </p:tavLst>
                                    </p:anim>
                                    <p:animEffect transition="in" filter="fade">
                                      <p:cBhvr>
                                        <p:cTn id="192" dur="500"/>
                                        <p:tgtEl>
                                          <p:spTgt spid="62"/>
                                        </p:tgtEl>
                                      </p:cBhvr>
                                    </p:animEffect>
                                  </p:childTnLst>
                                </p:cTn>
                              </p:par>
                              <p:par>
                                <p:cTn id="193" presetID="6" presetClass="emph" presetSubtype="0" fill="hold" grpId="1" nodeType="withEffect">
                                  <p:stCondLst>
                                    <p:cond delay="5000"/>
                                  </p:stCondLst>
                                  <p:childTnLst>
                                    <p:animScale>
                                      <p:cBhvr>
                                        <p:cTn id="194" dur="750" fill="hold"/>
                                        <p:tgtEl>
                                          <p:spTgt spid="62"/>
                                        </p:tgtEl>
                                      </p:cBhvr>
                                      <p:by x="150000" y="150000"/>
                                    </p:animScale>
                                  </p:childTnLst>
                                </p:cTn>
                              </p:par>
                              <p:par>
                                <p:cTn id="195" presetID="10" presetClass="exit" presetSubtype="0" fill="hold" grpId="2" nodeType="withEffect">
                                  <p:stCondLst>
                                    <p:cond delay="5000"/>
                                  </p:stCondLst>
                                  <p:childTnLst>
                                    <p:animEffect transition="out" filter="fade">
                                      <p:cBhvr>
                                        <p:cTn id="196" dur="750"/>
                                        <p:tgtEl>
                                          <p:spTgt spid="62"/>
                                        </p:tgtEl>
                                      </p:cBhvr>
                                    </p:animEffect>
                                    <p:set>
                                      <p:cBhvr>
                                        <p:cTn id="197" dur="1" fill="hold">
                                          <p:stCondLst>
                                            <p:cond delay="749"/>
                                          </p:stCondLst>
                                        </p:cTn>
                                        <p:tgtEl>
                                          <p:spTgt spid="62"/>
                                        </p:tgtEl>
                                        <p:attrNameLst>
                                          <p:attrName>style.visibility</p:attrName>
                                        </p:attrNameLst>
                                      </p:cBhvr>
                                      <p:to>
                                        <p:strVal val="hidden"/>
                                      </p:to>
                                    </p:set>
                                  </p:childTnLst>
                                </p:cTn>
                              </p:par>
                              <p:par>
                                <p:cTn id="198" presetID="18" presetClass="entr" presetSubtype="3" fill="hold" grpId="0" nodeType="withEffect">
                                  <p:stCondLst>
                                    <p:cond delay="5500"/>
                                  </p:stCondLst>
                                  <p:childTnLst>
                                    <p:set>
                                      <p:cBhvr>
                                        <p:cTn id="199" dur="1" fill="hold">
                                          <p:stCondLst>
                                            <p:cond delay="0"/>
                                          </p:stCondLst>
                                        </p:cTn>
                                        <p:tgtEl>
                                          <p:spTgt spid="6">
                                            <p:graphicEl>
                                              <a:chart seriesIdx="-4" categoryIdx="8" bldStep="category"/>
                                            </p:graphicEl>
                                          </p:spTgt>
                                        </p:tgtEl>
                                        <p:attrNameLst>
                                          <p:attrName>style.visibility</p:attrName>
                                        </p:attrNameLst>
                                      </p:cBhvr>
                                      <p:to>
                                        <p:strVal val="visible"/>
                                      </p:to>
                                    </p:set>
                                    <p:animEffect transition="in" filter="strips(upRight)">
                                      <p:cBhvr>
                                        <p:cTn id="200" dur="500"/>
                                        <p:tgtEl>
                                          <p:spTgt spid="6">
                                            <p:graphicEl>
                                              <a:chart seriesIdx="-4" categoryIdx="8" bldStep="category"/>
                                            </p:graphicEl>
                                          </p:spTgt>
                                        </p:tgtEl>
                                      </p:cBhvr>
                                    </p:animEffect>
                                  </p:childTnLst>
                                </p:cTn>
                              </p:par>
                              <p:par>
                                <p:cTn id="201" presetID="53" presetClass="entr" presetSubtype="16" fill="hold" grpId="0" nodeType="withEffect">
                                  <p:stCondLst>
                                    <p:cond delay="5500"/>
                                  </p:stCondLst>
                                  <p:childTnLst>
                                    <p:set>
                                      <p:cBhvr>
                                        <p:cTn id="202" dur="1" fill="hold">
                                          <p:stCondLst>
                                            <p:cond delay="0"/>
                                          </p:stCondLst>
                                        </p:cTn>
                                        <p:tgtEl>
                                          <p:spTgt spid="49"/>
                                        </p:tgtEl>
                                        <p:attrNameLst>
                                          <p:attrName>style.visibility</p:attrName>
                                        </p:attrNameLst>
                                      </p:cBhvr>
                                      <p:to>
                                        <p:strVal val="visible"/>
                                      </p:to>
                                    </p:set>
                                    <p:anim calcmode="lin" valueType="num">
                                      <p:cBhvr>
                                        <p:cTn id="203" dur="500" fill="hold"/>
                                        <p:tgtEl>
                                          <p:spTgt spid="49"/>
                                        </p:tgtEl>
                                        <p:attrNameLst>
                                          <p:attrName>ppt_w</p:attrName>
                                        </p:attrNameLst>
                                      </p:cBhvr>
                                      <p:tavLst>
                                        <p:tav tm="0">
                                          <p:val>
                                            <p:fltVal val="0"/>
                                          </p:val>
                                        </p:tav>
                                        <p:tav tm="100000">
                                          <p:val>
                                            <p:strVal val="#ppt_w"/>
                                          </p:val>
                                        </p:tav>
                                      </p:tavLst>
                                    </p:anim>
                                    <p:anim calcmode="lin" valueType="num">
                                      <p:cBhvr>
                                        <p:cTn id="204" dur="500" fill="hold"/>
                                        <p:tgtEl>
                                          <p:spTgt spid="49"/>
                                        </p:tgtEl>
                                        <p:attrNameLst>
                                          <p:attrName>ppt_h</p:attrName>
                                        </p:attrNameLst>
                                      </p:cBhvr>
                                      <p:tavLst>
                                        <p:tav tm="0">
                                          <p:val>
                                            <p:fltVal val="0"/>
                                          </p:val>
                                        </p:tav>
                                        <p:tav tm="100000">
                                          <p:val>
                                            <p:strVal val="#ppt_h"/>
                                          </p:val>
                                        </p:tav>
                                      </p:tavLst>
                                    </p:anim>
                                    <p:animEffect transition="in" filter="fade">
                                      <p:cBhvr>
                                        <p:cTn id="205" dur="500"/>
                                        <p:tgtEl>
                                          <p:spTgt spid="49"/>
                                        </p:tgtEl>
                                      </p:cBhvr>
                                    </p:animEffect>
                                  </p:childTnLst>
                                </p:cTn>
                              </p:par>
                              <p:par>
                                <p:cTn id="206" presetID="6" presetClass="emph" presetSubtype="0" fill="hold" grpId="1" nodeType="withEffect">
                                  <p:stCondLst>
                                    <p:cond delay="5500"/>
                                  </p:stCondLst>
                                  <p:childTnLst>
                                    <p:animScale>
                                      <p:cBhvr>
                                        <p:cTn id="207" dur="750" fill="hold"/>
                                        <p:tgtEl>
                                          <p:spTgt spid="49"/>
                                        </p:tgtEl>
                                      </p:cBhvr>
                                      <p:by x="150000" y="150000"/>
                                    </p:animScale>
                                  </p:childTnLst>
                                </p:cTn>
                              </p:par>
                              <p:par>
                                <p:cTn id="208" presetID="10" presetClass="exit" presetSubtype="0" fill="hold" grpId="2" nodeType="withEffect">
                                  <p:stCondLst>
                                    <p:cond delay="5500"/>
                                  </p:stCondLst>
                                  <p:childTnLst>
                                    <p:animEffect transition="out" filter="fade">
                                      <p:cBhvr>
                                        <p:cTn id="209" dur="750"/>
                                        <p:tgtEl>
                                          <p:spTgt spid="49"/>
                                        </p:tgtEl>
                                      </p:cBhvr>
                                    </p:animEffect>
                                    <p:set>
                                      <p:cBhvr>
                                        <p:cTn id="210" dur="1" fill="hold">
                                          <p:stCondLst>
                                            <p:cond delay="749"/>
                                          </p:stCondLst>
                                        </p:cTn>
                                        <p:tgtEl>
                                          <p:spTgt spid="49"/>
                                        </p:tgtEl>
                                        <p:attrNameLst>
                                          <p:attrName>style.visibility</p:attrName>
                                        </p:attrNameLst>
                                      </p:cBhvr>
                                      <p:to>
                                        <p:strVal val="hidden"/>
                                      </p:to>
                                    </p:set>
                                  </p:childTnLst>
                                </p:cTn>
                              </p:par>
                              <p:par>
                                <p:cTn id="211" presetID="53" presetClass="entr" presetSubtype="16" fill="hold" grpId="0" nodeType="withEffect">
                                  <p:stCondLst>
                                    <p:cond delay="5500"/>
                                  </p:stCondLst>
                                  <p:childTnLst>
                                    <p:set>
                                      <p:cBhvr>
                                        <p:cTn id="212" dur="1" fill="hold">
                                          <p:stCondLst>
                                            <p:cond delay="0"/>
                                          </p:stCondLst>
                                        </p:cTn>
                                        <p:tgtEl>
                                          <p:spTgt spid="63"/>
                                        </p:tgtEl>
                                        <p:attrNameLst>
                                          <p:attrName>style.visibility</p:attrName>
                                        </p:attrNameLst>
                                      </p:cBhvr>
                                      <p:to>
                                        <p:strVal val="visible"/>
                                      </p:to>
                                    </p:set>
                                    <p:anim calcmode="lin" valueType="num">
                                      <p:cBhvr>
                                        <p:cTn id="213" dur="500" fill="hold"/>
                                        <p:tgtEl>
                                          <p:spTgt spid="63"/>
                                        </p:tgtEl>
                                        <p:attrNameLst>
                                          <p:attrName>ppt_w</p:attrName>
                                        </p:attrNameLst>
                                      </p:cBhvr>
                                      <p:tavLst>
                                        <p:tav tm="0">
                                          <p:val>
                                            <p:fltVal val="0"/>
                                          </p:val>
                                        </p:tav>
                                        <p:tav tm="100000">
                                          <p:val>
                                            <p:strVal val="#ppt_w"/>
                                          </p:val>
                                        </p:tav>
                                      </p:tavLst>
                                    </p:anim>
                                    <p:anim calcmode="lin" valueType="num">
                                      <p:cBhvr>
                                        <p:cTn id="214" dur="500" fill="hold"/>
                                        <p:tgtEl>
                                          <p:spTgt spid="63"/>
                                        </p:tgtEl>
                                        <p:attrNameLst>
                                          <p:attrName>ppt_h</p:attrName>
                                        </p:attrNameLst>
                                      </p:cBhvr>
                                      <p:tavLst>
                                        <p:tav tm="0">
                                          <p:val>
                                            <p:fltVal val="0"/>
                                          </p:val>
                                        </p:tav>
                                        <p:tav tm="100000">
                                          <p:val>
                                            <p:strVal val="#ppt_h"/>
                                          </p:val>
                                        </p:tav>
                                      </p:tavLst>
                                    </p:anim>
                                    <p:animEffect transition="in" filter="fade">
                                      <p:cBhvr>
                                        <p:cTn id="215" dur="500"/>
                                        <p:tgtEl>
                                          <p:spTgt spid="63"/>
                                        </p:tgtEl>
                                      </p:cBhvr>
                                    </p:animEffect>
                                  </p:childTnLst>
                                </p:cTn>
                              </p:par>
                              <p:par>
                                <p:cTn id="216" presetID="6" presetClass="emph" presetSubtype="0" fill="hold" grpId="1" nodeType="withEffect">
                                  <p:stCondLst>
                                    <p:cond delay="5500"/>
                                  </p:stCondLst>
                                  <p:childTnLst>
                                    <p:animScale>
                                      <p:cBhvr>
                                        <p:cTn id="217" dur="750" fill="hold"/>
                                        <p:tgtEl>
                                          <p:spTgt spid="63"/>
                                        </p:tgtEl>
                                      </p:cBhvr>
                                      <p:by x="150000" y="150000"/>
                                    </p:animScale>
                                  </p:childTnLst>
                                </p:cTn>
                              </p:par>
                              <p:par>
                                <p:cTn id="218" presetID="10" presetClass="exit" presetSubtype="0" fill="hold" grpId="2" nodeType="withEffect">
                                  <p:stCondLst>
                                    <p:cond delay="5500"/>
                                  </p:stCondLst>
                                  <p:childTnLst>
                                    <p:animEffect transition="out" filter="fade">
                                      <p:cBhvr>
                                        <p:cTn id="219" dur="750"/>
                                        <p:tgtEl>
                                          <p:spTgt spid="63"/>
                                        </p:tgtEl>
                                      </p:cBhvr>
                                    </p:animEffect>
                                    <p:set>
                                      <p:cBhvr>
                                        <p:cTn id="220" dur="1" fill="hold">
                                          <p:stCondLst>
                                            <p:cond delay="749"/>
                                          </p:stCondLst>
                                        </p:cTn>
                                        <p:tgtEl>
                                          <p:spTgt spid="63"/>
                                        </p:tgtEl>
                                        <p:attrNameLst>
                                          <p:attrName>style.visibility</p:attrName>
                                        </p:attrNameLst>
                                      </p:cBhvr>
                                      <p:to>
                                        <p:strVal val="hidden"/>
                                      </p:to>
                                    </p:set>
                                  </p:childTnLst>
                                </p:cTn>
                              </p:par>
                              <p:par>
                                <p:cTn id="221" presetID="18" presetClass="entr" presetSubtype="3" fill="hold" grpId="0" nodeType="withEffect">
                                  <p:stCondLst>
                                    <p:cond delay="6000"/>
                                  </p:stCondLst>
                                  <p:childTnLst>
                                    <p:set>
                                      <p:cBhvr>
                                        <p:cTn id="222" dur="1" fill="hold">
                                          <p:stCondLst>
                                            <p:cond delay="0"/>
                                          </p:stCondLst>
                                        </p:cTn>
                                        <p:tgtEl>
                                          <p:spTgt spid="6">
                                            <p:graphicEl>
                                              <a:chart seriesIdx="-4" categoryIdx="9" bldStep="category"/>
                                            </p:graphicEl>
                                          </p:spTgt>
                                        </p:tgtEl>
                                        <p:attrNameLst>
                                          <p:attrName>style.visibility</p:attrName>
                                        </p:attrNameLst>
                                      </p:cBhvr>
                                      <p:to>
                                        <p:strVal val="visible"/>
                                      </p:to>
                                    </p:set>
                                    <p:animEffect transition="in" filter="strips(upRight)">
                                      <p:cBhvr>
                                        <p:cTn id="223" dur="500"/>
                                        <p:tgtEl>
                                          <p:spTgt spid="6">
                                            <p:graphicEl>
                                              <a:chart seriesIdx="-4" categoryIdx="9" bldStep="category"/>
                                            </p:graphicEl>
                                          </p:spTgt>
                                        </p:tgtEl>
                                      </p:cBhvr>
                                    </p:animEffect>
                                  </p:childTnLst>
                                </p:cTn>
                              </p:par>
                              <p:par>
                                <p:cTn id="224" presetID="53" presetClass="entr" presetSubtype="16" fill="hold" grpId="0" nodeType="withEffect">
                                  <p:stCondLst>
                                    <p:cond delay="6000"/>
                                  </p:stCondLst>
                                  <p:childTnLst>
                                    <p:set>
                                      <p:cBhvr>
                                        <p:cTn id="225" dur="1" fill="hold">
                                          <p:stCondLst>
                                            <p:cond delay="0"/>
                                          </p:stCondLst>
                                        </p:cTn>
                                        <p:tgtEl>
                                          <p:spTgt spid="50"/>
                                        </p:tgtEl>
                                        <p:attrNameLst>
                                          <p:attrName>style.visibility</p:attrName>
                                        </p:attrNameLst>
                                      </p:cBhvr>
                                      <p:to>
                                        <p:strVal val="visible"/>
                                      </p:to>
                                    </p:set>
                                    <p:anim calcmode="lin" valueType="num">
                                      <p:cBhvr>
                                        <p:cTn id="226" dur="500" fill="hold"/>
                                        <p:tgtEl>
                                          <p:spTgt spid="50"/>
                                        </p:tgtEl>
                                        <p:attrNameLst>
                                          <p:attrName>ppt_w</p:attrName>
                                        </p:attrNameLst>
                                      </p:cBhvr>
                                      <p:tavLst>
                                        <p:tav tm="0">
                                          <p:val>
                                            <p:fltVal val="0"/>
                                          </p:val>
                                        </p:tav>
                                        <p:tav tm="100000">
                                          <p:val>
                                            <p:strVal val="#ppt_w"/>
                                          </p:val>
                                        </p:tav>
                                      </p:tavLst>
                                    </p:anim>
                                    <p:anim calcmode="lin" valueType="num">
                                      <p:cBhvr>
                                        <p:cTn id="227" dur="500" fill="hold"/>
                                        <p:tgtEl>
                                          <p:spTgt spid="50"/>
                                        </p:tgtEl>
                                        <p:attrNameLst>
                                          <p:attrName>ppt_h</p:attrName>
                                        </p:attrNameLst>
                                      </p:cBhvr>
                                      <p:tavLst>
                                        <p:tav tm="0">
                                          <p:val>
                                            <p:fltVal val="0"/>
                                          </p:val>
                                        </p:tav>
                                        <p:tav tm="100000">
                                          <p:val>
                                            <p:strVal val="#ppt_h"/>
                                          </p:val>
                                        </p:tav>
                                      </p:tavLst>
                                    </p:anim>
                                    <p:animEffect transition="in" filter="fade">
                                      <p:cBhvr>
                                        <p:cTn id="228" dur="500"/>
                                        <p:tgtEl>
                                          <p:spTgt spid="50"/>
                                        </p:tgtEl>
                                      </p:cBhvr>
                                    </p:animEffect>
                                  </p:childTnLst>
                                </p:cTn>
                              </p:par>
                              <p:par>
                                <p:cTn id="229" presetID="6" presetClass="emph" presetSubtype="0" fill="hold" grpId="1" nodeType="withEffect">
                                  <p:stCondLst>
                                    <p:cond delay="6000"/>
                                  </p:stCondLst>
                                  <p:childTnLst>
                                    <p:animScale>
                                      <p:cBhvr>
                                        <p:cTn id="230" dur="750" fill="hold"/>
                                        <p:tgtEl>
                                          <p:spTgt spid="50"/>
                                        </p:tgtEl>
                                      </p:cBhvr>
                                      <p:by x="150000" y="150000"/>
                                    </p:animScale>
                                  </p:childTnLst>
                                </p:cTn>
                              </p:par>
                              <p:par>
                                <p:cTn id="231" presetID="10" presetClass="exit" presetSubtype="0" fill="hold" grpId="2" nodeType="withEffect">
                                  <p:stCondLst>
                                    <p:cond delay="6000"/>
                                  </p:stCondLst>
                                  <p:childTnLst>
                                    <p:animEffect transition="out" filter="fade">
                                      <p:cBhvr>
                                        <p:cTn id="232" dur="750"/>
                                        <p:tgtEl>
                                          <p:spTgt spid="50"/>
                                        </p:tgtEl>
                                      </p:cBhvr>
                                    </p:animEffect>
                                    <p:set>
                                      <p:cBhvr>
                                        <p:cTn id="233" dur="1" fill="hold">
                                          <p:stCondLst>
                                            <p:cond delay="749"/>
                                          </p:stCondLst>
                                        </p:cTn>
                                        <p:tgtEl>
                                          <p:spTgt spid="50"/>
                                        </p:tgtEl>
                                        <p:attrNameLst>
                                          <p:attrName>style.visibility</p:attrName>
                                        </p:attrNameLst>
                                      </p:cBhvr>
                                      <p:to>
                                        <p:strVal val="hidden"/>
                                      </p:to>
                                    </p:set>
                                  </p:childTnLst>
                                </p:cTn>
                              </p:par>
                              <p:par>
                                <p:cTn id="234" presetID="53" presetClass="entr" presetSubtype="16" fill="hold" grpId="0" nodeType="withEffect">
                                  <p:stCondLst>
                                    <p:cond delay="6000"/>
                                  </p:stCondLst>
                                  <p:childTnLst>
                                    <p:set>
                                      <p:cBhvr>
                                        <p:cTn id="235" dur="1" fill="hold">
                                          <p:stCondLst>
                                            <p:cond delay="0"/>
                                          </p:stCondLst>
                                        </p:cTn>
                                        <p:tgtEl>
                                          <p:spTgt spid="64"/>
                                        </p:tgtEl>
                                        <p:attrNameLst>
                                          <p:attrName>style.visibility</p:attrName>
                                        </p:attrNameLst>
                                      </p:cBhvr>
                                      <p:to>
                                        <p:strVal val="visible"/>
                                      </p:to>
                                    </p:set>
                                    <p:anim calcmode="lin" valueType="num">
                                      <p:cBhvr>
                                        <p:cTn id="236" dur="500" fill="hold"/>
                                        <p:tgtEl>
                                          <p:spTgt spid="64"/>
                                        </p:tgtEl>
                                        <p:attrNameLst>
                                          <p:attrName>ppt_w</p:attrName>
                                        </p:attrNameLst>
                                      </p:cBhvr>
                                      <p:tavLst>
                                        <p:tav tm="0">
                                          <p:val>
                                            <p:fltVal val="0"/>
                                          </p:val>
                                        </p:tav>
                                        <p:tav tm="100000">
                                          <p:val>
                                            <p:strVal val="#ppt_w"/>
                                          </p:val>
                                        </p:tav>
                                      </p:tavLst>
                                    </p:anim>
                                    <p:anim calcmode="lin" valueType="num">
                                      <p:cBhvr>
                                        <p:cTn id="237" dur="500" fill="hold"/>
                                        <p:tgtEl>
                                          <p:spTgt spid="64"/>
                                        </p:tgtEl>
                                        <p:attrNameLst>
                                          <p:attrName>ppt_h</p:attrName>
                                        </p:attrNameLst>
                                      </p:cBhvr>
                                      <p:tavLst>
                                        <p:tav tm="0">
                                          <p:val>
                                            <p:fltVal val="0"/>
                                          </p:val>
                                        </p:tav>
                                        <p:tav tm="100000">
                                          <p:val>
                                            <p:strVal val="#ppt_h"/>
                                          </p:val>
                                        </p:tav>
                                      </p:tavLst>
                                    </p:anim>
                                    <p:animEffect transition="in" filter="fade">
                                      <p:cBhvr>
                                        <p:cTn id="238" dur="500"/>
                                        <p:tgtEl>
                                          <p:spTgt spid="64"/>
                                        </p:tgtEl>
                                      </p:cBhvr>
                                    </p:animEffect>
                                  </p:childTnLst>
                                </p:cTn>
                              </p:par>
                              <p:par>
                                <p:cTn id="239" presetID="6" presetClass="emph" presetSubtype="0" fill="hold" grpId="1" nodeType="withEffect">
                                  <p:stCondLst>
                                    <p:cond delay="6000"/>
                                  </p:stCondLst>
                                  <p:childTnLst>
                                    <p:animScale>
                                      <p:cBhvr>
                                        <p:cTn id="240" dur="750" fill="hold"/>
                                        <p:tgtEl>
                                          <p:spTgt spid="64"/>
                                        </p:tgtEl>
                                      </p:cBhvr>
                                      <p:by x="150000" y="150000"/>
                                    </p:animScale>
                                  </p:childTnLst>
                                </p:cTn>
                              </p:par>
                              <p:par>
                                <p:cTn id="241" presetID="10" presetClass="exit" presetSubtype="0" fill="hold" grpId="2" nodeType="withEffect">
                                  <p:stCondLst>
                                    <p:cond delay="6000"/>
                                  </p:stCondLst>
                                  <p:childTnLst>
                                    <p:animEffect transition="out" filter="fade">
                                      <p:cBhvr>
                                        <p:cTn id="242" dur="750"/>
                                        <p:tgtEl>
                                          <p:spTgt spid="64"/>
                                        </p:tgtEl>
                                      </p:cBhvr>
                                    </p:animEffect>
                                    <p:set>
                                      <p:cBhvr>
                                        <p:cTn id="243" dur="1" fill="hold">
                                          <p:stCondLst>
                                            <p:cond delay="749"/>
                                          </p:stCondLst>
                                        </p:cTn>
                                        <p:tgtEl>
                                          <p:spTgt spid="64"/>
                                        </p:tgtEl>
                                        <p:attrNameLst>
                                          <p:attrName>style.visibility</p:attrName>
                                        </p:attrNameLst>
                                      </p:cBhvr>
                                      <p:to>
                                        <p:strVal val="hidden"/>
                                      </p:to>
                                    </p:set>
                                  </p:childTnLst>
                                </p:cTn>
                              </p:par>
                              <p:par>
                                <p:cTn id="244" presetID="18" presetClass="entr" presetSubtype="3" fill="hold" grpId="0" nodeType="withEffect">
                                  <p:stCondLst>
                                    <p:cond delay="6500"/>
                                  </p:stCondLst>
                                  <p:childTnLst>
                                    <p:set>
                                      <p:cBhvr>
                                        <p:cTn id="245" dur="1" fill="hold">
                                          <p:stCondLst>
                                            <p:cond delay="0"/>
                                          </p:stCondLst>
                                        </p:cTn>
                                        <p:tgtEl>
                                          <p:spTgt spid="6">
                                            <p:graphicEl>
                                              <a:chart seriesIdx="-4" categoryIdx="10" bldStep="category"/>
                                            </p:graphicEl>
                                          </p:spTgt>
                                        </p:tgtEl>
                                        <p:attrNameLst>
                                          <p:attrName>style.visibility</p:attrName>
                                        </p:attrNameLst>
                                      </p:cBhvr>
                                      <p:to>
                                        <p:strVal val="visible"/>
                                      </p:to>
                                    </p:set>
                                    <p:animEffect transition="in" filter="strips(upRight)">
                                      <p:cBhvr>
                                        <p:cTn id="246" dur="500"/>
                                        <p:tgtEl>
                                          <p:spTgt spid="6">
                                            <p:graphicEl>
                                              <a:chart seriesIdx="-4" categoryIdx="10" bldStep="category"/>
                                            </p:graphicEl>
                                          </p:spTgt>
                                        </p:tgtEl>
                                      </p:cBhvr>
                                    </p:animEffect>
                                  </p:childTnLst>
                                </p:cTn>
                              </p:par>
                              <p:par>
                                <p:cTn id="247" presetID="53" presetClass="entr" presetSubtype="16" fill="hold" grpId="0" nodeType="withEffect">
                                  <p:stCondLst>
                                    <p:cond delay="6500"/>
                                  </p:stCondLst>
                                  <p:childTnLst>
                                    <p:set>
                                      <p:cBhvr>
                                        <p:cTn id="248" dur="1" fill="hold">
                                          <p:stCondLst>
                                            <p:cond delay="0"/>
                                          </p:stCondLst>
                                        </p:cTn>
                                        <p:tgtEl>
                                          <p:spTgt spid="51"/>
                                        </p:tgtEl>
                                        <p:attrNameLst>
                                          <p:attrName>style.visibility</p:attrName>
                                        </p:attrNameLst>
                                      </p:cBhvr>
                                      <p:to>
                                        <p:strVal val="visible"/>
                                      </p:to>
                                    </p:set>
                                    <p:anim calcmode="lin" valueType="num">
                                      <p:cBhvr>
                                        <p:cTn id="249" dur="500" fill="hold"/>
                                        <p:tgtEl>
                                          <p:spTgt spid="51"/>
                                        </p:tgtEl>
                                        <p:attrNameLst>
                                          <p:attrName>ppt_w</p:attrName>
                                        </p:attrNameLst>
                                      </p:cBhvr>
                                      <p:tavLst>
                                        <p:tav tm="0">
                                          <p:val>
                                            <p:fltVal val="0"/>
                                          </p:val>
                                        </p:tav>
                                        <p:tav tm="100000">
                                          <p:val>
                                            <p:strVal val="#ppt_w"/>
                                          </p:val>
                                        </p:tav>
                                      </p:tavLst>
                                    </p:anim>
                                    <p:anim calcmode="lin" valueType="num">
                                      <p:cBhvr>
                                        <p:cTn id="250" dur="500" fill="hold"/>
                                        <p:tgtEl>
                                          <p:spTgt spid="51"/>
                                        </p:tgtEl>
                                        <p:attrNameLst>
                                          <p:attrName>ppt_h</p:attrName>
                                        </p:attrNameLst>
                                      </p:cBhvr>
                                      <p:tavLst>
                                        <p:tav tm="0">
                                          <p:val>
                                            <p:fltVal val="0"/>
                                          </p:val>
                                        </p:tav>
                                        <p:tav tm="100000">
                                          <p:val>
                                            <p:strVal val="#ppt_h"/>
                                          </p:val>
                                        </p:tav>
                                      </p:tavLst>
                                    </p:anim>
                                    <p:animEffect transition="in" filter="fade">
                                      <p:cBhvr>
                                        <p:cTn id="251" dur="500"/>
                                        <p:tgtEl>
                                          <p:spTgt spid="51"/>
                                        </p:tgtEl>
                                      </p:cBhvr>
                                    </p:animEffect>
                                  </p:childTnLst>
                                </p:cTn>
                              </p:par>
                              <p:par>
                                <p:cTn id="252" presetID="6" presetClass="emph" presetSubtype="0" fill="hold" grpId="1" nodeType="withEffect">
                                  <p:stCondLst>
                                    <p:cond delay="6500"/>
                                  </p:stCondLst>
                                  <p:childTnLst>
                                    <p:animScale>
                                      <p:cBhvr>
                                        <p:cTn id="253" dur="750" fill="hold"/>
                                        <p:tgtEl>
                                          <p:spTgt spid="51"/>
                                        </p:tgtEl>
                                      </p:cBhvr>
                                      <p:by x="150000" y="150000"/>
                                    </p:animScale>
                                  </p:childTnLst>
                                </p:cTn>
                              </p:par>
                              <p:par>
                                <p:cTn id="254" presetID="10" presetClass="exit" presetSubtype="0" fill="hold" grpId="2" nodeType="withEffect">
                                  <p:stCondLst>
                                    <p:cond delay="6500"/>
                                  </p:stCondLst>
                                  <p:childTnLst>
                                    <p:animEffect transition="out" filter="fade">
                                      <p:cBhvr>
                                        <p:cTn id="255" dur="750"/>
                                        <p:tgtEl>
                                          <p:spTgt spid="51"/>
                                        </p:tgtEl>
                                      </p:cBhvr>
                                    </p:animEffect>
                                    <p:set>
                                      <p:cBhvr>
                                        <p:cTn id="256" dur="1" fill="hold">
                                          <p:stCondLst>
                                            <p:cond delay="749"/>
                                          </p:stCondLst>
                                        </p:cTn>
                                        <p:tgtEl>
                                          <p:spTgt spid="51"/>
                                        </p:tgtEl>
                                        <p:attrNameLst>
                                          <p:attrName>style.visibility</p:attrName>
                                        </p:attrNameLst>
                                      </p:cBhvr>
                                      <p:to>
                                        <p:strVal val="hidden"/>
                                      </p:to>
                                    </p:set>
                                  </p:childTnLst>
                                </p:cTn>
                              </p:par>
                              <p:par>
                                <p:cTn id="257" presetID="53" presetClass="entr" presetSubtype="16" fill="hold" grpId="0" nodeType="withEffect">
                                  <p:stCondLst>
                                    <p:cond delay="6500"/>
                                  </p:stCondLst>
                                  <p:childTnLst>
                                    <p:set>
                                      <p:cBhvr>
                                        <p:cTn id="258" dur="1" fill="hold">
                                          <p:stCondLst>
                                            <p:cond delay="0"/>
                                          </p:stCondLst>
                                        </p:cTn>
                                        <p:tgtEl>
                                          <p:spTgt spid="65"/>
                                        </p:tgtEl>
                                        <p:attrNameLst>
                                          <p:attrName>style.visibility</p:attrName>
                                        </p:attrNameLst>
                                      </p:cBhvr>
                                      <p:to>
                                        <p:strVal val="visible"/>
                                      </p:to>
                                    </p:set>
                                    <p:anim calcmode="lin" valueType="num">
                                      <p:cBhvr>
                                        <p:cTn id="259" dur="500" fill="hold"/>
                                        <p:tgtEl>
                                          <p:spTgt spid="65"/>
                                        </p:tgtEl>
                                        <p:attrNameLst>
                                          <p:attrName>ppt_w</p:attrName>
                                        </p:attrNameLst>
                                      </p:cBhvr>
                                      <p:tavLst>
                                        <p:tav tm="0">
                                          <p:val>
                                            <p:fltVal val="0"/>
                                          </p:val>
                                        </p:tav>
                                        <p:tav tm="100000">
                                          <p:val>
                                            <p:strVal val="#ppt_w"/>
                                          </p:val>
                                        </p:tav>
                                      </p:tavLst>
                                    </p:anim>
                                    <p:anim calcmode="lin" valueType="num">
                                      <p:cBhvr>
                                        <p:cTn id="260" dur="500" fill="hold"/>
                                        <p:tgtEl>
                                          <p:spTgt spid="65"/>
                                        </p:tgtEl>
                                        <p:attrNameLst>
                                          <p:attrName>ppt_h</p:attrName>
                                        </p:attrNameLst>
                                      </p:cBhvr>
                                      <p:tavLst>
                                        <p:tav tm="0">
                                          <p:val>
                                            <p:fltVal val="0"/>
                                          </p:val>
                                        </p:tav>
                                        <p:tav tm="100000">
                                          <p:val>
                                            <p:strVal val="#ppt_h"/>
                                          </p:val>
                                        </p:tav>
                                      </p:tavLst>
                                    </p:anim>
                                    <p:animEffect transition="in" filter="fade">
                                      <p:cBhvr>
                                        <p:cTn id="261" dur="500"/>
                                        <p:tgtEl>
                                          <p:spTgt spid="65"/>
                                        </p:tgtEl>
                                      </p:cBhvr>
                                    </p:animEffect>
                                  </p:childTnLst>
                                </p:cTn>
                              </p:par>
                              <p:par>
                                <p:cTn id="262" presetID="6" presetClass="emph" presetSubtype="0" fill="hold" grpId="1" nodeType="withEffect">
                                  <p:stCondLst>
                                    <p:cond delay="6500"/>
                                  </p:stCondLst>
                                  <p:childTnLst>
                                    <p:animScale>
                                      <p:cBhvr>
                                        <p:cTn id="263" dur="750" fill="hold"/>
                                        <p:tgtEl>
                                          <p:spTgt spid="65"/>
                                        </p:tgtEl>
                                      </p:cBhvr>
                                      <p:by x="150000" y="150000"/>
                                    </p:animScale>
                                  </p:childTnLst>
                                </p:cTn>
                              </p:par>
                              <p:par>
                                <p:cTn id="264" presetID="10" presetClass="exit" presetSubtype="0" fill="hold" grpId="2" nodeType="withEffect">
                                  <p:stCondLst>
                                    <p:cond delay="6500"/>
                                  </p:stCondLst>
                                  <p:childTnLst>
                                    <p:animEffect transition="out" filter="fade">
                                      <p:cBhvr>
                                        <p:cTn id="265" dur="750"/>
                                        <p:tgtEl>
                                          <p:spTgt spid="65"/>
                                        </p:tgtEl>
                                      </p:cBhvr>
                                    </p:animEffect>
                                    <p:set>
                                      <p:cBhvr>
                                        <p:cTn id="266" dur="1" fill="hold">
                                          <p:stCondLst>
                                            <p:cond delay="749"/>
                                          </p:stCondLst>
                                        </p:cTn>
                                        <p:tgtEl>
                                          <p:spTgt spid="65"/>
                                        </p:tgtEl>
                                        <p:attrNameLst>
                                          <p:attrName>style.visibility</p:attrName>
                                        </p:attrNameLst>
                                      </p:cBhvr>
                                      <p:to>
                                        <p:strVal val="hidden"/>
                                      </p:to>
                                    </p:set>
                                  </p:childTnLst>
                                </p:cTn>
                              </p:par>
                              <p:par>
                                <p:cTn id="267" presetID="18" presetClass="entr" presetSubtype="3" fill="hold" grpId="0" nodeType="withEffect">
                                  <p:stCondLst>
                                    <p:cond delay="7000"/>
                                  </p:stCondLst>
                                  <p:childTnLst>
                                    <p:set>
                                      <p:cBhvr>
                                        <p:cTn id="268" dur="1" fill="hold">
                                          <p:stCondLst>
                                            <p:cond delay="0"/>
                                          </p:stCondLst>
                                        </p:cTn>
                                        <p:tgtEl>
                                          <p:spTgt spid="6">
                                            <p:graphicEl>
                                              <a:chart seriesIdx="-4" categoryIdx="11" bldStep="category"/>
                                            </p:graphicEl>
                                          </p:spTgt>
                                        </p:tgtEl>
                                        <p:attrNameLst>
                                          <p:attrName>style.visibility</p:attrName>
                                        </p:attrNameLst>
                                      </p:cBhvr>
                                      <p:to>
                                        <p:strVal val="visible"/>
                                      </p:to>
                                    </p:set>
                                    <p:animEffect transition="in" filter="strips(upRight)">
                                      <p:cBhvr>
                                        <p:cTn id="269" dur="500"/>
                                        <p:tgtEl>
                                          <p:spTgt spid="6">
                                            <p:graphicEl>
                                              <a:chart seriesIdx="-4" categoryIdx="11" bldStep="category"/>
                                            </p:graphicEl>
                                          </p:spTgt>
                                        </p:tgtEl>
                                      </p:cBhvr>
                                    </p:animEffect>
                                  </p:childTnLst>
                                </p:cTn>
                              </p:par>
                              <p:par>
                                <p:cTn id="270" presetID="53" presetClass="entr" presetSubtype="16" fill="hold" grpId="0" nodeType="withEffect">
                                  <p:stCondLst>
                                    <p:cond delay="7000"/>
                                  </p:stCondLst>
                                  <p:childTnLst>
                                    <p:set>
                                      <p:cBhvr>
                                        <p:cTn id="271" dur="1" fill="hold">
                                          <p:stCondLst>
                                            <p:cond delay="0"/>
                                          </p:stCondLst>
                                        </p:cTn>
                                        <p:tgtEl>
                                          <p:spTgt spid="52"/>
                                        </p:tgtEl>
                                        <p:attrNameLst>
                                          <p:attrName>style.visibility</p:attrName>
                                        </p:attrNameLst>
                                      </p:cBhvr>
                                      <p:to>
                                        <p:strVal val="visible"/>
                                      </p:to>
                                    </p:set>
                                    <p:anim calcmode="lin" valueType="num">
                                      <p:cBhvr>
                                        <p:cTn id="272" dur="500" fill="hold"/>
                                        <p:tgtEl>
                                          <p:spTgt spid="52"/>
                                        </p:tgtEl>
                                        <p:attrNameLst>
                                          <p:attrName>ppt_w</p:attrName>
                                        </p:attrNameLst>
                                      </p:cBhvr>
                                      <p:tavLst>
                                        <p:tav tm="0">
                                          <p:val>
                                            <p:fltVal val="0"/>
                                          </p:val>
                                        </p:tav>
                                        <p:tav tm="100000">
                                          <p:val>
                                            <p:strVal val="#ppt_w"/>
                                          </p:val>
                                        </p:tav>
                                      </p:tavLst>
                                    </p:anim>
                                    <p:anim calcmode="lin" valueType="num">
                                      <p:cBhvr>
                                        <p:cTn id="273" dur="500" fill="hold"/>
                                        <p:tgtEl>
                                          <p:spTgt spid="52"/>
                                        </p:tgtEl>
                                        <p:attrNameLst>
                                          <p:attrName>ppt_h</p:attrName>
                                        </p:attrNameLst>
                                      </p:cBhvr>
                                      <p:tavLst>
                                        <p:tav tm="0">
                                          <p:val>
                                            <p:fltVal val="0"/>
                                          </p:val>
                                        </p:tav>
                                        <p:tav tm="100000">
                                          <p:val>
                                            <p:strVal val="#ppt_h"/>
                                          </p:val>
                                        </p:tav>
                                      </p:tavLst>
                                    </p:anim>
                                    <p:animEffect transition="in" filter="fade">
                                      <p:cBhvr>
                                        <p:cTn id="274" dur="500"/>
                                        <p:tgtEl>
                                          <p:spTgt spid="52"/>
                                        </p:tgtEl>
                                      </p:cBhvr>
                                    </p:animEffect>
                                  </p:childTnLst>
                                </p:cTn>
                              </p:par>
                              <p:par>
                                <p:cTn id="275" presetID="6" presetClass="emph" presetSubtype="0" fill="hold" grpId="1" nodeType="withEffect">
                                  <p:stCondLst>
                                    <p:cond delay="7000"/>
                                  </p:stCondLst>
                                  <p:childTnLst>
                                    <p:animScale>
                                      <p:cBhvr>
                                        <p:cTn id="276" dur="750" fill="hold"/>
                                        <p:tgtEl>
                                          <p:spTgt spid="52"/>
                                        </p:tgtEl>
                                      </p:cBhvr>
                                      <p:by x="150000" y="150000"/>
                                    </p:animScale>
                                  </p:childTnLst>
                                </p:cTn>
                              </p:par>
                              <p:par>
                                <p:cTn id="277" presetID="10" presetClass="exit" presetSubtype="0" fill="hold" grpId="2" nodeType="withEffect">
                                  <p:stCondLst>
                                    <p:cond delay="7000"/>
                                  </p:stCondLst>
                                  <p:childTnLst>
                                    <p:animEffect transition="out" filter="fade">
                                      <p:cBhvr>
                                        <p:cTn id="278" dur="750"/>
                                        <p:tgtEl>
                                          <p:spTgt spid="52"/>
                                        </p:tgtEl>
                                      </p:cBhvr>
                                    </p:animEffect>
                                    <p:set>
                                      <p:cBhvr>
                                        <p:cTn id="279" dur="1" fill="hold">
                                          <p:stCondLst>
                                            <p:cond delay="749"/>
                                          </p:stCondLst>
                                        </p:cTn>
                                        <p:tgtEl>
                                          <p:spTgt spid="52"/>
                                        </p:tgtEl>
                                        <p:attrNameLst>
                                          <p:attrName>style.visibility</p:attrName>
                                        </p:attrNameLst>
                                      </p:cBhvr>
                                      <p:to>
                                        <p:strVal val="hidden"/>
                                      </p:to>
                                    </p:set>
                                  </p:childTnLst>
                                </p:cTn>
                              </p:par>
                              <p:par>
                                <p:cTn id="280" presetID="53" presetClass="entr" presetSubtype="16" fill="hold" grpId="0" nodeType="withEffect">
                                  <p:stCondLst>
                                    <p:cond delay="7000"/>
                                  </p:stCondLst>
                                  <p:childTnLst>
                                    <p:set>
                                      <p:cBhvr>
                                        <p:cTn id="281" dur="1" fill="hold">
                                          <p:stCondLst>
                                            <p:cond delay="0"/>
                                          </p:stCondLst>
                                        </p:cTn>
                                        <p:tgtEl>
                                          <p:spTgt spid="66"/>
                                        </p:tgtEl>
                                        <p:attrNameLst>
                                          <p:attrName>style.visibility</p:attrName>
                                        </p:attrNameLst>
                                      </p:cBhvr>
                                      <p:to>
                                        <p:strVal val="visible"/>
                                      </p:to>
                                    </p:set>
                                    <p:anim calcmode="lin" valueType="num">
                                      <p:cBhvr>
                                        <p:cTn id="282" dur="500" fill="hold"/>
                                        <p:tgtEl>
                                          <p:spTgt spid="66"/>
                                        </p:tgtEl>
                                        <p:attrNameLst>
                                          <p:attrName>ppt_w</p:attrName>
                                        </p:attrNameLst>
                                      </p:cBhvr>
                                      <p:tavLst>
                                        <p:tav tm="0">
                                          <p:val>
                                            <p:fltVal val="0"/>
                                          </p:val>
                                        </p:tav>
                                        <p:tav tm="100000">
                                          <p:val>
                                            <p:strVal val="#ppt_w"/>
                                          </p:val>
                                        </p:tav>
                                      </p:tavLst>
                                    </p:anim>
                                    <p:anim calcmode="lin" valueType="num">
                                      <p:cBhvr>
                                        <p:cTn id="283" dur="500" fill="hold"/>
                                        <p:tgtEl>
                                          <p:spTgt spid="66"/>
                                        </p:tgtEl>
                                        <p:attrNameLst>
                                          <p:attrName>ppt_h</p:attrName>
                                        </p:attrNameLst>
                                      </p:cBhvr>
                                      <p:tavLst>
                                        <p:tav tm="0">
                                          <p:val>
                                            <p:fltVal val="0"/>
                                          </p:val>
                                        </p:tav>
                                        <p:tav tm="100000">
                                          <p:val>
                                            <p:strVal val="#ppt_h"/>
                                          </p:val>
                                        </p:tav>
                                      </p:tavLst>
                                    </p:anim>
                                    <p:animEffect transition="in" filter="fade">
                                      <p:cBhvr>
                                        <p:cTn id="284" dur="500"/>
                                        <p:tgtEl>
                                          <p:spTgt spid="66"/>
                                        </p:tgtEl>
                                      </p:cBhvr>
                                    </p:animEffect>
                                  </p:childTnLst>
                                </p:cTn>
                              </p:par>
                              <p:par>
                                <p:cTn id="285" presetID="6" presetClass="emph" presetSubtype="0" fill="hold" grpId="1" nodeType="withEffect">
                                  <p:stCondLst>
                                    <p:cond delay="7000"/>
                                  </p:stCondLst>
                                  <p:childTnLst>
                                    <p:animScale>
                                      <p:cBhvr>
                                        <p:cTn id="286" dur="750" fill="hold"/>
                                        <p:tgtEl>
                                          <p:spTgt spid="66"/>
                                        </p:tgtEl>
                                      </p:cBhvr>
                                      <p:by x="150000" y="150000"/>
                                    </p:animScale>
                                  </p:childTnLst>
                                </p:cTn>
                              </p:par>
                              <p:par>
                                <p:cTn id="287" presetID="10" presetClass="exit" presetSubtype="0" fill="hold" grpId="2" nodeType="withEffect">
                                  <p:stCondLst>
                                    <p:cond delay="7000"/>
                                  </p:stCondLst>
                                  <p:childTnLst>
                                    <p:animEffect transition="out" filter="fade">
                                      <p:cBhvr>
                                        <p:cTn id="288" dur="750"/>
                                        <p:tgtEl>
                                          <p:spTgt spid="66"/>
                                        </p:tgtEl>
                                      </p:cBhvr>
                                    </p:animEffect>
                                    <p:set>
                                      <p:cBhvr>
                                        <p:cTn id="289" dur="1" fill="hold">
                                          <p:stCondLst>
                                            <p:cond delay="749"/>
                                          </p:stCondLst>
                                        </p:cTn>
                                        <p:tgtEl>
                                          <p:spTgt spid="66"/>
                                        </p:tgtEl>
                                        <p:attrNameLst>
                                          <p:attrName>style.visibility</p:attrName>
                                        </p:attrNameLst>
                                      </p:cBhvr>
                                      <p:to>
                                        <p:strVal val="hidden"/>
                                      </p:to>
                                    </p:set>
                                  </p:childTnLst>
                                </p:cTn>
                              </p:par>
                            </p:childTnLst>
                          </p:cTn>
                        </p:par>
                        <p:par>
                          <p:cTn id="290" fill="hold">
                            <p:stCondLst>
                              <p:cond delay="8750"/>
                            </p:stCondLst>
                            <p:childTnLst>
                              <p:par>
                                <p:cTn id="291" presetID="42" presetClass="entr" presetSubtype="0" fill="hold" nodeType="afterEffect">
                                  <p:stCondLst>
                                    <p:cond delay="0"/>
                                  </p:stCondLst>
                                  <p:childTnLst>
                                    <p:set>
                                      <p:cBhvr>
                                        <p:cTn id="292" dur="1" fill="hold">
                                          <p:stCondLst>
                                            <p:cond delay="0"/>
                                          </p:stCondLst>
                                        </p:cTn>
                                        <p:tgtEl>
                                          <p:spTgt spid="10"/>
                                        </p:tgtEl>
                                        <p:attrNameLst>
                                          <p:attrName>style.visibility</p:attrName>
                                        </p:attrNameLst>
                                      </p:cBhvr>
                                      <p:to>
                                        <p:strVal val="visible"/>
                                      </p:to>
                                    </p:set>
                                    <p:animEffect transition="in" filter="fade">
                                      <p:cBhvr>
                                        <p:cTn id="293" dur="500"/>
                                        <p:tgtEl>
                                          <p:spTgt spid="10"/>
                                        </p:tgtEl>
                                      </p:cBhvr>
                                    </p:animEffect>
                                    <p:anim calcmode="lin" valueType="num">
                                      <p:cBhvr>
                                        <p:cTn id="294" dur="500" fill="hold"/>
                                        <p:tgtEl>
                                          <p:spTgt spid="10"/>
                                        </p:tgtEl>
                                        <p:attrNameLst>
                                          <p:attrName>ppt_x</p:attrName>
                                        </p:attrNameLst>
                                      </p:cBhvr>
                                      <p:tavLst>
                                        <p:tav tm="0">
                                          <p:val>
                                            <p:strVal val="#ppt_x"/>
                                          </p:val>
                                        </p:tav>
                                        <p:tav tm="100000">
                                          <p:val>
                                            <p:strVal val="#ppt_x"/>
                                          </p:val>
                                        </p:tav>
                                      </p:tavLst>
                                    </p:anim>
                                    <p:anim calcmode="lin" valueType="num">
                                      <p:cBhvr>
                                        <p:cTn id="295" dur="500" fill="hold"/>
                                        <p:tgtEl>
                                          <p:spTgt spid="10"/>
                                        </p:tgtEl>
                                        <p:attrNameLst>
                                          <p:attrName>ppt_y</p:attrName>
                                        </p:attrNameLst>
                                      </p:cBhvr>
                                      <p:tavLst>
                                        <p:tav tm="0">
                                          <p:val>
                                            <p:strVal val="#ppt_y+.1"/>
                                          </p:val>
                                        </p:tav>
                                        <p:tav tm="100000">
                                          <p:val>
                                            <p:strVal val="#ppt_y"/>
                                          </p:val>
                                        </p:tav>
                                      </p:tavLst>
                                    </p:anim>
                                  </p:childTnLst>
                                </p:cTn>
                              </p:par>
                              <p:par>
                                <p:cTn id="296" presetID="42" presetClass="entr" presetSubtype="0" fill="hold" nodeType="withEffect">
                                  <p:stCondLst>
                                    <p:cond delay="250"/>
                                  </p:stCondLst>
                                  <p:childTnLst>
                                    <p:set>
                                      <p:cBhvr>
                                        <p:cTn id="297" dur="1" fill="hold">
                                          <p:stCondLst>
                                            <p:cond delay="0"/>
                                          </p:stCondLst>
                                        </p:cTn>
                                        <p:tgtEl>
                                          <p:spTgt spid="8"/>
                                        </p:tgtEl>
                                        <p:attrNameLst>
                                          <p:attrName>style.visibility</p:attrName>
                                        </p:attrNameLst>
                                      </p:cBhvr>
                                      <p:to>
                                        <p:strVal val="visible"/>
                                      </p:to>
                                    </p:set>
                                    <p:animEffect transition="in" filter="fade">
                                      <p:cBhvr>
                                        <p:cTn id="298" dur="500"/>
                                        <p:tgtEl>
                                          <p:spTgt spid="8"/>
                                        </p:tgtEl>
                                      </p:cBhvr>
                                    </p:animEffect>
                                    <p:anim calcmode="lin" valueType="num">
                                      <p:cBhvr>
                                        <p:cTn id="299" dur="500" fill="hold"/>
                                        <p:tgtEl>
                                          <p:spTgt spid="8"/>
                                        </p:tgtEl>
                                        <p:attrNameLst>
                                          <p:attrName>ppt_x</p:attrName>
                                        </p:attrNameLst>
                                      </p:cBhvr>
                                      <p:tavLst>
                                        <p:tav tm="0">
                                          <p:val>
                                            <p:strVal val="#ppt_x"/>
                                          </p:val>
                                        </p:tav>
                                        <p:tav tm="100000">
                                          <p:val>
                                            <p:strVal val="#ppt_x"/>
                                          </p:val>
                                        </p:tav>
                                      </p:tavLst>
                                    </p:anim>
                                    <p:anim calcmode="lin" valueType="num">
                                      <p:cBhvr>
                                        <p:cTn id="300"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Chart bld="category"/>
        </p:bldSub>
      </p:bldGraphic>
      <p:bldP spid="9" grpId="0"/>
      <p:bldP spid="38" grpId="0" animBg="1"/>
      <p:bldP spid="38" grpId="1" animBg="1"/>
      <p:bldP spid="38" grpId="2" animBg="1"/>
      <p:bldP spid="40" grpId="0" animBg="1"/>
      <p:bldP spid="40" grpId="1" animBg="1"/>
      <p:bldP spid="40" grpId="2" animBg="1"/>
      <p:bldP spid="41" grpId="0" animBg="1"/>
      <p:bldP spid="41" grpId="1" animBg="1"/>
      <p:bldP spid="41" grpId="2" animBg="1"/>
      <p:bldP spid="42" grpId="0" animBg="1"/>
      <p:bldP spid="42" grpId="1" animBg="1"/>
      <p:bldP spid="42" grpId="2" animBg="1"/>
      <p:bldP spid="43" grpId="0" animBg="1"/>
      <p:bldP spid="43" grpId="1" animBg="1"/>
      <p:bldP spid="43" grpId="2" animBg="1"/>
      <p:bldP spid="44" grpId="0" animBg="1"/>
      <p:bldP spid="44" grpId="1" animBg="1"/>
      <p:bldP spid="44" grpId="2" animBg="1"/>
      <p:bldP spid="47" grpId="0" animBg="1"/>
      <p:bldP spid="47" grpId="1" animBg="1"/>
      <p:bldP spid="47" grpId="2" animBg="1"/>
      <p:bldP spid="48" grpId="0" animBg="1"/>
      <p:bldP spid="48" grpId="1" animBg="1"/>
      <p:bldP spid="48" grpId="2" animBg="1"/>
      <p:bldP spid="49" grpId="0" animBg="1"/>
      <p:bldP spid="49" grpId="1" animBg="1"/>
      <p:bldP spid="49" grpId="2" animBg="1"/>
      <p:bldP spid="50" grpId="0" animBg="1"/>
      <p:bldP spid="50" grpId="1" animBg="1"/>
      <p:bldP spid="50" grpId="2" animBg="1"/>
      <p:bldP spid="51" grpId="0" animBg="1"/>
      <p:bldP spid="51" grpId="1" animBg="1"/>
      <p:bldP spid="51" grpId="2" animBg="1"/>
      <p:bldP spid="52" grpId="0" animBg="1"/>
      <p:bldP spid="52" grpId="1" animBg="1"/>
      <p:bldP spid="52" grpId="2" animBg="1"/>
      <p:bldP spid="53" grpId="0" animBg="1"/>
      <p:bldP spid="53" grpId="1" animBg="1"/>
      <p:bldP spid="53" grpId="2" animBg="1"/>
      <p:bldP spid="54" grpId="0" animBg="1"/>
      <p:bldP spid="54" grpId="1" animBg="1"/>
      <p:bldP spid="54" grpId="2" animBg="1"/>
      <p:bldP spid="55" grpId="0" animBg="1"/>
      <p:bldP spid="55" grpId="1" animBg="1"/>
      <p:bldP spid="55" grpId="2" animBg="1"/>
      <p:bldP spid="56" grpId="0" animBg="1"/>
      <p:bldP spid="56" grpId="1" animBg="1"/>
      <p:bldP spid="56" grpId="2" animBg="1"/>
      <p:bldP spid="59" grpId="0" animBg="1"/>
      <p:bldP spid="59" grpId="1" animBg="1"/>
      <p:bldP spid="59" grpId="2" animBg="1"/>
      <p:bldP spid="60" grpId="0" animBg="1"/>
      <p:bldP spid="60" grpId="1" animBg="1"/>
      <p:bldP spid="60" grpId="2" animBg="1"/>
      <p:bldP spid="61" grpId="0" animBg="1"/>
      <p:bldP spid="61" grpId="1" animBg="1"/>
      <p:bldP spid="61" grpId="2" animBg="1"/>
      <p:bldP spid="62" grpId="0" animBg="1"/>
      <p:bldP spid="62" grpId="1" animBg="1"/>
      <p:bldP spid="62" grpId="2" animBg="1"/>
      <p:bldP spid="63" grpId="0" animBg="1"/>
      <p:bldP spid="63" grpId="1" animBg="1"/>
      <p:bldP spid="63" grpId="2" animBg="1"/>
      <p:bldP spid="64" grpId="0" animBg="1"/>
      <p:bldP spid="64" grpId="1" animBg="1"/>
      <p:bldP spid="64" grpId="2" animBg="1"/>
      <p:bldP spid="65" grpId="0" animBg="1"/>
      <p:bldP spid="65" grpId="1" animBg="1"/>
      <p:bldP spid="65" grpId="2" animBg="1"/>
      <p:bldP spid="66" grpId="0" animBg="1"/>
      <p:bldP spid="66" grpId="1" animBg="1"/>
      <p:bldP spid="66" grpId="2"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10" name="内容占位符 2"/>
          <p:cNvSpPr txBox="1">
            <a:spLocks/>
          </p:cNvSpPr>
          <p:nvPr/>
        </p:nvSpPr>
        <p:spPr>
          <a:xfrm>
            <a:off x="5951219" y="0"/>
            <a:ext cx="2405084" cy="5715000"/>
          </a:xfrm>
          <a:prstGeom prst="rect">
            <a:avLst/>
          </a:prstGeom>
          <a:solidFill>
            <a:schemeClr val="accent2">
              <a:alpha val="70000"/>
            </a:schemeClr>
          </a:solidFill>
          <a:ln w="44450">
            <a:noFill/>
            <a:prstDash val="dash"/>
          </a:ln>
          <a:effectLst/>
        </p:spPr>
        <p:txBody>
          <a:bodyPr vert="horz" lIns="180000" tIns="45720" rIns="180000" bIns="45720" rtlCol="0" anchor="ct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50000"/>
              </a:lnSpc>
              <a:buNone/>
            </a:pPr>
            <a:r>
              <a:rPr lang="zh-CN" altLang="en-US" sz="1600" b="1" dirty="0">
                <a:solidFill>
                  <a:schemeClr val="bg1"/>
                </a:solidFill>
                <a:effectLst>
                  <a:outerShdw blurRad="38100" dist="38100" dir="2700000" algn="tl">
                    <a:srgbClr val="000000">
                      <a:alpha val="43137"/>
                    </a:srgbClr>
                  </a:outerShdw>
                </a:effectLst>
                <a:latin typeface="+mj-ea"/>
                <a:ea typeface="+mj-ea"/>
              </a:rPr>
              <a:t>微信已成为社交媒体客户服务主要的载体，通过它企业将产品、内容、沟通融合在一 起，让客户服务与客户营销相伴相生。微信作为企业客户服务渠道之一将成为口碑营 销时代的一把利器。</a:t>
            </a:r>
          </a:p>
        </p:txBody>
      </p:sp>
      <p:sp>
        <p:nvSpPr>
          <p:cNvPr id="11" name="等腰三角形 10"/>
          <p:cNvSpPr/>
          <p:nvPr/>
        </p:nvSpPr>
        <p:spPr>
          <a:xfrm flipV="1">
            <a:off x="7012577" y="5081783"/>
            <a:ext cx="282368" cy="12224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题 1"/>
          <p:cNvSpPr txBox="1">
            <a:spLocks/>
          </p:cNvSpPr>
          <p:nvPr/>
        </p:nvSpPr>
        <p:spPr>
          <a:xfrm>
            <a:off x="115747" y="4326152"/>
            <a:ext cx="5680954" cy="1388848"/>
          </a:xfrm>
          <a:prstGeom prst="rect">
            <a:avLst/>
          </a:prstGeom>
          <a:noFill/>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zh-CN" altLang="en-US" sz="4000" b="1" i="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社交媒体客户服务总结</a:t>
            </a:r>
          </a:p>
        </p:txBody>
      </p:sp>
    </p:spTree>
    <p:extLst>
      <p:ext uri="{BB962C8B-B14F-4D97-AF65-F5344CB8AC3E}">
        <p14:creationId xmlns:p14="http://schemas.microsoft.com/office/powerpoint/2010/main" val="3193544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离页连接符 4"/>
          <p:cNvSpPr/>
          <p:nvPr/>
        </p:nvSpPr>
        <p:spPr>
          <a:xfrm>
            <a:off x="466887" y="0"/>
            <a:ext cx="1855838" cy="3034650"/>
          </a:xfrm>
          <a:prstGeom prst="flowChartOffpageConnector">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lnSpc>
                <a:spcPct val="150000"/>
              </a:lnSpc>
            </a:pPr>
            <a:endParaRPr lang="en-US" altLang="zh-CN" sz="2000" b="1" dirty="0">
              <a:solidFill>
                <a:schemeClr val="tx2">
                  <a:lumMod val="75000"/>
                </a:schemeClr>
              </a:solidFill>
              <a:latin typeface="微软雅黑" panose="020B0503020204020204" pitchFamily="34" charset="-122"/>
              <a:ea typeface="微软雅黑" panose="020B0503020204020204" pitchFamily="34" charset="-122"/>
            </a:endParaRPr>
          </a:p>
        </p:txBody>
      </p:sp>
      <p:sp>
        <p:nvSpPr>
          <p:cNvPr id="11" name="矩形 10"/>
          <p:cNvSpPr/>
          <p:nvPr/>
        </p:nvSpPr>
        <p:spPr>
          <a:xfrm>
            <a:off x="466888" y="6563"/>
            <a:ext cx="1855838" cy="29406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2908454" y="1517325"/>
            <a:ext cx="5585550" cy="3260993"/>
          </a:xfrm>
          <a:prstGeom prst="rect">
            <a:avLst/>
          </a:prstGeom>
          <a:noFill/>
        </p:spPr>
        <p:txBody>
          <a:bodyPr wrap="square" rtlCol="0">
            <a:prstTxWarp prst="textPlain">
              <a:avLst/>
            </a:prstTxWarp>
            <a:spAutoFit/>
          </a:bodyPr>
          <a:lstStyle/>
          <a:p>
            <a:r>
              <a:rPr lang="en-US" altLang="zh-CN" b="1" dirty="0">
                <a:blipFill dpi="0" rotWithShape="1">
                  <a:blip r:embed="rId2"/>
                  <a:srcRect/>
                  <a:stretch>
                    <a:fillRect/>
                  </a:stretch>
                </a:blipFill>
                <a:effectLst>
                  <a:outerShdw blurRad="50800" dist="38100" dir="2700000" algn="tl" rotWithShape="0">
                    <a:prstClr val="black">
                      <a:alpha val="40000"/>
                    </a:prstClr>
                  </a:outerShdw>
                </a:effectLst>
                <a:latin typeface="Microsoft JhengHei" panose="020B0604030504040204" pitchFamily="34" charset="-120"/>
                <a:ea typeface="Microsoft JhengHei" panose="020B0604030504040204" pitchFamily="34" charset="-120"/>
              </a:rPr>
              <a:t>——————————————</a:t>
            </a:r>
            <a:endParaRPr lang="zh-CN" altLang="en-US" b="1" dirty="0">
              <a:blipFill dpi="0" rotWithShape="1">
                <a:blip r:embed="rId2"/>
                <a:srcRect/>
                <a:stretch>
                  <a:fillRect/>
                </a:stretch>
              </a:blipFill>
              <a:effectLst>
                <a:outerShdw blurRad="50800" dist="38100" dir="2700000" algn="tl" rotWithShape="0">
                  <a:prstClr val="black">
                    <a:alpha val="40000"/>
                  </a:prstClr>
                </a:outerShdw>
              </a:effectLst>
              <a:latin typeface="Microsoft JhengHei" panose="020B0604030504040204" pitchFamily="34" charset="-120"/>
              <a:ea typeface="Microsoft JhengHei" panose="020B0604030504040204" pitchFamily="34" charset="-120"/>
            </a:endParaRPr>
          </a:p>
        </p:txBody>
      </p:sp>
      <p:sp>
        <p:nvSpPr>
          <p:cNvPr id="10" name="文本框 9"/>
          <p:cNvSpPr txBox="1"/>
          <p:nvPr/>
        </p:nvSpPr>
        <p:spPr>
          <a:xfrm>
            <a:off x="1086402" y="409329"/>
            <a:ext cx="936434" cy="1107996"/>
          </a:xfrm>
          <a:prstGeom prst="rect">
            <a:avLst/>
          </a:prstGeom>
          <a:noFill/>
        </p:spPr>
        <p:txBody>
          <a:bodyPr wrap="square" rtlCol="0">
            <a:spAutoFit/>
          </a:bodyPr>
          <a:lstStyle/>
          <a:p>
            <a:r>
              <a:rPr lang="en-US" altLang="zh-CN" sz="6600" dirty="0">
                <a:solidFill>
                  <a:schemeClr val="accent1">
                    <a:lumMod val="60000"/>
                    <a:lumOff val="40000"/>
                  </a:schemeClr>
                </a:solidFill>
                <a:latin typeface="+mn-ea"/>
              </a:rPr>
              <a:t>4</a:t>
            </a:r>
            <a:endParaRPr lang="zh-CN" altLang="en-US" sz="6600" dirty="0">
              <a:solidFill>
                <a:schemeClr val="accent1">
                  <a:lumMod val="60000"/>
                  <a:lumOff val="40000"/>
                </a:schemeClr>
              </a:solidFill>
              <a:latin typeface="+mn-ea"/>
            </a:endParaRPr>
          </a:p>
        </p:txBody>
      </p:sp>
      <p:sp>
        <p:nvSpPr>
          <p:cNvPr id="23" name="矩形 22"/>
          <p:cNvSpPr/>
          <p:nvPr/>
        </p:nvSpPr>
        <p:spPr>
          <a:xfrm>
            <a:off x="2908455" y="1123720"/>
            <a:ext cx="5585549" cy="393605"/>
          </a:xfrm>
          <a:prstGeom prst="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466887" y="-1"/>
            <a:ext cx="1855838" cy="294061"/>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a:cxnSpLocks/>
          </p:cNvCxnSpPr>
          <p:nvPr/>
        </p:nvCxnSpPr>
        <p:spPr>
          <a:xfrm>
            <a:off x="466887" y="1408204"/>
            <a:ext cx="1855838"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矩形 1"/>
          <p:cNvSpPr/>
          <p:nvPr/>
        </p:nvSpPr>
        <p:spPr>
          <a:xfrm>
            <a:off x="681905" y="1401640"/>
            <a:ext cx="1425802" cy="1338828"/>
          </a:xfrm>
          <a:prstGeom prst="rect">
            <a:avLst/>
          </a:prstGeom>
        </p:spPr>
        <p:txBody>
          <a:bodyPr wrap="square">
            <a:spAutoFit/>
          </a:bodyPr>
          <a:lstStyle/>
          <a:p>
            <a:pPr algn="ctr">
              <a:lnSpc>
                <a:spcPct val="15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自助服务</a:t>
            </a:r>
            <a:endParaRPr lang="en-US" altLang="zh-CN"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更好地节省客服成本</a:t>
            </a:r>
            <a:endParaRPr lang="en-US" altLang="zh-CN"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60" name="组合 59"/>
          <p:cNvGrpSpPr/>
          <p:nvPr/>
        </p:nvGrpSpPr>
        <p:grpSpPr>
          <a:xfrm>
            <a:off x="7264097" y="4949496"/>
            <a:ext cx="1023255" cy="648772"/>
            <a:chOff x="1419243" y="4456566"/>
            <a:chExt cx="1731363" cy="1097733"/>
          </a:xfrm>
          <a:solidFill>
            <a:schemeClr val="tx1">
              <a:lumMod val="75000"/>
              <a:lumOff val="25000"/>
            </a:schemeClr>
          </a:solidFill>
          <a:effectLst>
            <a:outerShdw blurRad="63500" sx="102000" sy="102000" algn="ctr" rotWithShape="0">
              <a:prstClr val="black">
                <a:alpha val="40000"/>
              </a:prstClr>
            </a:outerShdw>
          </a:effectLst>
        </p:grpSpPr>
        <p:sp>
          <p:nvSpPr>
            <p:cNvPr id="61" name="椭圆 60"/>
            <p:cNvSpPr/>
            <p:nvPr/>
          </p:nvSpPr>
          <p:spPr>
            <a:xfrm>
              <a:off x="1865015" y="4925084"/>
              <a:ext cx="153909" cy="153909"/>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p:nvPr/>
          </p:nvSpPr>
          <p:spPr>
            <a:xfrm>
              <a:off x="2087730"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p:nvPr/>
          </p:nvSpPr>
          <p:spPr>
            <a:xfrm>
              <a:off x="2310445" y="4925084"/>
              <a:ext cx="153909" cy="15390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a:off x="2533160"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a:off x="2755875" y="4925084"/>
              <a:ext cx="153909" cy="15390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2996697"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a:off x="2865422" y="4766648"/>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p:nvSpPr>
          <p:spPr>
            <a:xfrm>
              <a:off x="2736411" y="4610475"/>
              <a:ext cx="153909" cy="153909"/>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p:nvSpPr>
          <p:spPr>
            <a:xfrm>
              <a:off x="2865422" y="50857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a:off x="2736411" y="5251011"/>
              <a:ext cx="153909" cy="15390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2601966" y="4456566"/>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2601966" y="5400390"/>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a:off x="1644563"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1419243"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5" name="椭圆 74"/>
          <p:cNvSpPr/>
          <p:nvPr/>
        </p:nvSpPr>
        <p:spPr>
          <a:xfrm>
            <a:off x="2908454" y="669032"/>
            <a:ext cx="129209" cy="12920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a:off x="3149457" y="669032"/>
            <a:ext cx="129209" cy="129209"/>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nvSpPr>
        <p:spPr>
          <a:xfrm>
            <a:off x="3390460" y="665816"/>
            <a:ext cx="129209" cy="12920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nvSpPr>
        <p:spPr>
          <a:xfrm>
            <a:off x="3631463" y="665816"/>
            <a:ext cx="129209" cy="129209"/>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9" name="椭圆 78"/>
          <p:cNvSpPr/>
          <p:nvPr/>
        </p:nvSpPr>
        <p:spPr>
          <a:xfrm>
            <a:off x="3872466" y="665815"/>
            <a:ext cx="129209" cy="129209"/>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89533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1000"/>
                                        <p:tgtEl>
                                          <p:spTgt spid="5"/>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par>
                          <p:cTn id="12" fill="hold">
                            <p:stCondLst>
                              <p:cond delay="1500"/>
                            </p:stCondLst>
                            <p:childTnLst>
                              <p:par>
                                <p:cTn id="13" presetID="17" presetClass="entr" presetSubtype="8" fill="hold" grpId="0" nodeType="afterEffect">
                                  <p:stCondLst>
                                    <p:cond delay="0"/>
                                  </p:stCondLst>
                                  <p:childTnLst>
                                    <p:set>
                                      <p:cBhvr>
                                        <p:cTn id="14" dur="1" fill="hold">
                                          <p:stCondLst>
                                            <p:cond delay="0"/>
                                          </p:stCondLst>
                                        </p:cTn>
                                        <p:tgtEl>
                                          <p:spTgt spid="45"/>
                                        </p:tgtEl>
                                        <p:attrNameLst>
                                          <p:attrName>style.visibility</p:attrName>
                                        </p:attrNameLst>
                                      </p:cBhvr>
                                      <p:to>
                                        <p:strVal val="visible"/>
                                      </p:to>
                                    </p:set>
                                    <p:anim calcmode="lin" valueType="num">
                                      <p:cBhvr>
                                        <p:cTn id="15" dur="750" fill="hold"/>
                                        <p:tgtEl>
                                          <p:spTgt spid="45"/>
                                        </p:tgtEl>
                                        <p:attrNameLst>
                                          <p:attrName>ppt_x</p:attrName>
                                        </p:attrNameLst>
                                      </p:cBhvr>
                                      <p:tavLst>
                                        <p:tav tm="0">
                                          <p:val>
                                            <p:strVal val="#ppt_x-#ppt_w/2"/>
                                          </p:val>
                                        </p:tav>
                                        <p:tav tm="100000">
                                          <p:val>
                                            <p:strVal val="#ppt_x"/>
                                          </p:val>
                                        </p:tav>
                                      </p:tavLst>
                                    </p:anim>
                                    <p:anim calcmode="lin" valueType="num">
                                      <p:cBhvr>
                                        <p:cTn id="16" dur="750" fill="hold"/>
                                        <p:tgtEl>
                                          <p:spTgt spid="45"/>
                                        </p:tgtEl>
                                        <p:attrNameLst>
                                          <p:attrName>ppt_y</p:attrName>
                                        </p:attrNameLst>
                                      </p:cBhvr>
                                      <p:tavLst>
                                        <p:tav tm="0">
                                          <p:val>
                                            <p:strVal val="#ppt_y"/>
                                          </p:val>
                                        </p:tav>
                                        <p:tav tm="100000">
                                          <p:val>
                                            <p:strVal val="#ppt_y"/>
                                          </p:val>
                                        </p:tav>
                                      </p:tavLst>
                                    </p:anim>
                                    <p:anim calcmode="lin" valueType="num">
                                      <p:cBhvr>
                                        <p:cTn id="17" dur="750" fill="hold"/>
                                        <p:tgtEl>
                                          <p:spTgt spid="45"/>
                                        </p:tgtEl>
                                        <p:attrNameLst>
                                          <p:attrName>ppt_w</p:attrName>
                                        </p:attrNameLst>
                                      </p:cBhvr>
                                      <p:tavLst>
                                        <p:tav tm="0">
                                          <p:val>
                                            <p:fltVal val="0"/>
                                          </p:val>
                                        </p:tav>
                                        <p:tav tm="100000">
                                          <p:val>
                                            <p:strVal val="#ppt_w"/>
                                          </p:val>
                                        </p:tav>
                                      </p:tavLst>
                                    </p:anim>
                                    <p:anim calcmode="lin" valueType="num">
                                      <p:cBhvr>
                                        <p:cTn id="18" dur="750" fill="hold"/>
                                        <p:tgtEl>
                                          <p:spTgt spid="45"/>
                                        </p:tgtEl>
                                        <p:attrNameLst>
                                          <p:attrName>ppt_h</p:attrName>
                                        </p:attrNameLst>
                                      </p:cBhvr>
                                      <p:tavLst>
                                        <p:tav tm="0">
                                          <p:val>
                                            <p:strVal val="#ppt_h"/>
                                          </p:val>
                                        </p:tav>
                                        <p:tav tm="100000">
                                          <p:val>
                                            <p:strVal val="#ppt_h"/>
                                          </p:val>
                                        </p:tav>
                                      </p:tavLst>
                                    </p:anim>
                                  </p:childTnLst>
                                </p:cTn>
                              </p:par>
                            </p:childTnLst>
                          </p:cTn>
                        </p:par>
                        <p:par>
                          <p:cTn id="19" fill="hold">
                            <p:stCondLst>
                              <p:cond delay="2250"/>
                            </p:stCondLst>
                            <p:childTnLst>
                              <p:par>
                                <p:cTn id="20" presetID="10" presetClass="entr" presetSubtype="0" fill="hold"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p:cTn id="25" dur="1000" fill="hold"/>
                                        <p:tgtEl>
                                          <p:spTgt spid="10"/>
                                        </p:tgtEl>
                                        <p:attrNameLst>
                                          <p:attrName>ppt_w</p:attrName>
                                        </p:attrNameLst>
                                      </p:cBhvr>
                                      <p:tavLst>
                                        <p:tav tm="0">
                                          <p:val>
                                            <p:fltVal val="0"/>
                                          </p:val>
                                        </p:tav>
                                        <p:tav tm="100000">
                                          <p:val>
                                            <p:strVal val="#ppt_w"/>
                                          </p:val>
                                        </p:tav>
                                      </p:tavLst>
                                    </p:anim>
                                    <p:anim calcmode="lin" valueType="num">
                                      <p:cBhvr>
                                        <p:cTn id="26" dur="1000" fill="hold"/>
                                        <p:tgtEl>
                                          <p:spTgt spid="10"/>
                                        </p:tgtEl>
                                        <p:attrNameLst>
                                          <p:attrName>ppt_h</p:attrName>
                                        </p:attrNameLst>
                                      </p:cBhvr>
                                      <p:tavLst>
                                        <p:tav tm="0">
                                          <p:val>
                                            <p:fltVal val="0"/>
                                          </p:val>
                                        </p:tav>
                                        <p:tav tm="100000">
                                          <p:val>
                                            <p:strVal val="#ppt_h"/>
                                          </p:val>
                                        </p:tav>
                                      </p:tavLst>
                                    </p:anim>
                                    <p:animEffect transition="in" filter="fade">
                                      <p:cBhvr>
                                        <p:cTn id="27" dur="1000"/>
                                        <p:tgtEl>
                                          <p:spTgt spid="10"/>
                                        </p:tgtEl>
                                      </p:cBhvr>
                                    </p:animEffect>
                                  </p:childTnLst>
                                </p:cTn>
                              </p:par>
                              <p:par>
                                <p:cTn id="28" presetID="42" presetClass="entr" presetSubtype="0" fill="hold" grpId="0" nodeType="with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fade">
                                      <p:cBhvr>
                                        <p:cTn id="30" dur="1000"/>
                                        <p:tgtEl>
                                          <p:spTgt spid="2"/>
                                        </p:tgtEl>
                                      </p:cBhvr>
                                    </p:animEffect>
                                    <p:anim calcmode="lin" valueType="num">
                                      <p:cBhvr>
                                        <p:cTn id="31" dur="1000" fill="hold"/>
                                        <p:tgtEl>
                                          <p:spTgt spid="2"/>
                                        </p:tgtEl>
                                        <p:attrNameLst>
                                          <p:attrName>ppt_x</p:attrName>
                                        </p:attrNameLst>
                                      </p:cBhvr>
                                      <p:tavLst>
                                        <p:tav tm="0">
                                          <p:val>
                                            <p:strVal val="#ppt_x"/>
                                          </p:val>
                                        </p:tav>
                                        <p:tav tm="100000">
                                          <p:val>
                                            <p:strVal val="#ppt_x"/>
                                          </p:val>
                                        </p:tav>
                                      </p:tavLst>
                                    </p:anim>
                                    <p:anim calcmode="lin" valueType="num">
                                      <p:cBhvr>
                                        <p:cTn id="32" dur="1000" fill="hold"/>
                                        <p:tgtEl>
                                          <p:spTgt spid="2"/>
                                        </p:tgtEl>
                                        <p:attrNameLst>
                                          <p:attrName>ppt_y</p:attrName>
                                        </p:attrNameLst>
                                      </p:cBhvr>
                                      <p:tavLst>
                                        <p:tav tm="0">
                                          <p:val>
                                            <p:strVal val="#ppt_y+.1"/>
                                          </p:val>
                                        </p:tav>
                                        <p:tav tm="100000">
                                          <p:val>
                                            <p:strVal val="#ppt_y"/>
                                          </p:val>
                                        </p:tav>
                                      </p:tavLst>
                                    </p:anim>
                                  </p:childTnLst>
                                </p:cTn>
                              </p:par>
                              <p:par>
                                <p:cTn id="33" presetID="47" presetClass="entr" presetSubtype="0" fill="hold" grpId="0" nodeType="withEffect">
                                  <p:stCondLst>
                                    <p:cond delay="100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1000"/>
                                        <p:tgtEl>
                                          <p:spTgt spid="23"/>
                                        </p:tgtEl>
                                      </p:cBhvr>
                                    </p:animEffect>
                                    <p:anim calcmode="lin" valueType="num">
                                      <p:cBhvr>
                                        <p:cTn id="36" dur="1000" fill="hold"/>
                                        <p:tgtEl>
                                          <p:spTgt spid="23"/>
                                        </p:tgtEl>
                                        <p:attrNameLst>
                                          <p:attrName>ppt_x</p:attrName>
                                        </p:attrNameLst>
                                      </p:cBhvr>
                                      <p:tavLst>
                                        <p:tav tm="0">
                                          <p:val>
                                            <p:strVal val="#ppt_x"/>
                                          </p:val>
                                        </p:tav>
                                        <p:tav tm="100000">
                                          <p:val>
                                            <p:strVal val="#ppt_x"/>
                                          </p:val>
                                        </p:tav>
                                      </p:tavLst>
                                    </p:anim>
                                    <p:anim calcmode="lin" valueType="num">
                                      <p:cBhvr>
                                        <p:cTn id="37" dur="1000" fill="hold"/>
                                        <p:tgtEl>
                                          <p:spTgt spid="23"/>
                                        </p:tgtEl>
                                        <p:attrNameLst>
                                          <p:attrName>ppt_y</p:attrName>
                                        </p:attrNameLst>
                                      </p:cBhvr>
                                      <p:tavLst>
                                        <p:tav tm="0">
                                          <p:val>
                                            <p:strVal val="#ppt_y-.1"/>
                                          </p:val>
                                        </p:tav>
                                        <p:tav tm="100000">
                                          <p:val>
                                            <p:strVal val="#ppt_y"/>
                                          </p:val>
                                        </p:tav>
                                      </p:tavLst>
                                    </p:anim>
                                  </p:childTnLst>
                                </p:cTn>
                              </p:par>
                              <p:par>
                                <p:cTn id="38" presetID="53" presetClass="entr" presetSubtype="16" fill="hold" grpId="0" nodeType="withEffect">
                                  <p:stCondLst>
                                    <p:cond delay="1000"/>
                                  </p:stCondLst>
                                  <p:iterate type="lt">
                                    <p:tmPct val="10000"/>
                                  </p:iterate>
                                  <p:childTnLst>
                                    <p:set>
                                      <p:cBhvr>
                                        <p:cTn id="39" dur="1" fill="hold">
                                          <p:stCondLst>
                                            <p:cond delay="0"/>
                                          </p:stCondLst>
                                        </p:cTn>
                                        <p:tgtEl>
                                          <p:spTgt spid="15">
                                            <p:txEl>
                                              <p:pRg st="0" end="0"/>
                                            </p:txEl>
                                          </p:spTgt>
                                        </p:tgtEl>
                                        <p:attrNameLst>
                                          <p:attrName>style.visibility</p:attrName>
                                        </p:attrNameLst>
                                      </p:cBhvr>
                                      <p:to>
                                        <p:strVal val="visible"/>
                                      </p:to>
                                    </p:set>
                                    <p:anim calcmode="lin" valueType="num">
                                      <p:cBhvr>
                                        <p:cTn id="40" dur="1000" fill="hold"/>
                                        <p:tgtEl>
                                          <p:spTgt spid="15">
                                            <p:txEl>
                                              <p:pRg st="0" end="0"/>
                                            </p:txEl>
                                          </p:spTgt>
                                        </p:tgtEl>
                                        <p:attrNameLst>
                                          <p:attrName>ppt_w</p:attrName>
                                        </p:attrNameLst>
                                      </p:cBhvr>
                                      <p:tavLst>
                                        <p:tav tm="0">
                                          <p:val>
                                            <p:fltVal val="0"/>
                                          </p:val>
                                        </p:tav>
                                        <p:tav tm="100000">
                                          <p:val>
                                            <p:strVal val="#ppt_w"/>
                                          </p:val>
                                        </p:tav>
                                      </p:tavLst>
                                    </p:anim>
                                    <p:anim calcmode="lin" valueType="num">
                                      <p:cBhvr>
                                        <p:cTn id="41" dur="1000" fill="hold"/>
                                        <p:tgtEl>
                                          <p:spTgt spid="15">
                                            <p:txEl>
                                              <p:pRg st="0" end="0"/>
                                            </p:txEl>
                                          </p:spTgt>
                                        </p:tgtEl>
                                        <p:attrNameLst>
                                          <p:attrName>ppt_h</p:attrName>
                                        </p:attrNameLst>
                                      </p:cBhvr>
                                      <p:tavLst>
                                        <p:tav tm="0">
                                          <p:val>
                                            <p:fltVal val="0"/>
                                          </p:val>
                                        </p:tav>
                                        <p:tav tm="100000">
                                          <p:val>
                                            <p:strVal val="#ppt_h"/>
                                          </p:val>
                                        </p:tav>
                                      </p:tavLst>
                                    </p:anim>
                                    <p:animEffect transition="in" filter="fade">
                                      <p:cBhvr>
                                        <p:cTn id="42" dur="1000"/>
                                        <p:tgtEl>
                                          <p:spTgt spid="15">
                                            <p:txEl>
                                              <p:pRg st="0" end="0"/>
                                            </p:txEl>
                                          </p:spTgt>
                                        </p:tgtEl>
                                      </p:cBhvr>
                                    </p:animEffect>
                                  </p:childTnLst>
                                </p:cTn>
                              </p:par>
                              <p:par>
                                <p:cTn id="43" presetID="10" presetClass="entr" presetSubtype="0" fill="hold" nodeType="withEffect">
                                  <p:stCondLst>
                                    <p:cond delay="3000"/>
                                  </p:stCondLst>
                                  <p:childTnLst>
                                    <p:set>
                                      <p:cBhvr>
                                        <p:cTn id="44" dur="1" fill="hold">
                                          <p:stCondLst>
                                            <p:cond delay="0"/>
                                          </p:stCondLst>
                                        </p:cTn>
                                        <p:tgtEl>
                                          <p:spTgt spid="60"/>
                                        </p:tgtEl>
                                        <p:attrNameLst>
                                          <p:attrName>style.visibility</p:attrName>
                                        </p:attrNameLst>
                                      </p:cBhvr>
                                      <p:to>
                                        <p:strVal val="visible"/>
                                      </p:to>
                                    </p:set>
                                    <p:animEffect transition="in" filter="fade">
                                      <p:cBhvr>
                                        <p:cTn id="45" dur="500"/>
                                        <p:tgtEl>
                                          <p:spTgt spid="60"/>
                                        </p:tgtEl>
                                      </p:cBhvr>
                                    </p:animEffect>
                                  </p:childTnLst>
                                </p:cTn>
                              </p:par>
                              <p:par>
                                <p:cTn id="46" presetID="42" presetClass="path" presetSubtype="0" repeatCount="indefinite" accel="50000" decel="50000" autoRev="1" fill="hold" nodeType="withEffect">
                                  <p:stCondLst>
                                    <p:cond delay="3250"/>
                                  </p:stCondLst>
                                  <p:childTnLst>
                                    <p:animMotion origin="layout" path="M 2.77778E-6 -2.22222E-6 L 0.06614 0.00334 " pathEditMode="relative" rAng="0" ptsTypes="AA">
                                      <p:cBhvr>
                                        <p:cTn id="47" dur="750" fill="hold"/>
                                        <p:tgtEl>
                                          <p:spTgt spid="60"/>
                                        </p:tgtEl>
                                        <p:attrNameLst>
                                          <p:attrName>ppt_x</p:attrName>
                                          <p:attrName>ppt_y</p:attrName>
                                        </p:attrNameLst>
                                      </p:cBhvr>
                                      <p:rCtr x="3299" y="167"/>
                                    </p:animMotion>
                                  </p:childTnLst>
                                </p:cTn>
                              </p:par>
                              <p:par>
                                <p:cTn id="48" presetID="2" presetClass="entr" presetSubtype="1" fill="hold" grpId="0" nodeType="withEffect">
                                  <p:stCondLst>
                                    <p:cond delay="0"/>
                                  </p:stCondLst>
                                  <p:childTnLst>
                                    <p:set>
                                      <p:cBhvr>
                                        <p:cTn id="49" dur="1" fill="hold">
                                          <p:stCondLst>
                                            <p:cond delay="0"/>
                                          </p:stCondLst>
                                        </p:cTn>
                                        <p:tgtEl>
                                          <p:spTgt spid="75"/>
                                        </p:tgtEl>
                                        <p:attrNameLst>
                                          <p:attrName>style.visibility</p:attrName>
                                        </p:attrNameLst>
                                      </p:cBhvr>
                                      <p:to>
                                        <p:strVal val="visible"/>
                                      </p:to>
                                    </p:set>
                                    <p:anim calcmode="lin" valueType="num">
                                      <p:cBhvr additive="base">
                                        <p:cTn id="50" dur="750" fill="hold"/>
                                        <p:tgtEl>
                                          <p:spTgt spid="75"/>
                                        </p:tgtEl>
                                        <p:attrNameLst>
                                          <p:attrName>ppt_x</p:attrName>
                                        </p:attrNameLst>
                                      </p:cBhvr>
                                      <p:tavLst>
                                        <p:tav tm="0">
                                          <p:val>
                                            <p:strVal val="#ppt_x"/>
                                          </p:val>
                                        </p:tav>
                                        <p:tav tm="100000">
                                          <p:val>
                                            <p:strVal val="#ppt_x"/>
                                          </p:val>
                                        </p:tav>
                                      </p:tavLst>
                                    </p:anim>
                                    <p:anim calcmode="lin" valueType="num">
                                      <p:cBhvr additive="base">
                                        <p:cTn id="51" dur="750" fill="hold"/>
                                        <p:tgtEl>
                                          <p:spTgt spid="75"/>
                                        </p:tgtEl>
                                        <p:attrNameLst>
                                          <p:attrName>ppt_y</p:attrName>
                                        </p:attrNameLst>
                                      </p:cBhvr>
                                      <p:tavLst>
                                        <p:tav tm="0">
                                          <p:val>
                                            <p:strVal val="0-#ppt_h/2"/>
                                          </p:val>
                                        </p:tav>
                                        <p:tav tm="100000">
                                          <p:val>
                                            <p:strVal val="#ppt_y"/>
                                          </p:val>
                                        </p:tav>
                                      </p:tavLst>
                                    </p:anim>
                                  </p:childTnLst>
                                </p:cTn>
                              </p:par>
                              <p:par>
                                <p:cTn id="52" presetID="2" presetClass="entr" presetSubtype="1" fill="hold" grpId="0" nodeType="withEffect">
                                  <p:stCondLst>
                                    <p:cond delay="250"/>
                                  </p:stCondLst>
                                  <p:childTnLst>
                                    <p:set>
                                      <p:cBhvr>
                                        <p:cTn id="53" dur="1" fill="hold">
                                          <p:stCondLst>
                                            <p:cond delay="0"/>
                                          </p:stCondLst>
                                        </p:cTn>
                                        <p:tgtEl>
                                          <p:spTgt spid="76"/>
                                        </p:tgtEl>
                                        <p:attrNameLst>
                                          <p:attrName>style.visibility</p:attrName>
                                        </p:attrNameLst>
                                      </p:cBhvr>
                                      <p:to>
                                        <p:strVal val="visible"/>
                                      </p:to>
                                    </p:set>
                                    <p:anim calcmode="lin" valueType="num">
                                      <p:cBhvr additive="base">
                                        <p:cTn id="54" dur="750" fill="hold"/>
                                        <p:tgtEl>
                                          <p:spTgt spid="76"/>
                                        </p:tgtEl>
                                        <p:attrNameLst>
                                          <p:attrName>ppt_x</p:attrName>
                                        </p:attrNameLst>
                                      </p:cBhvr>
                                      <p:tavLst>
                                        <p:tav tm="0">
                                          <p:val>
                                            <p:strVal val="#ppt_x"/>
                                          </p:val>
                                        </p:tav>
                                        <p:tav tm="100000">
                                          <p:val>
                                            <p:strVal val="#ppt_x"/>
                                          </p:val>
                                        </p:tav>
                                      </p:tavLst>
                                    </p:anim>
                                    <p:anim calcmode="lin" valueType="num">
                                      <p:cBhvr additive="base">
                                        <p:cTn id="55" dur="750" fill="hold"/>
                                        <p:tgtEl>
                                          <p:spTgt spid="76"/>
                                        </p:tgtEl>
                                        <p:attrNameLst>
                                          <p:attrName>ppt_y</p:attrName>
                                        </p:attrNameLst>
                                      </p:cBhvr>
                                      <p:tavLst>
                                        <p:tav tm="0">
                                          <p:val>
                                            <p:strVal val="0-#ppt_h/2"/>
                                          </p:val>
                                        </p:tav>
                                        <p:tav tm="100000">
                                          <p:val>
                                            <p:strVal val="#ppt_y"/>
                                          </p:val>
                                        </p:tav>
                                      </p:tavLst>
                                    </p:anim>
                                  </p:childTnLst>
                                </p:cTn>
                              </p:par>
                              <p:par>
                                <p:cTn id="56" presetID="2" presetClass="entr" presetSubtype="1" fill="hold" grpId="0" nodeType="withEffect">
                                  <p:stCondLst>
                                    <p:cond delay="500"/>
                                  </p:stCondLst>
                                  <p:childTnLst>
                                    <p:set>
                                      <p:cBhvr>
                                        <p:cTn id="57" dur="1" fill="hold">
                                          <p:stCondLst>
                                            <p:cond delay="0"/>
                                          </p:stCondLst>
                                        </p:cTn>
                                        <p:tgtEl>
                                          <p:spTgt spid="77"/>
                                        </p:tgtEl>
                                        <p:attrNameLst>
                                          <p:attrName>style.visibility</p:attrName>
                                        </p:attrNameLst>
                                      </p:cBhvr>
                                      <p:to>
                                        <p:strVal val="visible"/>
                                      </p:to>
                                    </p:set>
                                    <p:anim calcmode="lin" valueType="num">
                                      <p:cBhvr additive="base">
                                        <p:cTn id="58" dur="750" fill="hold"/>
                                        <p:tgtEl>
                                          <p:spTgt spid="77"/>
                                        </p:tgtEl>
                                        <p:attrNameLst>
                                          <p:attrName>ppt_x</p:attrName>
                                        </p:attrNameLst>
                                      </p:cBhvr>
                                      <p:tavLst>
                                        <p:tav tm="0">
                                          <p:val>
                                            <p:strVal val="#ppt_x"/>
                                          </p:val>
                                        </p:tav>
                                        <p:tav tm="100000">
                                          <p:val>
                                            <p:strVal val="#ppt_x"/>
                                          </p:val>
                                        </p:tav>
                                      </p:tavLst>
                                    </p:anim>
                                    <p:anim calcmode="lin" valueType="num">
                                      <p:cBhvr additive="base">
                                        <p:cTn id="59" dur="750" fill="hold"/>
                                        <p:tgtEl>
                                          <p:spTgt spid="77"/>
                                        </p:tgtEl>
                                        <p:attrNameLst>
                                          <p:attrName>ppt_y</p:attrName>
                                        </p:attrNameLst>
                                      </p:cBhvr>
                                      <p:tavLst>
                                        <p:tav tm="0">
                                          <p:val>
                                            <p:strVal val="0-#ppt_h/2"/>
                                          </p:val>
                                        </p:tav>
                                        <p:tav tm="100000">
                                          <p:val>
                                            <p:strVal val="#ppt_y"/>
                                          </p:val>
                                        </p:tav>
                                      </p:tavLst>
                                    </p:anim>
                                  </p:childTnLst>
                                </p:cTn>
                              </p:par>
                              <p:par>
                                <p:cTn id="60" presetID="2" presetClass="entr" presetSubtype="1" fill="hold" grpId="0" nodeType="withEffect">
                                  <p:stCondLst>
                                    <p:cond delay="750"/>
                                  </p:stCondLst>
                                  <p:childTnLst>
                                    <p:set>
                                      <p:cBhvr>
                                        <p:cTn id="61" dur="1" fill="hold">
                                          <p:stCondLst>
                                            <p:cond delay="0"/>
                                          </p:stCondLst>
                                        </p:cTn>
                                        <p:tgtEl>
                                          <p:spTgt spid="78"/>
                                        </p:tgtEl>
                                        <p:attrNameLst>
                                          <p:attrName>style.visibility</p:attrName>
                                        </p:attrNameLst>
                                      </p:cBhvr>
                                      <p:to>
                                        <p:strVal val="visible"/>
                                      </p:to>
                                    </p:set>
                                    <p:anim calcmode="lin" valueType="num">
                                      <p:cBhvr additive="base">
                                        <p:cTn id="62" dur="750" fill="hold"/>
                                        <p:tgtEl>
                                          <p:spTgt spid="78"/>
                                        </p:tgtEl>
                                        <p:attrNameLst>
                                          <p:attrName>ppt_x</p:attrName>
                                        </p:attrNameLst>
                                      </p:cBhvr>
                                      <p:tavLst>
                                        <p:tav tm="0">
                                          <p:val>
                                            <p:strVal val="#ppt_x"/>
                                          </p:val>
                                        </p:tav>
                                        <p:tav tm="100000">
                                          <p:val>
                                            <p:strVal val="#ppt_x"/>
                                          </p:val>
                                        </p:tav>
                                      </p:tavLst>
                                    </p:anim>
                                    <p:anim calcmode="lin" valueType="num">
                                      <p:cBhvr additive="base">
                                        <p:cTn id="63" dur="750" fill="hold"/>
                                        <p:tgtEl>
                                          <p:spTgt spid="78"/>
                                        </p:tgtEl>
                                        <p:attrNameLst>
                                          <p:attrName>ppt_y</p:attrName>
                                        </p:attrNameLst>
                                      </p:cBhvr>
                                      <p:tavLst>
                                        <p:tav tm="0">
                                          <p:val>
                                            <p:strVal val="0-#ppt_h/2"/>
                                          </p:val>
                                        </p:tav>
                                        <p:tav tm="100000">
                                          <p:val>
                                            <p:strVal val="#ppt_y"/>
                                          </p:val>
                                        </p:tav>
                                      </p:tavLst>
                                    </p:anim>
                                  </p:childTnLst>
                                </p:cTn>
                              </p:par>
                              <p:par>
                                <p:cTn id="64" presetID="2" presetClass="entr" presetSubtype="1" fill="hold" grpId="0" nodeType="withEffect">
                                  <p:stCondLst>
                                    <p:cond delay="1000"/>
                                  </p:stCondLst>
                                  <p:childTnLst>
                                    <p:set>
                                      <p:cBhvr>
                                        <p:cTn id="65" dur="1" fill="hold">
                                          <p:stCondLst>
                                            <p:cond delay="0"/>
                                          </p:stCondLst>
                                        </p:cTn>
                                        <p:tgtEl>
                                          <p:spTgt spid="79"/>
                                        </p:tgtEl>
                                        <p:attrNameLst>
                                          <p:attrName>style.visibility</p:attrName>
                                        </p:attrNameLst>
                                      </p:cBhvr>
                                      <p:to>
                                        <p:strVal val="visible"/>
                                      </p:to>
                                    </p:set>
                                    <p:anim calcmode="lin" valueType="num">
                                      <p:cBhvr additive="base">
                                        <p:cTn id="66" dur="750" fill="hold"/>
                                        <p:tgtEl>
                                          <p:spTgt spid="79"/>
                                        </p:tgtEl>
                                        <p:attrNameLst>
                                          <p:attrName>ppt_x</p:attrName>
                                        </p:attrNameLst>
                                      </p:cBhvr>
                                      <p:tavLst>
                                        <p:tav tm="0">
                                          <p:val>
                                            <p:strVal val="#ppt_x"/>
                                          </p:val>
                                        </p:tav>
                                        <p:tav tm="100000">
                                          <p:val>
                                            <p:strVal val="#ppt_x"/>
                                          </p:val>
                                        </p:tav>
                                      </p:tavLst>
                                    </p:anim>
                                    <p:anim calcmode="lin" valueType="num">
                                      <p:cBhvr additive="base">
                                        <p:cTn id="67" dur="750" fill="hold"/>
                                        <p:tgtEl>
                                          <p:spTgt spid="7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5" grpId="0" build="p"/>
      <p:bldP spid="10" grpId="0"/>
      <p:bldP spid="23" grpId="0" animBg="1"/>
      <p:bldP spid="45" grpId="0" animBg="1"/>
      <p:bldP spid="2" grpId="0"/>
      <p:bldP spid="75" grpId="0" animBg="1"/>
      <p:bldP spid="76" grpId="0" animBg="1"/>
      <p:bldP spid="77" grpId="0" animBg="1"/>
      <p:bldP spid="78" grpId="0" animBg="1"/>
      <p:bldP spid="7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780934" y="507059"/>
            <a:ext cx="5651757" cy="461665"/>
          </a:xfrm>
          <a:prstGeom prst="wedgeRectCallout">
            <a:avLst/>
          </a:prstGeom>
          <a:noFill/>
          <a:ln>
            <a:noFill/>
          </a:ln>
        </p:spPr>
        <p:txBody>
          <a:bodyPr wrap="square" rtlCol="0">
            <a:spAutoFit/>
          </a:bodyPr>
          <a:lstStyle/>
          <a:p>
            <a:pPr algn="ctr">
              <a:defRPr sz="1862" b="0" i="0" u="none" strike="noStrike" kern="1200" spc="0" baseline="0">
                <a:solidFill>
                  <a:prstClr val="black">
                    <a:lumMod val="65000"/>
                    <a:lumOff val="35000"/>
                  </a:prstClr>
                </a:solidFill>
                <a:latin typeface="+mn-lt"/>
                <a:ea typeface="+mn-ea"/>
                <a:cs typeface="+mn-cs"/>
              </a:defRPr>
            </a:pPr>
            <a:r>
              <a:rPr lang="zh-CN" altLang="zh-CN" sz="2400" b="1" dirty="0">
                <a:solidFill>
                  <a:schemeClr val="tx1">
                    <a:lumMod val="65000"/>
                    <a:lumOff val="35000"/>
                  </a:schemeClr>
                </a:solidFill>
                <a:latin typeface="微软雅黑" panose="020B0503020204020204" pitchFamily="34" charset="-122"/>
                <a:ea typeface="微软雅黑" panose="020B0503020204020204" pitchFamily="34" charset="-122"/>
              </a:rPr>
              <a:t>企业选择采用自助服类型</a:t>
            </a:r>
          </a:p>
        </p:txBody>
      </p:sp>
      <p:pic>
        <p:nvPicPr>
          <p:cNvPr id="7" name="图片 6"/>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backgroundRemoval t="0" b="100000" l="8000" r="88000">
                        <a14:foregroundMark x1="50667" y1="7438" x2="50667" y2="7438"/>
                      </a14:backgroundRemoval>
                    </a14:imgEffect>
                  </a14:imgLayer>
                </a14:imgProps>
              </a:ext>
            </a:extLst>
          </a:blip>
          <a:stretch>
            <a:fillRect/>
          </a:stretch>
        </p:blipFill>
        <p:spPr>
          <a:xfrm>
            <a:off x="-794325" y="-1271629"/>
            <a:ext cx="714286" cy="1152381"/>
          </a:xfrm>
          <a:prstGeom prst="rect">
            <a:avLst/>
          </a:prstGeom>
        </p:spPr>
      </p:pic>
      <p:graphicFrame>
        <p:nvGraphicFramePr>
          <p:cNvPr id="9" name="图表 8"/>
          <p:cNvGraphicFramePr/>
          <p:nvPr>
            <p:extLst>
              <p:ext uri="{D42A27DB-BD31-4B8C-83A1-F6EECF244321}">
                <p14:modId xmlns:p14="http://schemas.microsoft.com/office/powerpoint/2010/main" val="284363002"/>
              </p:ext>
            </p:extLst>
          </p:nvPr>
        </p:nvGraphicFramePr>
        <p:xfrm>
          <a:off x="2199577" y="891458"/>
          <a:ext cx="5687122" cy="4605341"/>
        </p:xfrm>
        <a:graphic>
          <a:graphicData uri="http://schemas.openxmlformats.org/drawingml/2006/chart">
            <c:chart xmlns:c="http://schemas.openxmlformats.org/drawingml/2006/chart" xmlns:r="http://schemas.openxmlformats.org/officeDocument/2006/relationships" r:id="rId4"/>
          </a:graphicData>
        </a:graphic>
      </p:graphicFrame>
      <p:sp>
        <p:nvSpPr>
          <p:cNvPr id="10" name="文本框 1"/>
          <p:cNvSpPr txBox="1"/>
          <p:nvPr/>
        </p:nvSpPr>
        <p:spPr>
          <a:xfrm>
            <a:off x="906158" y="3383103"/>
            <a:ext cx="1565790" cy="356839"/>
          </a:xfrm>
          <a:prstGeom prst="roundRect">
            <a:avLst/>
          </a:prstGeom>
          <a:ln w="19050">
            <a:noFill/>
            <a:prstDash val="sysDash"/>
          </a:ln>
        </p:spPr>
        <p:txBody>
          <a:bodyPr wrap="square" rtlCol="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zh-CN" altLang="en-US" sz="2000" b="1" dirty="0">
                <a:solidFill>
                  <a:srgbClr val="BE5108"/>
                </a:solidFill>
              </a:rPr>
              <a:t>视频教程</a:t>
            </a:r>
          </a:p>
        </p:txBody>
      </p:sp>
      <p:sp>
        <p:nvSpPr>
          <p:cNvPr id="11" name="文本框 1"/>
          <p:cNvSpPr txBox="1"/>
          <p:nvPr/>
        </p:nvSpPr>
        <p:spPr>
          <a:xfrm>
            <a:off x="474405" y="2648318"/>
            <a:ext cx="1997543" cy="356839"/>
          </a:xfrm>
          <a:prstGeom prst="roundRect">
            <a:avLst/>
          </a:prstGeom>
          <a:ln w="19050">
            <a:noFill/>
            <a:prstDash val="sysDash"/>
          </a:ln>
        </p:spPr>
        <p:txBody>
          <a:bodyPr wrap="square" rtlCol="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zh-CN" sz="2000" b="1" dirty="0">
                <a:solidFill>
                  <a:srgbClr val="A2A1A1"/>
                </a:solidFill>
              </a:rPr>
              <a:t>IVR</a:t>
            </a:r>
            <a:r>
              <a:rPr lang="zh-CN" altLang="en-US" sz="2000" b="1" dirty="0">
                <a:solidFill>
                  <a:srgbClr val="A2A1A1"/>
                </a:solidFill>
              </a:rPr>
              <a:t>自助语音</a:t>
            </a:r>
          </a:p>
        </p:txBody>
      </p:sp>
      <p:sp>
        <p:nvSpPr>
          <p:cNvPr id="12" name="文本框 1"/>
          <p:cNvSpPr txBox="1"/>
          <p:nvPr/>
        </p:nvSpPr>
        <p:spPr>
          <a:xfrm>
            <a:off x="906158" y="1913533"/>
            <a:ext cx="1565790" cy="356839"/>
          </a:xfrm>
          <a:prstGeom prst="roundRect">
            <a:avLst/>
          </a:prstGeom>
          <a:ln w="19050">
            <a:noFill/>
            <a:prstDash val="sysDash"/>
          </a:ln>
        </p:spPr>
        <p:txBody>
          <a:bodyPr wrap="square" rtlCol="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zh-CN" altLang="en-US" sz="2000" b="1" dirty="0">
                <a:solidFill>
                  <a:srgbClr val="2E6CA4"/>
                </a:solidFill>
              </a:rPr>
              <a:t>社区论坛         </a:t>
            </a:r>
          </a:p>
        </p:txBody>
      </p:sp>
      <p:sp>
        <p:nvSpPr>
          <p:cNvPr id="13" name="文本框 1"/>
          <p:cNvSpPr txBox="1"/>
          <p:nvPr/>
        </p:nvSpPr>
        <p:spPr>
          <a:xfrm>
            <a:off x="906158" y="4117887"/>
            <a:ext cx="1565790" cy="356839"/>
          </a:xfrm>
          <a:prstGeom prst="roundRect">
            <a:avLst/>
          </a:prstGeom>
          <a:ln w="19050">
            <a:noFill/>
            <a:prstDash val="sysDash"/>
          </a:ln>
        </p:spPr>
        <p:txBody>
          <a:bodyPr wrap="square" rtlCol="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zh-CN" altLang="en-US" sz="2000" b="1" dirty="0">
                <a:solidFill>
                  <a:srgbClr val="D29500"/>
                </a:solidFill>
              </a:rPr>
              <a:t>文档教程</a:t>
            </a:r>
          </a:p>
        </p:txBody>
      </p:sp>
      <p:sp>
        <p:nvSpPr>
          <p:cNvPr id="15" name="文本框 14"/>
          <p:cNvSpPr txBox="1"/>
          <p:nvPr/>
        </p:nvSpPr>
        <p:spPr>
          <a:xfrm>
            <a:off x="7345009" y="1768786"/>
            <a:ext cx="1078523" cy="646331"/>
          </a:xfrm>
          <a:prstGeom prst="rect">
            <a:avLst/>
          </a:prstGeom>
          <a:noFill/>
        </p:spPr>
        <p:txBody>
          <a:bodyPr wrap="square" rtlCol="0">
            <a:spAutoFit/>
          </a:bodyPr>
          <a:lstStyle/>
          <a:p>
            <a:r>
              <a:rPr lang="en-US" altLang="zh-CN" sz="3600" b="1" dirty="0">
                <a:solidFill>
                  <a:srgbClr val="2E6CA4"/>
                </a:solidFill>
              </a:rPr>
              <a:t>6%</a:t>
            </a:r>
            <a:endParaRPr lang="zh-CN" altLang="en-US" sz="3600" b="1" dirty="0">
              <a:solidFill>
                <a:srgbClr val="2E6CA4"/>
              </a:solidFill>
            </a:endParaRPr>
          </a:p>
        </p:txBody>
      </p:sp>
      <p:sp>
        <p:nvSpPr>
          <p:cNvPr id="16" name="文本框 15"/>
          <p:cNvSpPr txBox="1"/>
          <p:nvPr/>
        </p:nvSpPr>
        <p:spPr>
          <a:xfrm>
            <a:off x="7345009" y="2503571"/>
            <a:ext cx="1184748" cy="646331"/>
          </a:xfrm>
          <a:prstGeom prst="rect">
            <a:avLst/>
          </a:prstGeom>
          <a:noFill/>
        </p:spPr>
        <p:txBody>
          <a:bodyPr wrap="square" rtlCol="0">
            <a:spAutoFit/>
          </a:bodyPr>
          <a:lstStyle/>
          <a:p>
            <a:r>
              <a:rPr lang="en-US" altLang="zh-CN" sz="3600" b="1" dirty="0">
                <a:solidFill>
                  <a:srgbClr val="A2A1A1"/>
                </a:solidFill>
              </a:rPr>
              <a:t>19%</a:t>
            </a:r>
            <a:endParaRPr lang="zh-CN" altLang="en-US" sz="3600" b="1" dirty="0">
              <a:solidFill>
                <a:srgbClr val="A2A1A1"/>
              </a:solidFill>
            </a:endParaRPr>
          </a:p>
        </p:txBody>
      </p:sp>
      <p:sp>
        <p:nvSpPr>
          <p:cNvPr id="17" name="文本框 16"/>
          <p:cNvSpPr txBox="1"/>
          <p:nvPr/>
        </p:nvSpPr>
        <p:spPr>
          <a:xfrm>
            <a:off x="7345009" y="3238356"/>
            <a:ext cx="1305251" cy="646331"/>
          </a:xfrm>
          <a:prstGeom prst="rect">
            <a:avLst/>
          </a:prstGeom>
          <a:noFill/>
        </p:spPr>
        <p:txBody>
          <a:bodyPr wrap="square" rtlCol="0">
            <a:spAutoFit/>
          </a:bodyPr>
          <a:lstStyle/>
          <a:p>
            <a:r>
              <a:rPr lang="en-US" altLang="zh-CN" sz="3600" b="1" dirty="0">
                <a:solidFill>
                  <a:srgbClr val="BE5108"/>
                </a:solidFill>
              </a:rPr>
              <a:t>30%</a:t>
            </a:r>
            <a:endParaRPr lang="zh-CN" altLang="en-US" sz="3600" b="1" dirty="0">
              <a:solidFill>
                <a:srgbClr val="BE5108"/>
              </a:solidFill>
            </a:endParaRPr>
          </a:p>
        </p:txBody>
      </p:sp>
      <p:sp>
        <p:nvSpPr>
          <p:cNvPr id="18" name="文本框 17"/>
          <p:cNvSpPr txBox="1"/>
          <p:nvPr/>
        </p:nvSpPr>
        <p:spPr>
          <a:xfrm>
            <a:off x="7345009" y="3973140"/>
            <a:ext cx="1184747" cy="646331"/>
          </a:xfrm>
          <a:prstGeom prst="rect">
            <a:avLst/>
          </a:prstGeom>
          <a:noFill/>
        </p:spPr>
        <p:txBody>
          <a:bodyPr wrap="square" rtlCol="0">
            <a:spAutoFit/>
          </a:bodyPr>
          <a:lstStyle/>
          <a:p>
            <a:r>
              <a:rPr lang="en-US" altLang="zh-CN" sz="3600" b="1" dirty="0">
                <a:solidFill>
                  <a:srgbClr val="D29500"/>
                </a:solidFill>
              </a:rPr>
              <a:t>35%</a:t>
            </a:r>
            <a:endParaRPr lang="zh-CN" altLang="en-US" sz="3600" b="1" dirty="0">
              <a:solidFill>
                <a:srgbClr val="D29500"/>
              </a:solidFill>
            </a:endParaRPr>
          </a:p>
        </p:txBody>
      </p:sp>
      <p:cxnSp>
        <p:nvCxnSpPr>
          <p:cNvPr id="27" name="直接连接符 26"/>
          <p:cNvCxnSpPr>
            <a:cxnSpLocks/>
          </p:cNvCxnSpPr>
          <p:nvPr/>
        </p:nvCxnSpPr>
        <p:spPr>
          <a:xfrm>
            <a:off x="2385450" y="2472051"/>
            <a:ext cx="6091285" cy="0"/>
          </a:xfrm>
          <a:prstGeom prst="line">
            <a:avLst/>
          </a:prstGeom>
          <a:ln>
            <a:solidFill>
              <a:schemeClr val="tx2">
                <a:lumMod val="40000"/>
                <a:lumOff val="6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直接连接符 27"/>
          <p:cNvCxnSpPr>
            <a:cxnSpLocks/>
          </p:cNvCxnSpPr>
          <p:nvPr/>
        </p:nvCxnSpPr>
        <p:spPr>
          <a:xfrm>
            <a:off x="2385450" y="3175315"/>
            <a:ext cx="6091285" cy="0"/>
          </a:xfrm>
          <a:prstGeom prst="line">
            <a:avLst/>
          </a:prstGeom>
          <a:ln>
            <a:solidFill>
              <a:schemeClr val="tx2">
                <a:lumMod val="40000"/>
                <a:lumOff val="6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直接连接符 28"/>
          <p:cNvCxnSpPr>
            <a:cxnSpLocks/>
          </p:cNvCxnSpPr>
          <p:nvPr/>
        </p:nvCxnSpPr>
        <p:spPr>
          <a:xfrm>
            <a:off x="2385450" y="3884687"/>
            <a:ext cx="6091285" cy="0"/>
          </a:xfrm>
          <a:prstGeom prst="line">
            <a:avLst/>
          </a:prstGeom>
          <a:ln>
            <a:solidFill>
              <a:schemeClr val="tx2">
                <a:lumMod val="40000"/>
                <a:lumOff val="6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直接连接符 29"/>
          <p:cNvCxnSpPr>
            <a:cxnSpLocks/>
          </p:cNvCxnSpPr>
          <p:nvPr/>
        </p:nvCxnSpPr>
        <p:spPr>
          <a:xfrm>
            <a:off x="2385450" y="4648850"/>
            <a:ext cx="6091285" cy="0"/>
          </a:xfrm>
          <a:prstGeom prst="line">
            <a:avLst/>
          </a:prstGeom>
          <a:ln>
            <a:solidFill>
              <a:schemeClr val="tx2">
                <a:lumMod val="40000"/>
                <a:lumOff val="6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6" name="等腰三角形 25"/>
          <p:cNvSpPr/>
          <p:nvPr/>
        </p:nvSpPr>
        <p:spPr>
          <a:xfrm flipH="1" flipV="1">
            <a:off x="4465172" y="1313881"/>
            <a:ext cx="213657" cy="117981"/>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90841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nodeType="after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wipe(down)">
                                      <p:cBhvr>
                                        <p:cTn id="13" dur="500"/>
                                        <p:tgtEl>
                                          <p:spTgt spid="27"/>
                                        </p:tgtEl>
                                      </p:cBhvr>
                                    </p:animEffect>
                                  </p:childTnLst>
                                </p:cTn>
                              </p:par>
                              <p:par>
                                <p:cTn id="14" presetID="22" presetClass="entr" presetSubtype="4" fill="hold" nodeType="withEffect">
                                  <p:stCondLst>
                                    <p:cond delay="250"/>
                                  </p:stCondLst>
                                  <p:childTnLst>
                                    <p:set>
                                      <p:cBhvr>
                                        <p:cTn id="15" dur="1" fill="hold">
                                          <p:stCondLst>
                                            <p:cond delay="0"/>
                                          </p:stCondLst>
                                        </p:cTn>
                                        <p:tgtEl>
                                          <p:spTgt spid="28"/>
                                        </p:tgtEl>
                                        <p:attrNameLst>
                                          <p:attrName>style.visibility</p:attrName>
                                        </p:attrNameLst>
                                      </p:cBhvr>
                                      <p:to>
                                        <p:strVal val="visible"/>
                                      </p:to>
                                    </p:set>
                                    <p:animEffect transition="in" filter="wipe(down)">
                                      <p:cBhvr>
                                        <p:cTn id="16" dur="500"/>
                                        <p:tgtEl>
                                          <p:spTgt spid="28"/>
                                        </p:tgtEl>
                                      </p:cBhvr>
                                    </p:animEffect>
                                  </p:childTnLst>
                                </p:cTn>
                              </p:par>
                              <p:par>
                                <p:cTn id="17" presetID="22" presetClass="entr" presetSubtype="4" fill="hold" nodeType="withEffect">
                                  <p:stCondLst>
                                    <p:cond delay="500"/>
                                  </p:stCondLst>
                                  <p:childTnLst>
                                    <p:set>
                                      <p:cBhvr>
                                        <p:cTn id="18" dur="1" fill="hold">
                                          <p:stCondLst>
                                            <p:cond delay="0"/>
                                          </p:stCondLst>
                                        </p:cTn>
                                        <p:tgtEl>
                                          <p:spTgt spid="29"/>
                                        </p:tgtEl>
                                        <p:attrNameLst>
                                          <p:attrName>style.visibility</p:attrName>
                                        </p:attrNameLst>
                                      </p:cBhvr>
                                      <p:to>
                                        <p:strVal val="visible"/>
                                      </p:to>
                                    </p:set>
                                    <p:animEffect transition="in" filter="wipe(down)">
                                      <p:cBhvr>
                                        <p:cTn id="19" dur="500"/>
                                        <p:tgtEl>
                                          <p:spTgt spid="29"/>
                                        </p:tgtEl>
                                      </p:cBhvr>
                                    </p:animEffect>
                                  </p:childTnLst>
                                </p:cTn>
                              </p:par>
                              <p:par>
                                <p:cTn id="20" presetID="22" presetClass="entr" presetSubtype="4" fill="hold" nodeType="withEffect">
                                  <p:stCondLst>
                                    <p:cond delay="750"/>
                                  </p:stCondLst>
                                  <p:childTnLst>
                                    <p:set>
                                      <p:cBhvr>
                                        <p:cTn id="21" dur="1" fill="hold">
                                          <p:stCondLst>
                                            <p:cond delay="0"/>
                                          </p:stCondLst>
                                        </p:cTn>
                                        <p:tgtEl>
                                          <p:spTgt spid="30"/>
                                        </p:tgtEl>
                                        <p:attrNameLst>
                                          <p:attrName>style.visibility</p:attrName>
                                        </p:attrNameLst>
                                      </p:cBhvr>
                                      <p:to>
                                        <p:strVal val="visible"/>
                                      </p:to>
                                    </p:set>
                                    <p:animEffect transition="in" filter="wipe(down)">
                                      <p:cBhvr>
                                        <p:cTn id="22" dur="500"/>
                                        <p:tgtEl>
                                          <p:spTgt spid="30"/>
                                        </p:tgtEl>
                                      </p:cBhvr>
                                    </p:animEffect>
                                  </p:childTnLst>
                                </p:cTn>
                              </p:par>
                            </p:childTnLst>
                          </p:cTn>
                        </p:par>
                        <p:par>
                          <p:cTn id="23" fill="hold">
                            <p:stCondLst>
                              <p:cond delay="2250"/>
                            </p:stCondLst>
                            <p:childTnLst>
                              <p:par>
                                <p:cTn id="24" presetID="22" presetClass="entr" presetSubtype="8" fill="hold" grpId="0" nodeType="afterEffect">
                                  <p:stCondLst>
                                    <p:cond delay="0"/>
                                  </p:stCondLst>
                                  <p:childTnLst>
                                    <p:set>
                                      <p:cBhvr>
                                        <p:cTn id="25" dur="1" fill="hold">
                                          <p:stCondLst>
                                            <p:cond delay="0"/>
                                          </p:stCondLst>
                                        </p:cTn>
                                        <p:tgtEl>
                                          <p:spTgt spid="9">
                                            <p:graphicEl>
                                              <a:chart seriesIdx="-3" categoryIdx="-3" bldStep="gridLegend"/>
                                            </p:graphicEl>
                                          </p:spTgt>
                                        </p:tgtEl>
                                        <p:attrNameLst>
                                          <p:attrName>style.visibility</p:attrName>
                                        </p:attrNameLst>
                                      </p:cBhvr>
                                      <p:to>
                                        <p:strVal val="visible"/>
                                      </p:to>
                                    </p:set>
                                    <p:animEffect transition="in" filter="wipe(left)">
                                      <p:cBhvr>
                                        <p:cTn id="26" dur="500"/>
                                        <p:tgtEl>
                                          <p:spTgt spid="9">
                                            <p:graphicEl>
                                              <a:chart seriesIdx="-3" categoryIdx="-3" bldStep="gridLegend"/>
                                            </p:graphic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9">
                                            <p:graphicEl>
                                              <a:chart seriesIdx="0" categoryIdx="-4" bldStep="series"/>
                                            </p:graphicEl>
                                          </p:spTgt>
                                        </p:tgtEl>
                                        <p:attrNameLst>
                                          <p:attrName>style.visibility</p:attrName>
                                        </p:attrNameLst>
                                      </p:cBhvr>
                                      <p:to>
                                        <p:strVal val="visible"/>
                                      </p:to>
                                    </p:set>
                                    <p:animEffect transition="in" filter="wipe(left)">
                                      <p:cBhvr>
                                        <p:cTn id="29" dur="750"/>
                                        <p:tgtEl>
                                          <p:spTgt spid="9">
                                            <p:graphicEl>
                                              <a:chart seriesIdx="0" categoryIdx="-4" bldStep="series"/>
                                            </p:graphicEl>
                                          </p:spTgt>
                                        </p:tgtEl>
                                      </p:cBhvr>
                                    </p:animEffect>
                                  </p:childTnLst>
                                </p:cTn>
                              </p:par>
                            </p:childTnLst>
                          </p:cTn>
                        </p:par>
                        <p:par>
                          <p:cTn id="30" fill="hold">
                            <p:stCondLst>
                              <p:cond delay="3000"/>
                            </p:stCondLst>
                            <p:childTnLst>
                              <p:par>
                                <p:cTn id="31" presetID="22" presetClass="entr" presetSubtype="8" fill="hold" grpId="0" nodeType="afterEffect">
                                  <p:stCondLst>
                                    <p:cond delay="0"/>
                                  </p:stCondLst>
                                  <p:childTnLst>
                                    <p:set>
                                      <p:cBhvr>
                                        <p:cTn id="32" dur="1" fill="hold">
                                          <p:stCondLst>
                                            <p:cond delay="0"/>
                                          </p:stCondLst>
                                        </p:cTn>
                                        <p:tgtEl>
                                          <p:spTgt spid="9">
                                            <p:graphicEl>
                                              <a:chart seriesIdx="1" categoryIdx="-4" bldStep="series"/>
                                            </p:graphicEl>
                                          </p:spTgt>
                                        </p:tgtEl>
                                        <p:attrNameLst>
                                          <p:attrName>style.visibility</p:attrName>
                                        </p:attrNameLst>
                                      </p:cBhvr>
                                      <p:to>
                                        <p:strVal val="visible"/>
                                      </p:to>
                                    </p:set>
                                    <p:animEffect transition="in" filter="wipe(left)">
                                      <p:cBhvr>
                                        <p:cTn id="33" dur="750"/>
                                        <p:tgtEl>
                                          <p:spTgt spid="9">
                                            <p:graphicEl>
                                              <a:chart seriesIdx="1" categoryIdx="-4" bldStep="series"/>
                                            </p:graphicEl>
                                          </p:spTgt>
                                        </p:tgtEl>
                                      </p:cBhvr>
                                    </p:animEffect>
                                  </p:childTnLst>
                                </p:cTn>
                              </p:par>
                            </p:childTnLst>
                          </p:cTn>
                        </p:par>
                        <p:par>
                          <p:cTn id="34" fill="hold">
                            <p:stCondLst>
                              <p:cond delay="3750"/>
                            </p:stCondLst>
                            <p:childTnLst>
                              <p:par>
                                <p:cTn id="35" presetID="22" presetClass="entr" presetSubtype="8" fill="hold" grpId="0" nodeType="afterEffect">
                                  <p:stCondLst>
                                    <p:cond delay="0"/>
                                  </p:stCondLst>
                                  <p:childTnLst>
                                    <p:set>
                                      <p:cBhvr>
                                        <p:cTn id="36" dur="1" fill="hold">
                                          <p:stCondLst>
                                            <p:cond delay="0"/>
                                          </p:stCondLst>
                                        </p:cTn>
                                        <p:tgtEl>
                                          <p:spTgt spid="9">
                                            <p:graphicEl>
                                              <a:chart seriesIdx="2" categoryIdx="-4" bldStep="series"/>
                                            </p:graphicEl>
                                          </p:spTgt>
                                        </p:tgtEl>
                                        <p:attrNameLst>
                                          <p:attrName>style.visibility</p:attrName>
                                        </p:attrNameLst>
                                      </p:cBhvr>
                                      <p:to>
                                        <p:strVal val="visible"/>
                                      </p:to>
                                    </p:set>
                                    <p:animEffect transition="in" filter="wipe(left)">
                                      <p:cBhvr>
                                        <p:cTn id="37" dur="750"/>
                                        <p:tgtEl>
                                          <p:spTgt spid="9">
                                            <p:graphicEl>
                                              <a:chart seriesIdx="2" categoryIdx="-4" bldStep="series"/>
                                            </p:graphicEl>
                                          </p:spTgt>
                                        </p:tgtEl>
                                      </p:cBhvr>
                                    </p:animEffect>
                                  </p:childTnLst>
                                </p:cTn>
                              </p:par>
                            </p:childTnLst>
                          </p:cTn>
                        </p:par>
                        <p:par>
                          <p:cTn id="38" fill="hold">
                            <p:stCondLst>
                              <p:cond delay="4500"/>
                            </p:stCondLst>
                            <p:childTnLst>
                              <p:par>
                                <p:cTn id="39" presetID="22" presetClass="entr" presetSubtype="8" fill="hold" grpId="0" nodeType="afterEffect">
                                  <p:stCondLst>
                                    <p:cond delay="0"/>
                                  </p:stCondLst>
                                  <p:childTnLst>
                                    <p:set>
                                      <p:cBhvr>
                                        <p:cTn id="40" dur="1" fill="hold">
                                          <p:stCondLst>
                                            <p:cond delay="0"/>
                                          </p:stCondLst>
                                        </p:cTn>
                                        <p:tgtEl>
                                          <p:spTgt spid="9">
                                            <p:graphicEl>
                                              <a:chart seriesIdx="3" categoryIdx="-4" bldStep="series"/>
                                            </p:graphicEl>
                                          </p:spTgt>
                                        </p:tgtEl>
                                        <p:attrNameLst>
                                          <p:attrName>style.visibility</p:attrName>
                                        </p:attrNameLst>
                                      </p:cBhvr>
                                      <p:to>
                                        <p:strVal val="visible"/>
                                      </p:to>
                                    </p:set>
                                    <p:animEffect transition="in" filter="wipe(left)">
                                      <p:cBhvr>
                                        <p:cTn id="41" dur="750"/>
                                        <p:tgtEl>
                                          <p:spTgt spid="9">
                                            <p:graphicEl>
                                              <a:chart seriesIdx="3" categoryIdx="-4" bldStep="series"/>
                                            </p:graphicEl>
                                          </p:spTgt>
                                        </p:tgtEl>
                                      </p:cBhvr>
                                    </p:animEffect>
                                  </p:childTnLst>
                                </p:cTn>
                              </p:par>
                            </p:childTnLst>
                          </p:cTn>
                        </p:par>
                      </p:childTnLst>
                    </p:cTn>
                  </p:par>
                  <p:par>
                    <p:cTn id="42" fill="hold">
                      <p:stCondLst>
                        <p:cond delay="indefinite"/>
                      </p:stCondLst>
                      <p:childTnLst>
                        <p:par>
                          <p:cTn id="43" fill="hold">
                            <p:stCondLst>
                              <p:cond delay="0"/>
                            </p:stCondLst>
                            <p:childTnLst>
                              <p:par>
                                <p:cTn id="44" presetID="50" presetClass="entr" presetSubtype="0" decel="100000"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 calcmode="lin" valueType="num">
                                      <p:cBhvr>
                                        <p:cTn id="46" dur="1000" fill="hold"/>
                                        <p:tgtEl>
                                          <p:spTgt spid="12"/>
                                        </p:tgtEl>
                                        <p:attrNameLst>
                                          <p:attrName>ppt_w</p:attrName>
                                        </p:attrNameLst>
                                      </p:cBhvr>
                                      <p:tavLst>
                                        <p:tav tm="0">
                                          <p:val>
                                            <p:strVal val="#ppt_w+.3"/>
                                          </p:val>
                                        </p:tav>
                                        <p:tav tm="100000">
                                          <p:val>
                                            <p:strVal val="#ppt_w"/>
                                          </p:val>
                                        </p:tav>
                                      </p:tavLst>
                                    </p:anim>
                                    <p:anim calcmode="lin" valueType="num">
                                      <p:cBhvr>
                                        <p:cTn id="47" dur="1000" fill="hold"/>
                                        <p:tgtEl>
                                          <p:spTgt spid="12"/>
                                        </p:tgtEl>
                                        <p:attrNameLst>
                                          <p:attrName>ppt_h</p:attrName>
                                        </p:attrNameLst>
                                      </p:cBhvr>
                                      <p:tavLst>
                                        <p:tav tm="0">
                                          <p:val>
                                            <p:strVal val="#ppt_h"/>
                                          </p:val>
                                        </p:tav>
                                        <p:tav tm="100000">
                                          <p:val>
                                            <p:strVal val="#ppt_h"/>
                                          </p:val>
                                        </p:tav>
                                      </p:tavLst>
                                    </p:anim>
                                    <p:animEffect transition="in" filter="fade">
                                      <p:cBhvr>
                                        <p:cTn id="48" dur="1000"/>
                                        <p:tgtEl>
                                          <p:spTgt spid="12"/>
                                        </p:tgtEl>
                                      </p:cBhvr>
                                    </p:animEffect>
                                  </p:childTnLst>
                                </p:cTn>
                              </p:par>
                              <p:par>
                                <p:cTn id="49" presetID="50" presetClass="entr" presetSubtype="0" decel="100000"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p:cTn id="51" dur="1000" fill="hold"/>
                                        <p:tgtEl>
                                          <p:spTgt spid="15"/>
                                        </p:tgtEl>
                                        <p:attrNameLst>
                                          <p:attrName>ppt_w</p:attrName>
                                        </p:attrNameLst>
                                      </p:cBhvr>
                                      <p:tavLst>
                                        <p:tav tm="0">
                                          <p:val>
                                            <p:strVal val="#ppt_w+.3"/>
                                          </p:val>
                                        </p:tav>
                                        <p:tav tm="100000">
                                          <p:val>
                                            <p:strVal val="#ppt_w"/>
                                          </p:val>
                                        </p:tav>
                                      </p:tavLst>
                                    </p:anim>
                                    <p:anim calcmode="lin" valueType="num">
                                      <p:cBhvr>
                                        <p:cTn id="52" dur="1000" fill="hold"/>
                                        <p:tgtEl>
                                          <p:spTgt spid="15"/>
                                        </p:tgtEl>
                                        <p:attrNameLst>
                                          <p:attrName>ppt_h</p:attrName>
                                        </p:attrNameLst>
                                      </p:cBhvr>
                                      <p:tavLst>
                                        <p:tav tm="0">
                                          <p:val>
                                            <p:strVal val="#ppt_h"/>
                                          </p:val>
                                        </p:tav>
                                        <p:tav tm="100000">
                                          <p:val>
                                            <p:strVal val="#ppt_h"/>
                                          </p:val>
                                        </p:tav>
                                      </p:tavLst>
                                    </p:anim>
                                    <p:animEffect transition="in" filter="fade">
                                      <p:cBhvr>
                                        <p:cTn id="53" dur="1000"/>
                                        <p:tgtEl>
                                          <p:spTgt spid="15"/>
                                        </p:tgtEl>
                                      </p:cBhvr>
                                    </p:animEffect>
                                  </p:childTnLst>
                                </p:cTn>
                              </p:par>
                            </p:childTnLst>
                          </p:cTn>
                        </p:par>
                      </p:childTnLst>
                    </p:cTn>
                  </p:par>
                  <p:par>
                    <p:cTn id="54" fill="hold">
                      <p:stCondLst>
                        <p:cond delay="indefinite"/>
                      </p:stCondLst>
                      <p:childTnLst>
                        <p:par>
                          <p:cTn id="55" fill="hold">
                            <p:stCondLst>
                              <p:cond delay="0"/>
                            </p:stCondLst>
                            <p:childTnLst>
                              <p:par>
                                <p:cTn id="56" presetID="50" presetClass="entr" presetSubtype="0" decel="100000" fill="hold" grpId="0" nodeType="clickEffect">
                                  <p:stCondLst>
                                    <p:cond delay="0"/>
                                  </p:stCondLst>
                                  <p:childTnLst>
                                    <p:set>
                                      <p:cBhvr>
                                        <p:cTn id="57" dur="1" fill="hold">
                                          <p:stCondLst>
                                            <p:cond delay="0"/>
                                          </p:stCondLst>
                                        </p:cTn>
                                        <p:tgtEl>
                                          <p:spTgt spid="11"/>
                                        </p:tgtEl>
                                        <p:attrNameLst>
                                          <p:attrName>style.visibility</p:attrName>
                                        </p:attrNameLst>
                                      </p:cBhvr>
                                      <p:to>
                                        <p:strVal val="visible"/>
                                      </p:to>
                                    </p:set>
                                    <p:anim calcmode="lin" valueType="num">
                                      <p:cBhvr>
                                        <p:cTn id="58" dur="1000" fill="hold"/>
                                        <p:tgtEl>
                                          <p:spTgt spid="11"/>
                                        </p:tgtEl>
                                        <p:attrNameLst>
                                          <p:attrName>ppt_w</p:attrName>
                                        </p:attrNameLst>
                                      </p:cBhvr>
                                      <p:tavLst>
                                        <p:tav tm="0">
                                          <p:val>
                                            <p:strVal val="#ppt_w+.3"/>
                                          </p:val>
                                        </p:tav>
                                        <p:tav tm="100000">
                                          <p:val>
                                            <p:strVal val="#ppt_w"/>
                                          </p:val>
                                        </p:tav>
                                      </p:tavLst>
                                    </p:anim>
                                    <p:anim calcmode="lin" valueType="num">
                                      <p:cBhvr>
                                        <p:cTn id="59" dur="1000" fill="hold"/>
                                        <p:tgtEl>
                                          <p:spTgt spid="11"/>
                                        </p:tgtEl>
                                        <p:attrNameLst>
                                          <p:attrName>ppt_h</p:attrName>
                                        </p:attrNameLst>
                                      </p:cBhvr>
                                      <p:tavLst>
                                        <p:tav tm="0">
                                          <p:val>
                                            <p:strVal val="#ppt_h"/>
                                          </p:val>
                                        </p:tav>
                                        <p:tav tm="100000">
                                          <p:val>
                                            <p:strVal val="#ppt_h"/>
                                          </p:val>
                                        </p:tav>
                                      </p:tavLst>
                                    </p:anim>
                                    <p:animEffect transition="in" filter="fade">
                                      <p:cBhvr>
                                        <p:cTn id="60" dur="1000"/>
                                        <p:tgtEl>
                                          <p:spTgt spid="11"/>
                                        </p:tgtEl>
                                      </p:cBhvr>
                                    </p:animEffect>
                                  </p:childTnLst>
                                </p:cTn>
                              </p:par>
                              <p:par>
                                <p:cTn id="61" presetID="50" presetClass="entr" presetSubtype="0" decel="10000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1000" fill="hold"/>
                                        <p:tgtEl>
                                          <p:spTgt spid="16"/>
                                        </p:tgtEl>
                                        <p:attrNameLst>
                                          <p:attrName>ppt_w</p:attrName>
                                        </p:attrNameLst>
                                      </p:cBhvr>
                                      <p:tavLst>
                                        <p:tav tm="0">
                                          <p:val>
                                            <p:strVal val="#ppt_w+.3"/>
                                          </p:val>
                                        </p:tav>
                                        <p:tav tm="100000">
                                          <p:val>
                                            <p:strVal val="#ppt_w"/>
                                          </p:val>
                                        </p:tav>
                                      </p:tavLst>
                                    </p:anim>
                                    <p:anim calcmode="lin" valueType="num">
                                      <p:cBhvr>
                                        <p:cTn id="64" dur="1000" fill="hold"/>
                                        <p:tgtEl>
                                          <p:spTgt spid="16"/>
                                        </p:tgtEl>
                                        <p:attrNameLst>
                                          <p:attrName>ppt_h</p:attrName>
                                        </p:attrNameLst>
                                      </p:cBhvr>
                                      <p:tavLst>
                                        <p:tav tm="0">
                                          <p:val>
                                            <p:strVal val="#ppt_h"/>
                                          </p:val>
                                        </p:tav>
                                        <p:tav tm="100000">
                                          <p:val>
                                            <p:strVal val="#ppt_h"/>
                                          </p:val>
                                        </p:tav>
                                      </p:tavLst>
                                    </p:anim>
                                    <p:animEffect transition="in" filter="fade">
                                      <p:cBhvr>
                                        <p:cTn id="65" dur="1000"/>
                                        <p:tgtEl>
                                          <p:spTgt spid="16"/>
                                        </p:tgtEl>
                                      </p:cBhvr>
                                    </p:animEffect>
                                  </p:childTnLst>
                                </p:cTn>
                              </p:par>
                            </p:childTnLst>
                          </p:cTn>
                        </p:par>
                      </p:childTnLst>
                    </p:cTn>
                  </p:par>
                  <p:par>
                    <p:cTn id="66" fill="hold">
                      <p:stCondLst>
                        <p:cond delay="indefinite"/>
                      </p:stCondLst>
                      <p:childTnLst>
                        <p:par>
                          <p:cTn id="67" fill="hold">
                            <p:stCondLst>
                              <p:cond delay="0"/>
                            </p:stCondLst>
                            <p:childTnLst>
                              <p:par>
                                <p:cTn id="68" presetID="50" presetClass="entr" presetSubtype="0" decel="100000" fill="hold" grpId="0" nodeType="clickEffect">
                                  <p:stCondLst>
                                    <p:cond delay="0"/>
                                  </p:stCondLst>
                                  <p:childTnLst>
                                    <p:set>
                                      <p:cBhvr>
                                        <p:cTn id="69" dur="1" fill="hold">
                                          <p:stCondLst>
                                            <p:cond delay="0"/>
                                          </p:stCondLst>
                                        </p:cTn>
                                        <p:tgtEl>
                                          <p:spTgt spid="10"/>
                                        </p:tgtEl>
                                        <p:attrNameLst>
                                          <p:attrName>style.visibility</p:attrName>
                                        </p:attrNameLst>
                                      </p:cBhvr>
                                      <p:to>
                                        <p:strVal val="visible"/>
                                      </p:to>
                                    </p:set>
                                    <p:anim calcmode="lin" valueType="num">
                                      <p:cBhvr>
                                        <p:cTn id="70" dur="1000" fill="hold"/>
                                        <p:tgtEl>
                                          <p:spTgt spid="10"/>
                                        </p:tgtEl>
                                        <p:attrNameLst>
                                          <p:attrName>ppt_w</p:attrName>
                                        </p:attrNameLst>
                                      </p:cBhvr>
                                      <p:tavLst>
                                        <p:tav tm="0">
                                          <p:val>
                                            <p:strVal val="#ppt_w+.3"/>
                                          </p:val>
                                        </p:tav>
                                        <p:tav tm="100000">
                                          <p:val>
                                            <p:strVal val="#ppt_w"/>
                                          </p:val>
                                        </p:tav>
                                      </p:tavLst>
                                    </p:anim>
                                    <p:anim calcmode="lin" valueType="num">
                                      <p:cBhvr>
                                        <p:cTn id="71" dur="1000" fill="hold"/>
                                        <p:tgtEl>
                                          <p:spTgt spid="10"/>
                                        </p:tgtEl>
                                        <p:attrNameLst>
                                          <p:attrName>ppt_h</p:attrName>
                                        </p:attrNameLst>
                                      </p:cBhvr>
                                      <p:tavLst>
                                        <p:tav tm="0">
                                          <p:val>
                                            <p:strVal val="#ppt_h"/>
                                          </p:val>
                                        </p:tav>
                                        <p:tav tm="100000">
                                          <p:val>
                                            <p:strVal val="#ppt_h"/>
                                          </p:val>
                                        </p:tav>
                                      </p:tavLst>
                                    </p:anim>
                                    <p:animEffect transition="in" filter="fade">
                                      <p:cBhvr>
                                        <p:cTn id="72" dur="1000"/>
                                        <p:tgtEl>
                                          <p:spTgt spid="10"/>
                                        </p:tgtEl>
                                      </p:cBhvr>
                                    </p:animEffect>
                                  </p:childTnLst>
                                </p:cTn>
                              </p:par>
                              <p:par>
                                <p:cTn id="73" presetID="50" presetClass="entr" presetSubtype="0" decel="100000" fill="hold" grpId="0" nodeType="withEffect">
                                  <p:stCondLst>
                                    <p:cond delay="0"/>
                                  </p:stCondLst>
                                  <p:childTnLst>
                                    <p:set>
                                      <p:cBhvr>
                                        <p:cTn id="74" dur="1" fill="hold">
                                          <p:stCondLst>
                                            <p:cond delay="0"/>
                                          </p:stCondLst>
                                        </p:cTn>
                                        <p:tgtEl>
                                          <p:spTgt spid="17"/>
                                        </p:tgtEl>
                                        <p:attrNameLst>
                                          <p:attrName>style.visibility</p:attrName>
                                        </p:attrNameLst>
                                      </p:cBhvr>
                                      <p:to>
                                        <p:strVal val="visible"/>
                                      </p:to>
                                    </p:set>
                                    <p:anim calcmode="lin" valueType="num">
                                      <p:cBhvr>
                                        <p:cTn id="75" dur="1000" fill="hold"/>
                                        <p:tgtEl>
                                          <p:spTgt spid="17"/>
                                        </p:tgtEl>
                                        <p:attrNameLst>
                                          <p:attrName>ppt_w</p:attrName>
                                        </p:attrNameLst>
                                      </p:cBhvr>
                                      <p:tavLst>
                                        <p:tav tm="0">
                                          <p:val>
                                            <p:strVal val="#ppt_w+.3"/>
                                          </p:val>
                                        </p:tav>
                                        <p:tav tm="100000">
                                          <p:val>
                                            <p:strVal val="#ppt_w"/>
                                          </p:val>
                                        </p:tav>
                                      </p:tavLst>
                                    </p:anim>
                                    <p:anim calcmode="lin" valueType="num">
                                      <p:cBhvr>
                                        <p:cTn id="76" dur="1000" fill="hold"/>
                                        <p:tgtEl>
                                          <p:spTgt spid="17"/>
                                        </p:tgtEl>
                                        <p:attrNameLst>
                                          <p:attrName>ppt_h</p:attrName>
                                        </p:attrNameLst>
                                      </p:cBhvr>
                                      <p:tavLst>
                                        <p:tav tm="0">
                                          <p:val>
                                            <p:strVal val="#ppt_h"/>
                                          </p:val>
                                        </p:tav>
                                        <p:tav tm="100000">
                                          <p:val>
                                            <p:strVal val="#ppt_h"/>
                                          </p:val>
                                        </p:tav>
                                      </p:tavLst>
                                    </p:anim>
                                    <p:animEffect transition="in" filter="fade">
                                      <p:cBhvr>
                                        <p:cTn id="77" dur="1000"/>
                                        <p:tgtEl>
                                          <p:spTgt spid="17"/>
                                        </p:tgtEl>
                                      </p:cBhvr>
                                    </p:animEffect>
                                  </p:childTnLst>
                                </p:cTn>
                              </p:par>
                            </p:childTnLst>
                          </p:cTn>
                        </p:par>
                      </p:childTnLst>
                    </p:cTn>
                  </p:par>
                  <p:par>
                    <p:cTn id="78" fill="hold">
                      <p:stCondLst>
                        <p:cond delay="indefinite"/>
                      </p:stCondLst>
                      <p:childTnLst>
                        <p:par>
                          <p:cTn id="79" fill="hold">
                            <p:stCondLst>
                              <p:cond delay="0"/>
                            </p:stCondLst>
                            <p:childTnLst>
                              <p:par>
                                <p:cTn id="80" presetID="50" presetClass="entr" presetSubtype="0" decel="100000" fill="hold" grpId="0" nodeType="clickEffect">
                                  <p:stCondLst>
                                    <p:cond delay="0"/>
                                  </p:stCondLst>
                                  <p:childTnLst>
                                    <p:set>
                                      <p:cBhvr>
                                        <p:cTn id="81" dur="1" fill="hold">
                                          <p:stCondLst>
                                            <p:cond delay="0"/>
                                          </p:stCondLst>
                                        </p:cTn>
                                        <p:tgtEl>
                                          <p:spTgt spid="13"/>
                                        </p:tgtEl>
                                        <p:attrNameLst>
                                          <p:attrName>style.visibility</p:attrName>
                                        </p:attrNameLst>
                                      </p:cBhvr>
                                      <p:to>
                                        <p:strVal val="visible"/>
                                      </p:to>
                                    </p:set>
                                    <p:anim calcmode="lin" valueType="num">
                                      <p:cBhvr>
                                        <p:cTn id="82" dur="1000" fill="hold"/>
                                        <p:tgtEl>
                                          <p:spTgt spid="13"/>
                                        </p:tgtEl>
                                        <p:attrNameLst>
                                          <p:attrName>ppt_w</p:attrName>
                                        </p:attrNameLst>
                                      </p:cBhvr>
                                      <p:tavLst>
                                        <p:tav tm="0">
                                          <p:val>
                                            <p:strVal val="#ppt_w+.3"/>
                                          </p:val>
                                        </p:tav>
                                        <p:tav tm="100000">
                                          <p:val>
                                            <p:strVal val="#ppt_w"/>
                                          </p:val>
                                        </p:tav>
                                      </p:tavLst>
                                    </p:anim>
                                    <p:anim calcmode="lin" valueType="num">
                                      <p:cBhvr>
                                        <p:cTn id="83" dur="1000" fill="hold"/>
                                        <p:tgtEl>
                                          <p:spTgt spid="13"/>
                                        </p:tgtEl>
                                        <p:attrNameLst>
                                          <p:attrName>ppt_h</p:attrName>
                                        </p:attrNameLst>
                                      </p:cBhvr>
                                      <p:tavLst>
                                        <p:tav tm="0">
                                          <p:val>
                                            <p:strVal val="#ppt_h"/>
                                          </p:val>
                                        </p:tav>
                                        <p:tav tm="100000">
                                          <p:val>
                                            <p:strVal val="#ppt_h"/>
                                          </p:val>
                                        </p:tav>
                                      </p:tavLst>
                                    </p:anim>
                                    <p:animEffect transition="in" filter="fade">
                                      <p:cBhvr>
                                        <p:cTn id="84" dur="1000"/>
                                        <p:tgtEl>
                                          <p:spTgt spid="13"/>
                                        </p:tgtEl>
                                      </p:cBhvr>
                                    </p:animEffect>
                                  </p:childTnLst>
                                </p:cTn>
                              </p:par>
                              <p:par>
                                <p:cTn id="85" presetID="50" presetClass="entr" presetSubtype="0" decel="100000" fill="hold" grpId="0" nodeType="withEffect">
                                  <p:stCondLst>
                                    <p:cond delay="0"/>
                                  </p:stCondLst>
                                  <p:childTnLst>
                                    <p:set>
                                      <p:cBhvr>
                                        <p:cTn id="86" dur="1" fill="hold">
                                          <p:stCondLst>
                                            <p:cond delay="0"/>
                                          </p:stCondLst>
                                        </p:cTn>
                                        <p:tgtEl>
                                          <p:spTgt spid="18"/>
                                        </p:tgtEl>
                                        <p:attrNameLst>
                                          <p:attrName>style.visibility</p:attrName>
                                        </p:attrNameLst>
                                      </p:cBhvr>
                                      <p:to>
                                        <p:strVal val="visible"/>
                                      </p:to>
                                    </p:set>
                                    <p:anim calcmode="lin" valueType="num">
                                      <p:cBhvr>
                                        <p:cTn id="87" dur="1000" fill="hold"/>
                                        <p:tgtEl>
                                          <p:spTgt spid="18"/>
                                        </p:tgtEl>
                                        <p:attrNameLst>
                                          <p:attrName>ppt_w</p:attrName>
                                        </p:attrNameLst>
                                      </p:cBhvr>
                                      <p:tavLst>
                                        <p:tav tm="0">
                                          <p:val>
                                            <p:strVal val="#ppt_w+.3"/>
                                          </p:val>
                                        </p:tav>
                                        <p:tav tm="100000">
                                          <p:val>
                                            <p:strVal val="#ppt_w"/>
                                          </p:val>
                                        </p:tav>
                                      </p:tavLst>
                                    </p:anim>
                                    <p:anim calcmode="lin" valueType="num">
                                      <p:cBhvr>
                                        <p:cTn id="88" dur="1000" fill="hold"/>
                                        <p:tgtEl>
                                          <p:spTgt spid="18"/>
                                        </p:tgtEl>
                                        <p:attrNameLst>
                                          <p:attrName>ppt_h</p:attrName>
                                        </p:attrNameLst>
                                      </p:cBhvr>
                                      <p:tavLst>
                                        <p:tav tm="0">
                                          <p:val>
                                            <p:strVal val="#ppt_h"/>
                                          </p:val>
                                        </p:tav>
                                        <p:tav tm="100000">
                                          <p:val>
                                            <p:strVal val="#ppt_h"/>
                                          </p:val>
                                        </p:tav>
                                      </p:tavLst>
                                    </p:anim>
                                    <p:animEffect transition="in" filter="fade">
                                      <p:cBhvr>
                                        <p:cTn id="89" dur="1000"/>
                                        <p:tgtEl>
                                          <p:spTgt spid="18"/>
                                        </p:tgtEl>
                                      </p:cBhvr>
                                    </p:animEffect>
                                  </p:childTnLst>
                                </p:cTn>
                              </p:par>
                            </p:childTnLst>
                          </p:cTn>
                        </p:par>
                        <p:par>
                          <p:cTn id="90" fill="hold">
                            <p:stCondLst>
                              <p:cond delay="1000"/>
                            </p:stCondLst>
                            <p:childTnLst>
                              <p:par>
                                <p:cTn id="91" presetID="10" presetClass="entr" presetSubtype="0" fill="hold" grpId="0" nodeType="afterEffect">
                                  <p:stCondLst>
                                    <p:cond delay="0"/>
                                  </p:stCondLst>
                                  <p:childTnLst>
                                    <p:set>
                                      <p:cBhvr>
                                        <p:cTn id="92" dur="1" fill="hold">
                                          <p:stCondLst>
                                            <p:cond delay="0"/>
                                          </p:stCondLst>
                                        </p:cTn>
                                        <p:tgtEl>
                                          <p:spTgt spid="26"/>
                                        </p:tgtEl>
                                        <p:attrNameLst>
                                          <p:attrName>style.visibility</p:attrName>
                                        </p:attrNameLst>
                                      </p:cBhvr>
                                      <p:to>
                                        <p:strVal val="visible"/>
                                      </p:to>
                                    </p:set>
                                    <p:animEffect transition="in" filter="fade">
                                      <p:cBhvr>
                                        <p:cTn id="93" dur="500"/>
                                        <p:tgtEl>
                                          <p:spTgt spid="26"/>
                                        </p:tgtEl>
                                      </p:cBhvr>
                                    </p:animEffect>
                                  </p:childTnLst>
                                </p:cTn>
                              </p:par>
                            </p:childTnLst>
                          </p:cTn>
                        </p:par>
                        <p:par>
                          <p:cTn id="94" fill="hold">
                            <p:stCondLst>
                              <p:cond delay="1500"/>
                            </p:stCondLst>
                            <p:childTnLst>
                              <p:par>
                                <p:cTn id="95" presetID="42" presetClass="path" presetSubtype="0" repeatCount="indefinite" accel="50000" decel="50000" autoRev="1" fill="hold" grpId="1" nodeType="afterEffect">
                                  <p:stCondLst>
                                    <p:cond delay="0"/>
                                  </p:stCondLst>
                                  <p:childTnLst>
                                    <p:animMotion origin="layout" path="M 0 2.22222E-6 L 0 0.0425 " pathEditMode="relative" rAng="0" ptsTypes="AA">
                                      <p:cBhvr>
                                        <p:cTn id="96" dur="500" fill="hold"/>
                                        <p:tgtEl>
                                          <p:spTgt spid="26"/>
                                        </p:tgtEl>
                                        <p:attrNameLst>
                                          <p:attrName>ppt_x</p:attrName>
                                          <p:attrName>ppt_y</p:attrName>
                                        </p:attrNameLst>
                                      </p:cBhvr>
                                      <p:rCtr x="0" y="211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Graphic spid="9" grpId="0" uiExpand="1">
        <p:bldSub>
          <a:bldChart bld="series"/>
        </p:bldSub>
      </p:bldGraphic>
      <p:bldP spid="10" grpId="0"/>
      <p:bldP spid="11" grpId="0"/>
      <p:bldP spid="12" grpId="0"/>
      <p:bldP spid="13" grpId="0"/>
      <p:bldP spid="15" grpId="0"/>
      <p:bldP spid="16" grpId="0"/>
      <p:bldP spid="17" grpId="0"/>
      <p:bldP spid="18" grpId="0"/>
      <p:bldP spid="26" grpId="0" animBg="1"/>
      <p:bldP spid="26"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02272" y="2281907"/>
            <a:ext cx="4860100" cy="760785"/>
          </a:xfrm>
        </p:spPr>
        <p:txBody>
          <a:bodyPr>
            <a:normAutofit/>
          </a:bodyPr>
          <a:lstStyle/>
          <a:p>
            <a:r>
              <a:rPr lang="zh-CN" altLang="en-US" sz="2400" b="1" dirty="0">
                <a:solidFill>
                  <a:schemeClr val="tx1">
                    <a:lumMod val="65000"/>
                    <a:lumOff val="35000"/>
                  </a:schemeClr>
                </a:solidFill>
              </a:rPr>
              <a:t>减少开支是</a:t>
            </a:r>
            <a:r>
              <a:rPr lang="zh-CN" altLang="en-US" sz="3600" b="1" dirty="0">
                <a:solidFill>
                  <a:schemeClr val="accent2"/>
                </a:solidFill>
              </a:rPr>
              <a:t>主要因素</a:t>
            </a:r>
            <a:endParaRPr lang="zh-CN" altLang="en-US" sz="2000" b="1" dirty="0">
              <a:solidFill>
                <a:schemeClr val="accent2"/>
              </a:solidFill>
            </a:endParaRPr>
          </a:p>
        </p:txBody>
      </p:sp>
      <p:sp>
        <p:nvSpPr>
          <p:cNvPr id="3" name="内容占位符 2"/>
          <p:cNvSpPr>
            <a:spLocks noGrp="1"/>
          </p:cNvSpPr>
          <p:nvPr>
            <p:ph idx="4294967295"/>
          </p:nvPr>
        </p:nvSpPr>
        <p:spPr>
          <a:xfrm>
            <a:off x="4102272" y="3042692"/>
            <a:ext cx="4709787" cy="1100399"/>
          </a:xfrm>
        </p:spPr>
        <p:txBody>
          <a:bodyPr>
            <a:noAutofit/>
          </a:bodyPr>
          <a:lstStyle/>
          <a:p>
            <a:pPr marL="0" indent="0" algn="just">
              <a:lnSpc>
                <a:spcPct val="100000"/>
              </a:lnSpc>
              <a:buNone/>
            </a:pPr>
            <a:r>
              <a:rPr lang="zh-CN" altLang="en-US" sz="1600" dirty="0">
                <a:solidFill>
                  <a:schemeClr val="tx1">
                    <a:lumMod val="75000"/>
                    <a:lumOff val="25000"/>
                  </a:schemeClr>
                </a:solidFill>
                <a:latin typeface="+mn-ea"/>
              </a:rPr>
              <a:t>客户服务资源短缺、人工成本高一直以来都是企业难以逾越的一大障碍，采用自助服务节约人力成 本，提高业务处理量，满足用户需求，成为当下每一个企业的迫切需求。</a:t>
            </a:r>
          </a:p>
        </p:txBody>
      </p:sp>
      <p:graphicFrame>
        <p:nvGraphicFramePr>
          <p:cNvPr id="4" name="图表 3"/>
          <p:cNvGraphicFramePr/>
          <p:nvPr>
            <p:extLst>
              <p:ext uri="{D42A27DB-BD31-4B8C-83A1-F6EECF244321}">
                <p14:modId xmlns:p14="http://schemas.microsoft.com/office/powerpoint/2010/main" val="1842465470"/>
              </p:ext>
            </p:extLst>
          </p:nvPr>
        </p:nvGraphicFramePr>
        <p:xfrm>
          <a:off x="696489" y="1550965"/>
          <a:ext cx="2898482" cy="2983455"/>
        </p:xfrm>
        <a:graphic>
          <a:graphicData uri="http://schemas.openxmlformats.org/drawingml/2006/chart">
            <c:chart xmlns:c="http://schemas.openxmlformats.org/drawingml/2006/chart" xmlns:r="http://schemas.openxmlformats.org/officeDocument/2006/relationships" r:id="rId2"/>
          </a:graphicData>
        </a:graphic>
      </p:graphicFrame>
      <p:sp>
        <p:nvSpPr>
          <p:cNvPr id="6" name="对话气泡: 椭圆形 5"/>
          <p:cNvSpPr/>
          <p:nvPr/>
        </p:nvSpPr>
        <p:spPr>
          <a:xfrm>
            <a:off x="2793302" y="1143168"/>
            <a:ext cx="1240077" cy="561410"/>
          </a:xfrm>
          <a:prstGeom prst="wedgeEllipseCallou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b="1" dirty="0">
                <a:solidFill>
                  <a:schemeClr val="bg1"/>
                </a:solidFill>
                <a:latin typeface="+mj-ea"/>
                <a:ea typeface="+mj-ea"/>
              </a:rPr>
              <a:t>减少开支</a:t>
            </a:r>
          </a:p>
        </p:txBody>
      </p:sp>
    </p:spTree>
    <p:extLst>
      <p:ext uri="{BB962C8B-B14F-4D97-AF65-F5344CB8AC3E}">
        <p14:creationId xmlns:p14="http://schemas.microsoft.com/office/powerpoint/2010/main" val="2966673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graphicEl>
                                              <a:chart seriesIdx="-3" categoryIdx="-3" bldStep="gridLegend"/>
                                            </p:graphicEl>
                                          </p:spTgt>
                                        </p:tgtEl>
                                        <p:attrNameLst>
                                          <p:attrName>style.visibility</p:attrName>
                                        </p:attrNameLst>
                                      </p:cBhvr>
                                      <p:to>
                                        <p:strVal val="visible"/>
                                      </p:to>
                                    </p:set>
                                    <p:anim calcmode="lin" valueType="num">
                                      <p:cBhvr>
                                        <p:cTn id="7" dur="500" fill="hold"/>
                                        <p:tgtEl>
                                          <p:spTgt spid="4">
                                            <p:graphicEl>
                                              <a:chart seriesIdx="-3" categoryIdx="-3" bldStep="gridLegend"/>
                                            </p:graphicEl>
                                          </p:spTgt>
                                        </p:tgtEl>
                                        <p:attrNameLst>
                                          <p:attrName>ppt_w</p:attrName>
                                        </p:attrNameLst>
                                      </p:cBhvr>
                                      <p:tavLst>
                                        <p:tav tm="0">
                                          <p:val>
                                            <p:fltVal val="0"/>
                                          </p:val>
                                        </p:tav>
                                        <p:tav tm="100000">
                                          <p:val>
                                            <p:strVal val="#ppt_w"/>
                                          </p:val>
                                        </p:tav>
                                      </p:tavLst>
                                    </p:anim>
                                    <p:anim calcmode="lin" valueType="num">
                                      <p:cBhvr>
                                        <p:cTn id="8" dur="500" fill="hold"/>
                                        <p:tgtEl>
                                          <p:spTgt spid="4">
                                            <p:graphicEl>
                                              <a:chart seriesIdx="-3" categoryIdx="-3" bldStep="gridLegend"/>
                                            </p:graphicEl>
                                          </p:spTgt>
                                        </p:tgtEl>
                                        <p:attrNameLst>
                                          <p:attrName>ppt_h</p:attrName>
                                        </p:attrNameLst>
                                      </p:cBhvr>
                                      <p:tavLst>
                                        <p:tav tm="0">
                                          <p:val>
                                            <p:fltVal val="0"/>
                                          </p:val>
                                        </p:tav>
                                        <p:tav tm="100000">
                                          <p:val>
                                            <p:strVal val="#ppt_h"/>
                                          </p:val>
                                        </p:tav>
                                      </p:tavLst>
                                    </p:anim>
                                    <p:animEffect transition="in" filter="fade">
                                      <p:cBhvr>
                                        <p:cTn id="9" dur="500"/>
                                        <p:tgtEl>
                                          <p:spTgt spid="4">
                                            <p:graphicEl>
                                              <a:chart seriesIdx="-3" categoryIdx="-3" bldStep="gridLegend"/>
                                            </p:graphicEl>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
                                            <p:graphicEl>
                                              <a:chart seriesIdx="-4" categoryIdx="0" bldStep="category"/>
                                            </p:graphicEl>
                                          </p:spTgt>
                                        </p:tgtEl>
                                        <p:attrNameLst>
                                          <p:attrName>style.visibility</p:attrName>
                                        </p:attrNameLst>
                                      </p:cBhvr>
                                      <p:to>
                                        <p:strVal val="visible"/>
                                      </p:to>
                                    </p:set>
                                    <p:anim calcmode="lin" valueType="num">
                                      <p:cBhvr>
                                        <p:cTn id="12" dur="1000" fill="hold"/>
                                        <p:tgtEl>
                                          <p:spTgt spid="4">
                                            <p:graphicEl>
                                              <a:chart seriesIdx="-4" categoryIdx="0" bldStep="category"/>
                                            </p:graphicEl>
                                          </p:spTgt>
                                        </p:tgtEl>
                                        <p:attrNameLst>
                                          <p:attrName>ppt_w</p:attrName>
                                        </p:attrNameLst>
                                      </p:cBhvr>
                                      <p:tavLst>
                                        <p:tav tm="0">
                                          <p:val>
                                            <p:fltVal val="0"/>
                                          </p:val>
                                        </p:tav>
                                        <p:tav tm="100000">
                                          <p:val>
                                            <p:strVal val="#ppt_w"/>
                                          </p:val>
                                        </p:tav>
                                      </p:tavLst>
                                    </p:anim>
                                    <p:anim calcmode="lin" valueType="num">
                                      <p:cBhvr>
                                        <p:cTn id="13" dur="1000" fill="hold"/>
                                        <p:tgtEl>
                                          <p:spTgt spid="4">
                                            <p:graphicEl>
                                              <a:chart seriesIdx="-4" categoryIdx="0" bldStep="category"/>
                                            </p:graphicEl>
                                          </p:spTgt>
                                        </p:tgtEl>
                                        <p:attrNameLst>
                                          <p:attrName>ppt_h</p:attrName>
                                        </p:attrNameLst>
                                      </p:cBhvr>
                                      <p:tavLst>
                                        <p:tav tm="0">
                                          <p:val>
                                            <p:fltVal val="0"/>
                                          </p:val>
                                        </p:tav>
                                        <p:tav tm="100000">
                                          <p:val>
                                            <p:strVal val="#ppt_h"/>
                                          </p:val>
                                        </p:tav>
                                      </p:tavLst>
                                    </p:anim>
                                    <p:animEffect transition="in" filter="fade">
                                      <p:cBhvr>
                                        <p:cTn id="14" dur="1000"/>
                                        <p:tgtEl>
                                          <p:spTgt spid="4">
                                            <p:graphicEl>
                                              <a:chart seriesIdx="-4" categoryIdx="0" bldStep="category"/>
                                            </p:graphicEl>
                                          </p:spTgt>
                                        </p:tgtEl>
                                      </p:cBhvr>
                                    </p:animEffect>
                                  </p:childTnLst>
                                </p:cTn>
                              </p:par>
                              <p:par>
                                <p:cTn id="15" presetID="53" presetClass="entr" presetSubtype="16" fill="hold" grpId="0" nodeType="withEffect">
                                  <p:stCondLst>
                                    <p:cond delay="250"/>
                                  </p:stCondLst>
                                  <p:childTnLst>
                                    <p:set>
                                      <p:cBhvr>
                                        <p:cTn id="16" dur="1" fill="hold">
                                          <p:stCondLst>
                                            <p:cond delay="0"/>
                                          </p:stCondLst>
                                        </p:cTn>
                                        <p:tgtEl>
                                          <p:spTgt spid="4">
                                            <p:graphicEl>
                                              <a:chart seriesIdx="-4" categoryIdx="1" bldStep="category"/>
                                            </p:graphicEl>
                                          </p:spTgt>
                                        </p:tgtEl>
                                        <p:attrNameLst>
                                          <p:attrName>style.visibility</p:attrName>
                                        </p:attrNameLst>
                                      </p:cBhvr>
                                      <p:to>
                                        <p:strVal val="visible"/>
                                      </p:to>
                                    </p:set>
                                    <p:anim calcmode="lin" valueType="num">
                                      <p:cBhvr>
                                        <p:cTn id="17" dur="1000" fill="hold"/>
                                        <p:tgtEl>
                                          <p:spTgt spid="4">
                                            <p:graphicEl>
                                              <a:chart seriesIdx="-4" categoryIdx="1" bldStep="category"/>
                                            </p:graphicEl>
                                          </p:spTgt>
                                        </p:tgtEl>
                                        <p:attrNameLst>
                                          <p:attrName>ppt_w</p:attrName>
                                        </p:attrNameLst>
                                      </p:cBhvr>
                                      <p:tavLst>
                                        <p:tav tm="0">
                                          <p:val>
                                            <p:fltVal val="0"/>
                                          </p:val>
                                        </p:tav>
                                        <p:tav tm="100000">
                                          <p:val>
                                            <p:strVal val="#ppt_w"/>
                                          </p:val>
                                        </p:tav>
                                      </p:tavLst>
                                    </p:anim>
                                    <p:anim calcmode="lin" valueType="num">
                                      <p:cBhvr>
                                        <p:cTn id="18" dur="1000" fill="hold"/>
                                        <p:tgtEl>
                                          <p:spTgt spid="4">
                                            <p:graphicEl>
                                              <a:chart seriesIdx="-4" categoryIdx="1" bldStep="category"/>
                                            </p:graphicEl>
                                          </p:spTgt>
                                        </p:tgtEl>
                                        <p:attrNameLst>
                                          <p:attrName>ppt_h</p:attrName>
                                        </p:attrNameLst>
                                      </p:cBhvr>
                                      <p:tavLst>
                                        <p:tav tm="0">
                                          <p:val>
                                            <p:fltVal val="0"/>
                                          </p:val>
                                        </p:tav>
                                        <p:tav tm="100000">
                                          <p:val>
                                            <p:strVal val="#ppt_h"/>
                                          </p:val>
                                        </p:tav>
                                      </p:tavLst>
                                    </p:anim>
                                    <p:animEffect transition="in" filter="fade">
                                      <p:cBhvr>
                                        <p:cTn id="19" dur="1000"/>
                                        <p:tgtEl>
                                          <p:spTgt spid="4">
                                            <p:graphicEl>
                                              <a:chart seriesIdx="-4" categoryIdx="1" bldStep="category"/>
                                            </p:graphicEl>
                                          </p:spTgt>
                                        </p:tgtEl>
                                      </p:cBhvr>
                                    </p:animEffect>
                                  </p:childTnLst>
                                </p:cTn>
                              </p:par>
                              <p:par>
                                <p:cTn id="20" presetID="2" presetClass="entr" presetSubtype="2" fill="hold" grpId="0" nodeType="withEffect">
                                  <p:stCondLst>
                                    <p:cond delay="750"/>
                                  </p:stCondLst>
                                  <p:iterate type="lt">
                                    <p:tmPct val="10000"/>
                                  </p:iterate>
                                  <p:childTnLst>
                                    <p:set>
                                      <p:cBhvr>
                                        <p:cTn id="21" dur="1" fill="hold">
                                          <p:stCondLst>
                                            <p:cond delay="0"/>
                                          </p:stCondLst>
                                        </p:cTn>
                                        <p:tgtEl>
                                          <p:spTgt spid="2"/>
                                        </p:tgtEl>
                                        <p:attrNameLst>
                                          <p:attrName>style.visibility</p:attrName>
                                        </p:attrNameLst>
                                      </p:cBhvr>
                                      <p:to>
                                        <p:strVal val="visible"/>
                                      </p:to>
                                    </p:set>
                                    <p:anim calcmode="lin" valueType="num">
                                      <p:cBhvr additive="base">
                                        <p:cTn id="22" dur="1000" fill="hold"/>
                                        <p:tgtEl>
                                          <p:spTgt spid="2"/>
                                        </p:tgtEl>
                                        <p:attrNameLst>
                                          <p:attrName>ppt_x</p:attrName>
                                        </p:attrNameLst>
                                      </p:cBhvr>
                                      <p:tavLst>
                                        <p:tav tm="0">
                                          <p:val>
                                            <p:strVal val="1+#ppt_w/2"/>
                                          </p:val>
                                        </p:tav>
                                        <p:tav tm="100000">
                                          <p:val>
                                            <p:strVal val="#ppt_x"/>
                                          </p:val>
                                        </p:tav>
                                      </p:tavLst>
                                    </p:anim>
                                    <p:anim calcmode="lin" valueType="num">
                                      <p:cBhvr additive="base">
                                        <p:cTn id="23" dur="1000" fill="hold"/>
                                        <p:tgtEl>
                                          <p:spTgt spid="2"/>
                                        </p:tgtEl>
                                        <p:attrNameLst>
                                          <p:attrName>ppt_y</p:attrName>
                                        </p:attrNameLst>
                                      </p:cBhvr>
                                      <p:tavLst>
                                        <p:tav tm="0">
                                          <p:val>
                                            <p:strVal val="#ppt_y"/>
                                          </p:val>
                                        </p:tav>
                                        <p:tav tm="100000">
                                          <p:val>
                                            <p:strVal val="#ppt_y"/>
                                          </p:val>
                                        </p:tav>
                                      </p:tavLst>
                                    </p:anim>
                                  </p:childTnLst>
                                </p:cTn>
                              </p:par>
                              <p:par>
                                <p:cTn id="24" presetID="42" presetClass="entr" presetSubtype="0" fill="hold" grpId="0" nodeType="withEffect">
                                  <p:stCondLst>
                                    <p:cond delay="1500"/>
                                  </p:stCondLst>
                                  <p:childTnLst>
                                    <p:set>
                                      <p:cBhvr>
                                        <p:cTn id="25" dur="1" fill="hold">
                                          <p:stCondLst>
                                            <p:cond delay="0"/>
                                          </p:stCondLst>
                                        </p:cTn>
                                        <p:tgtEl>
                                          <p:spTgt spid="3">
                                            <p:txEl>
                                              <p:pRg st="0" end="0"/>
                                            </p:txEl>
                                          </p:spTgt>
                                        </p:tgtEl>
                                        <p:attrNameLst>
                                          <p:attrName>style.visibility</p:attrName>
                                        </p:attrNameLst>
                                      </p:cBhvr>
                                      <p:to>
                                        <p:strVal val="visible"/>
                                      </p:to>
                                    </p:set>
                                    <p:animEffect transition="in" filter="fade">
                                      <p:cBhvr>
                                        <p:cTn id="26" dur="1000"/>
                                        <p:tgtEl>
                                          <p:spTgt spid="3">
                                            <p:txEl>
                                              <p:pRg st="0" end="0"/>
                                            </p:txEl>
                                          </p:spTgt>
                                        </p:tgtEl>
                                      </p:cBhvr>
                                    </p:animEffect>
                                    <p:anim calcmode="lin" valueType="num">
                                      <p:cBhvr>
                                        <p:cTn id="2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0" end="0"/>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225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1250"/>
                                        <p:tgtEl>
                                          <p:spTgt spid="6"/>
                                        </p:tgtEl>
                                      </p:cBhvr>
                                    </p:animEffect>
                                    <p:anim calcmode="lin" valueType="num">
                                      <p:cBhvr>
                                        <p:cTn id="32" dur="1250" fill="hold"/>
                                        <p:tgtEl>
                                          <p:spTgt spid="6"/>
                                        </p:tgtEl>
                                        <p:attrNameLst>
                                          <p:attrName>ppt_x</p:attrName>
                                        </p:attrNameLst>
                                      </p:cBhvr>
                                      <p:tavLst>
                                        <p:tav tm="0">
                                          <p:val>
                                            <p:strVal val="#ppt_x"/>
                                          </p:val>
                                        </p:tav>
                                        <p:tav tm="100000">
                                          <p:val>
                                            <p:strVal val="#ppt_x"/>
                                          </p:val>
                                        </p:tav>
                                      </p:tavLst>
                                    </p:anim>
                                    <p:anim calcmode="lin" valueType="num">
                                      <p:cBhvr>
                                        <p:cTn id="33" dur="125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Graphic spid="4" grpId="0" uiExpand="1">
        <p:bldSub>
          <a:bldChart bld="category"/>
        </p:bldSub>
      </p:bldGraphic>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10" name="内容占位符 2"/>
          <p:cNvSpPr txBox="1">
            <a:spLocks/>
          </p:cNvSpPr>
          <p:nvPr/>
        </p:nvSpPr>
        <p:spPr>
          <a:xfrm>
            <a:off x="5951219" y="0"/>
            <a:ext cx="2405084" cy="5715000"/>
          </a:xfrm>
          <a:prstGeom prst="rect">
            <a:avLst/>
          </a:prstGeom>
          <a:solidFill>
            <a:schemeClr val="accent2">
              <a:alpha val="70000"/>
            </a:schemeClr>
          </a:solidFill>
          <a:ln w="44450">
            <a:noFill/>
            <a:prstDash val="dash"/>
          </a:ln>
          <a:effectLst/>
        </p:spPr>
        <p:txBody>
          <a:bodyPr vert="horz" lIns="180000" tIns="45720" rIns="180000" bIns="45720" rtlCol="0" anchor="ct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50000"/>
              </a:lnSpc>
              <a:buNone/>
            </a:pPr>
            <a:r>
              <a:rPr lang="zh-CN" altLang="en-US" sz="1600" b="1" dirty="0">
                <a:solidFill>
                  <a:schemeClr val="bg1"/>
                </a:solidFill>
                <a:effectLst>
                  <a:outerShdw blurRad="38100" dist="38100" dir="2700000" algn="tl">
                    <a:srgbClr val="000000">
                      <a:alpha val="43137"/>
                    </a:srgbClr>
                  </a:outerShdw>
                </a:effectLst>
                <a:latin typeface="+mj-ea"/>
                <a:ea typeface="+mj-ea"/>
              </a:rPr>
              <a:t>人工客户服务资源总是处于紧缺状态，企业迫切需要采用自助服务来降低成本，提高 客户工作效率，当前新兴的社区自助和智能机器人自助还存在不少问题阻碍企业实际 应用。而视频教程在</a:t>
            </a:r>
            <a:r>
              <a:rPr lang="en-US" altLang="zh-CN" sz="1600" b="1" dirty="0">
                <a:solidFill>
                  <a:schemeClr val="bg1"/>
                </a:solidFill>
                <a:effectLst>
                  <a:outerShdw blurRad="38100" dist="38100" dir="2700000" algn="tl">
                    <a:srgbClr val="000000">
                      <a:alpha val="43137"/>
                    </a:srgbClr>
                  </a:outerShdw>
                </a:effectLst>
                <a:latin typeface="+mj-ea"/>
                <a:ea typeface="+mj-ea"/>
              </a:rPr>
              <a:t>2015</a:t>
            </a:r>
            <a:r>
              <a:rPr lang="zh-CN" altLang="en-US" sz="1600" b="1" dirty="0">
                <a:solidFill>
                  <a:schemeClr val="bg1"/>
                </a:solidFill>
                <a:effectLst>
                  <a:outerShdw blurRad="38100" dist="38100" dir="2700000" algn="tl">
                    <a:srgbClr val="000000">
                      <a:alpha val="43137"/>
                    </a:srgbClr>
                  </a:outerShdw>
                </a:effectLst>
                <a:latin typeface="+mj-ea"/>
                <a:ea typeface="+mj-ea"/>
              </a:rPr>
              <a:t>年有了大幅度的增长，成为当前自助服务的亮点。</a:t>
            </a:r>
          </a:p>
        </p:txBody>
      </p:sp>
      <p:sp>
        <p:nvSpPr>
          <p:cNvPr id="11" name="等腰三角形 10"/>
          <p:cNvSpPr/>
          <p:nvPr/>
        </p:nvSpPr>
        <p:spPr>
          <a:xfrm flipV="1">
            <a:off x="7153761" y="5140149"/>
            <a:ext cx="282368" cy="12224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题 1"/>
          <p:cNvSpPr txBox="1">
            <a:spLocks/>
          </p:cNvSpPr>
          <p:nvPr/>
        </p:nvSpPr>
        <p:spPr>
          <a:xfrm>
            <a:off x="115747" y="4326152"/>
            <a:ext cx="5680954" cy="1388848"/>
          </a:xfrm>
          <a:prstGeom prst="rect">
            <a:avLst/>
          </a:prstGeom>
          <a:noFill/>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zh-CN" altLang="en-US" sz="4400" b="1" i="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自助服务总结</a:t>
            </a:r>
          </a:p>
        </p:txBody>
      </p:sp>
    </p:spTree>
    <p:extLst>
      <p:ext uri="{BB962C8B-B14F-4D97-AF65-F5344CB8AC3E}">
        <p14:creationId xmlns:p14="http://schemas.microsoft.com/office/powerpoint/2010/main" val="3016339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离页连接符 4"/>
          <p:cNvSpPr/>
          <p:nvPr/>
        </p:nvSpPr>
        <p:spPr>
          <a:xfrm>
            <a:off x="466887" y="0"/>
            <a:ext cx="1855838" cy="3034650"/>
          </a:xfrm>
          <a:prstGeom prst="flowChartOffpageConnector">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lnSpc>
                <a:spcPct val="150000"/>
              </a:lnSpc>
            </a:pPr>
            <a:endParaRPr lang="en-US" altLang="zh-CN" sz="2000" b="1" dirty="0">
              <a:solidFill>
                <a:schemeClr val="tx2">
                  <a:lumMod val="75000"/>
                </a:schemeClr>
              </a:solidFill>
              <a:latin typeface="微软雅黑" panose="020B0503020204020204" pitchFamily="34" charset="-122"/>
              <a:ea typeface="微软雅黑" panose="020B0503020204020204" pitchFamily="34" charset="-122"/>
            </a:endParaRPr>
          </a:p>
        </p:txBody>
      </p:sp>
      <p:sp>
        <p:nvSpPr>
          <p:cNvPr id="11" name="矩形 10"/>
          <p:cNvSpPr/>
          <p:nvPr/>
        </p:nvSpPr>
        <p:spPr>
          <a:xfrm>
            <a:off x="466888" y="6563"/>
            <a:ext cx="1855838" cy="29406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2908454" y="1517325"/>
            <a:ext cx="5585550" cy="3260993"/>
          </a:xfrm>
          <a:prstGeom prst="rect">
            <a:avLst/>
          </a:prstGeom>
          <a:noFill/>
        </p:spPr>
        <p:txBody>
          <a:bodyPr wrap="square" rtlCol="0">
            <a:prstTxWarp prst="textPlain">
              <a:avLst/>
            </a:prstTxWarp>
            <a:spAutoFit/>
          </a:bodyPr>
          <a:lstStyle/>
          <a:p>
            <a:r>
              <a:rPr lang="en-US" altLang="zh-CN" b="1" dirty="0">
                <a:blipFill dpi="0" rotWithShape="1">
                  <a:blip r:embed="rId2"/>
                  <a:srcRect/>
                  <a:stretch>
                    <a:fillRect/>
                  </a:stretch>
                </a:blipFill>
                <a:effectLst>
                  <a:outerShdw blurRad="50800" dist="38100" dir="2700000" algn="tl" rotWithShape="0">
                    <a:prstClr val="black">
                      <a:alpha val="40000"/>
                    </a:prstClr>
                  </a:outerShdw>
                </a:effectLst>
                <a:latin typeface="Microsoft JhengHei" panose="020B0604030504040204" pitchFamily="34" charset="-120"/>
                <a:ea typeface="Microsoft JhengHei" panose="020B0604030504040204" pitchFamily="34" charset="-120"/>
              </a:rPr>
              <a:t>——————————————</a:t>
            </a:r>
            <a:endParaRPr lang="zh-CN" altLang="en-US" b="1" dirty="0">
              <a:blipFill dpi="0" rotWithShape="1">
                <a:blip r:embed="rId2"/>
                <a:srcRect/>
                <a:stretch>
                  <a:fillRect/>
                </a:stretch>
              </a:blipFill>
              <a:effectLst>
                <a:outerShdw blurRad="50800" dist="38100" dir="2700000" algn="tl" rotWithShape="0">
                  <a:prstClr val="black">
                    <a:alpha val="40000"/>
                  </a:prstClr>
                </a:outerShdw>
              </a:effectLst>
              <a:latin typeface="Microsoft JhengHei" panose="020B0604030504040204" pitchFamily="34" charset="-120"/>
              <a:ea typeface="Microsoft JhengHei" panose="020B0604030504040204" pitchFamily="34" charset="-120"/>
            </a:endParaRPr>
          </a:p>
        </p:txBody>
      </p:sp>
      <p:sp>
        <p:nvSpPr>
          <p:cNvPr id="10" name="文本框 9"/>
          <p:cNvSpPr txBox="1"/>
          <p:nvPr/>
        </p:nvSpPr>
        <p:spPr>
          <a:xfrm>
            <a:off x="1086402" y="409329"/>
            <a:ext cx="936434" cy="1107996"/>
          </a:xfrm>
          <a:prstGeom prst="rect">
            <a:avLst/>
          </a:prstGeom>
          <a:noFill/>
        </p:spPr>
        <p:txBody>
          <a:bodyPr wrap="square" rtlCol="0">
            <a:spAutoFit/>
          </a:bodyPr>
          <a:lstStyle/>
          <a:p>
            <a:r>
              <a:rPr lang="en-US" altLang="zh-CN" sz="6600" dirty="0">
                <a:solidFill>
                  <a:schemeClr val="accent6"/>
                </a:solidFill>
                <a:latin typeface="+mn-ea"/>
              </a:rPr>
              <a:t>5</a:t>
            </a:r>
            <a:endParaRPr lang="zh-CN" altLang="en-US" sz="6600" dirty="0">
              <a:solidFill>
                <a:schemeClr val="accent6"/>
              </a:solidFill>
              <a:latin typeface="+mn-ea"/>
            </a:endParaRPr>
          </a:p>
        </p:txBody>
      </p:sp>
      <p:sp>
        <p:nvSpPr>
          <p:cNvPr id="23" name="矩形 22"/>
          <p:cNvSpPr/>
          <p:nvPr/>
        </p:nvSpPr>
        <p:spPr>
          <a:xfrm>
            <a:off x="2908455" y="1123720"/>
            <a:ext cx="5585549" cy="393605"/>
          </a:xfrm>
          <a:prstGeom prst="rect">
            <a:avLst/>
          </a:prstGeom>
          <a:solidFill>
            <a:schemeClr val="accent6">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466887" y="-1"/>
            <a:ext cx="1855838" cy="294061"/>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a:cxnSpLocks/>
          </p:cNvCxnSpPr>
          <p:nvPr/>
        </p:nvCxnSpPr>
        <p:spPr>
          <a:xfrm>
            <a:off x="466887" y="1408204"/>
            <a:ext cx="1855838"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矩形 1"/>
          <p:cNvSpPr/>
          <p:nvPr/>
        </p:nvSpPr>
        <p:spPr>
          <a:xfrm>
            <a:off x="766253" y="1408204"/>
            <a:ext cx="1257105" cy="1338828"/>
          </a:xfrm>
          <a:prstGeom prst="rect">
            <a:avLst/>
          </a:prstGeom>
        </p:spPr>
        <p:txBody>
          <a:bodyPr wrap="square">
            <a:spAutoFit/>
          </a:bodyPr>
          <a:lstStyle/>
          <a:p>
            <a:pPr algn="ctr">
              <a:lnSpc>
                <a:spcPct val="150000"/>
              </a:lnSpc>
            </a:pP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rPr>
              <a:t>SaaS</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化服务时代即将到来</a:t>
            </a:r>
            <a:endParaRPr lang="en-US" altLang="zh-CN"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60" name="组合 59"/>
          <p:cNvGrpSpPr/>
          <p:nvPr/>
        </p:nvGrpSpPr>
        <p:grpSpPr>
          <a:xfrm>
            <a:off x="7264097" y="4949496"/>
            <a:ext cx="1023255" cy="648772"/>
            <a:chOff x="1419243" y="4456566"/>
            <a:chExt cx="1731363" cy="1097733"/>
          </a:xfrm>
          <a:solidFill>
            <a:schemeClr val="tx1">
              <a:lumMod val="75000"/>
              <a:lumOff val="25000"/>
            </a:schemeClr>
          </a:solidFill>
          <a:effectLst>
            <a:outerShdw blurRad="63500" sx="102000" sy="102000" algn="ctr" rotWithShape="0">
              <a:prstClr val="black">
                <a:alpha val="40000"/>
              </a:prstClr>
            </a:outerShdw>
          </a:effectLst>
        </p:grpSpPr>
        <p:sp>
          <p:nvSpPr>
            <p:cNvPr id="61" name="椭圆 60"/>
            <p:cNvSpPr/>
            <p:nvPr/>
          </p:nvSpPr>
          <p:spPr>
            <a:xfrm>
              <a:off x="1865015" y="4925084"/>
              <a:ext cx="153909" cy="153909"/>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p:nvPr/>
          </p:nvSpPr>
          <p:spPr>
            <a:xfrm>
              <a:off x="2087730"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p:nvPr/>
          </p:nvSpPr>
          <p:spPr>
            <a:xfrm>
              <a:off x="2310445" y="4925084"/>
              <a:ext cx="153909" cy="15390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a:off x="2533160"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a:off x="2755875" y="4925084"/>
              <a:ext cx="153909" cy="15390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2996697"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a:off x="2865422" y="4766648"/>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p:nvSpPr>
          <p:spPr>
            <a:xfrm>
              <a:off x="2736411" y="4610475"/>
              <a:ext cx="153909" cy="153909"/>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p:nvSpPr>
          <p:spPr>
            <a:xfrm>
              <a:off x="2865422" y="50857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a:off x="2736411" y="5251011"/>
              <a:ext cx="153909" cy="15390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2601966" y="4456566"/>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2601966" y="5400390"/>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a:off x="1644563"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1419243" y="4925084"/>
              <a:ext cx="153909" cy="15390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5" name="椭圆 74"/>
          <p:cNvSpPr/>
          <p:nvPr/>
        </p:nvSpPr>
        <p:spPr>
          <a:xfrm>
            <a:off x="2908454" y="669032"/>
            <a:ext cx="129209" cy="12920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a:off x="3149457" y="669032"/>
            <a:ext cx="129209" cy="129209"/>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nvSpPr>
        <p:spPr>
          <a:xfrm>
            <a:off x="3390460" y="665816"/>
            <a:ext cx="129209" cy="12920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nvSpPr>
        <p:spPr>
          <a:xfrm>
            <a:off x="3631463" y="665816"/>
            <a:ext cx="129209" cy="129209"/>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9" name="椭圆 78"/>
          <p:cNvSpPr/>
          <p:nvPr/>
        </p:nvSpPr>
        <p:spPr>
          <a:xfrm>
            <a:off x="3872466" y="665815"/>
            <a:ext cx="129209" cy="129209"/>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35834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1000"/>
                                        <p:tgtEl>
                                          <p:spTgt spid="5"/>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par>
                          <p:cTn id="12" fill="hold">
                            <p:stCondLst>
                              <p:cond delay="1500"/>
                            </p:stCondLst>
                            <p:childTnLst>
                              <p:par>
                                <p:cTn id="13" presetID="17" presetClass="entr" presetSubtype="8" fill="hold" grpId="0" nodeType="afterEffect">
                                  <p:stCondLst>
                                    <p:cond delay="0"/>
                                  </p:stCondLst>
                                  <p:childTnLst>
                                    <p:set>
                                      <p:cBhvr>
                                        <p:cTn id="14" dur="1" fill="hold">
                                          <p:stCondLst>
                                            <p:cond delay="0"/>
                                          </p:stCondLst>
                                        </p:cTn>
                                        <p:tgtEl>
                                          <p:spTgt spid="45"/>
                                        </p:tgtEl>
                                        <p:attrNameLst>
                                          <p:attrName>style.visibility</p:attrName>
                                        </p:attrNameLst>
                                      </p:cBhvr>
                                      <p:to>
                                        <p:strVal val="visible"/>
                                      </p:to>
                                    </p:set>
                                    <p:anim calcmode="lin" valueType="num">
                                      <p:cBhvr>
                                        <p:cTn id="15" dur="750" fill="hold"/>
                                        <p:tgtEl>
                                          <p:spTgt spid="45"/>
                                        </p:tgtEl>
                                        <p:attrNameLst>
                                          <p:attrName>ppt_x</p:attrName>
                                        </p:attrNameLst>
                                      </p:cBhvr>
                                      <p:tavLst>
                                        <p:tav tm="0">
                                          <p:val>
                                            <p:strVal val="#ppt_x-#ppt_w/2"/>
                                          </p:val>
                                        </p:tav>
                                        <p:tav tm="100000">
                                          <p:val>
                                            <p:strVal val="#ppt_x"/>
                                          </p:val>
                                        </p:tav>
                                      </p:tavLst>
                                    </p:anim>
                                    <p:anim calcmode="lin" valueType="num">
                                      <p:cBhvr>
                                        <p:cTn id="16" dur="750" fill="hold"/>
                                        <p:tgtEl>
                                          <p:spTgt spid="45"/>
                                        </p:tgtEl>
                                        <p:attrNameLst>
                                          <p:attrName>ppt_y</p:attrName>
                                        </p:attrNameLst>
                                      </p:cBhvr>
                                      <p:tavLst>
                                        <p:tav tm="0">
                                          <p:val>
                                            <p:strVal val="#ppt_y"/>
                                          </p:val>
                                        </p:tav>
                                        <p:tav tm="100000">
                                          <p:val>
                                            <p:strVal val="#ppt_y"/>
                                          </p:val>
                                        </p:tav>
                                      </p:tavLst>
                                    </p:anim>
                                    <p:anim calcmode="lin" valueType="num">
                                      <p:cBhvr>
                                        <p:cTn id="17" dur="750" fill="hold"/>
                                        <p:tgtEl>
                                          <p:spTgt spid="45"/>
                                        </p:tgtEl>
                                        <p:attrNameLst>
                                          <p:attrName>ppt_w</p:attrName>
                                        </p:attrNameLst>
                                      </p:cBhvr>
                                      <p:tavLst>
                                        <p:tav tm="0">
                                          <p:val>
                                            <p:fltVal val="0"/>
                                          </p:val>
                                        </p:tav>
                                        <p:tav tm="100000">
                                          <p:val>
                                            <p:strVal val="#ppt_w"/>
                                          </p:val>
                                        </p:tav>
                                      </p:tavLst>
                                    </p:anim>
                                    <p:anim calcmode="lin" valueType="num">
                                      <p:cBhvr>
                                        <p:cTn id="18" dur="750" fill="hold"/>
                                        <p:tgtEl>
                                          <p:spTgt spid="45"/>
                                        </p:tgtEl>
                                        <p:attrNameLst>
                                          <p:attrName>ppt_h</p:attrName>
                                        </p:attrNameLst>
                                      </p:cBhvr>
                                      <p:tavLst>
                                        <p:tav tm="0">
                                          <p:val>
                                            <p:strVal val="#ppt_h"/>
                                          </p:val>
                                        </p:tav>
                                        <p:tav tm="100000">
                                          <p:val>
                                            <p:strVal val="#ppt_h"/>
                                          </p:val>
                                        </p:tav>
                                      </p:tavLst>
                                    </p:anim>
                                  </p:childTnLst>
                                </p:cTn>
                              </p:par>
                            </p:childTnLst>
                          </p:cTn>
                        </p:par>
                        <p:par>
                          <p:cTn id="19" fill="hold">
                            <p:stCondLst>
                              <p:cond delay="2250"/>
                            </p:stCondLst>
                            <p:childTnLst>
                              <p:par>
                                <p:cTn id="20" presetID="10" presetClass="entr" presetSubtype="0" fill="hold"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p:cTn id="25" dur="1000" fill="hold"/>
                                        <p:tgtEl>
                                          <p:spTgt spid="10"/>
                                        </p:tgtEl>
                                        <p:attrNameLst>
                                          <p:attrName>ppt_w</p:attrName>
                                        </p:attrNameLst>
                                      </p:cBhvr>
                                      <p:tavLst>
                                        <p:tav tm="0">
                                          <p:val>
                                            <p:fltVal val="0"/>
                                          </p:val>
                                        </p:tav>
                                        <p:tav tm="100000">
                                          <p:val>
                                            <p:strVal val="#ppt_w"/>
                                          </p:val>
                                        </p:tav>
                                      </p:tavLst>
                                    </p:anim>
                                    <p:anim calcmode="lin" valueType="num">
                                      <p:cBhvr>
                                        <p:cTn id="26" dur="1000" fill="hold"/>
                                        <p:tgtEl>
                                          <p:spTgt spid="10"/>
                                        </p:tgtEl>
                                        <p:attrNameLst>
                                          <p:attrName>ppt_h</p:attrName>
                                        </p:attrNameLst>
                                      </p:cBhvr>
                                      <p:tavLst>
                                        <p:tav tm="0">
                                          <p:val>
                                            <p:fltVal val="0"/>
                                          </p:val>
                                        </p:tav>
                                        <p:tav tm="100000">
                                          <p:val>
                                            <p:strVal val="#ppt_h"/>
                                          </p:val>
                                        </p:tav>
                                      </p:tavLst>
                                    </p:anim>
                                    <p:animEffect transition="in" filter="fade">
                                      <p:cBhvr>
                                        <p:cTn id="27" dur="1000"/>
                                        <p:tgtEl>
                                          <p:spTgt spid="10"/>
                                        </p:tgtEl>
                                      </p:cBhvr>
                                    </p:animEffect>
                                  </p:childTnLst>
                                </p:cTn>
                              </p:par>
                              <p:par>
                                <p:cTn id="28" presetID="42" presetClass="entr" presetSubtype="0" fill="hold" grpId="0" nodeType="with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fade">
                                      <p:cBhvr>
                                        <p:cTn id="30" dur="1000"/>
                                        <p:tgtEl>
                                          <p:spTgt spid="2"/>
                                        </p:tgtEl>
                                      </p:cBhvr>
                                    </p:animEffect>
                                    <p:anim calcmode="lin" valueType="num">
                                      <p:cBhvr>
                                        <p:cTn id="31" dur="1000" fill="hold"/>
                                        <p:tgtEl>
                                          <p:spTgt spid="2"/>
                                        </p:tgtEl>
                                        <p:attrNameLst>
                                          <p:attrName>ppt_x</p:attrName>
                                        </p:attrNameLst>
                                      </p:cBhvr>
                                      <p:tavLst>
                                        <p:tav tm="0">
                                          <p:val>
                                            <p:strVal val="#ppt_x"/>
                                          </p:val>
                                        </p:tav>
                                        <p:tav tm="100000">
                                          <p:val>
                                            <p:strVal val="#ppt_x"/>
                                          </p:val>
                                        </p:tav>
                                      </p:tavLst>
                                    </p:anim>
                                    <p:anim calcmode="lin" valueType="num">
                                      <p:cBhvr>
                                        <p:cTn id="32" dur="1000" fill="hold"/>
                                        <p:tgtEl>
                                          <p:spTgt spid="2"/>
                                        </p:tgtEl>
                                        <p:attrNameLst>
                                          <p:attrName>ppt_y</p:attrName>
                                        </p:attrNameLst>
                                      </p:cBhvr>
                                      <p:tavLst>
                                        <p:tav tm="0">
                                          <p:val>
                                            <p:strVal val="#ppt_y+.1"/>
                                          </p:val>
                                        </p:tav>
                                        <p:tav tm="100000">
                                          <p:val>
                                            <p:strVal val="#ppt_y"/>
                                          </p:val>
                                        </p:tav>
                                      </p:tavLst>
                                    </p:anim>
                                  </p:childTnLst>
                                </p:cTn>
                              </p:par>
                              <p:par>
                                <p:cTn id="33" presetID="47" presetClass="entr" presetSubtype="0" fill="hold" grpId="0" nodeType="withEffect">
                                  <p:stCondLst>
                                    <p:cond delay="100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1000"/>
                                        <p:tgtEl>
                                          <p:spTgt spid="23"/>
                                        </p:tgtEl>
                                      </p:cBhvr>
                                    </p:animEffect>
                                    <p:anim calcmode="lin" valueType="num">
                                      <p:cBhvr>
                                        <p:cTn id="36" dur="1000" fill="hold"/>
                                        <p:tgtEl>
                                          <p:spTgt spid="23"/>
                                        </p:tgtEl>
                                        <p:attrNameLst>
                                          <p:attrName>ppt_x</p:attrName>
                                        </p:attrNameLst>
                                      </p:cBhvr>
                                      <p:tavLst>
                                        <p:tav tm="0">
                                          <p:val>
                                            <p:strVal val="#ppt_x"/>
                                          </p:val>
                                        </p:tav>
                                        <p:tav tm="100000">
                                          <p:val>
                                            <p:strVal val="#ppt_x"/>
                                          </p:val>
                                        </p:tav>
                                      </p:tavLst>
                                    </p:anim>
                                    <p:anim calcmode="lin" valueType="num">
                                      <p:cBhvr>
                                        <p:cTn id="37" dur="1000" fill="hold"/>
                                        <p:tgtEl>
                                          <p:spTgt spid="23"/>
                                        </p:tgtEl>
                                        <p:attrNameLst>
                                          <p:attrName>ppt_y</p:attrName>
                                        </p:attrNameLst>
                                      </p:cBhvr>
                                      <p:tavLst>
                                        <p:tav tm="0">
                                          <p:val>
                                            <p:strVal val="#ppt_y-.1"/>
                                          </p:val>
                                        </p:tav>
                                        <p:tav tm="100000">
                                          <p:val>
                                            <p:strVal val="#ppt_y"/>
                                          </p:val>
                                        </p:tav>
                                      </p:tavLst>
                                    </p:anim>
                                  </p:childTnLst>
                                </p:cTn>
                              </p:par>
                              <p:par>
                                <p:cTn id="38" presetID="53" presetClass="entr" presetSubtype="16" fill="hold" grpId="0" nodeType="withEffect">
                                  <p:stCondLst>
                                    <p:cond delay="1000"/>
                                  </p:stCondLst>
                                  <p:iterate type="lt">
                                    <p:tmPct val="10000"/>
                                  </p:iterate>
                                  <p:childTnLst>
                                    <p:set>
                                      <p:cBhvr>
                                        <p:cTn id="39" dur="1" fill="hold">
                                          <p:stCondLst>
                                            <p:cond delay="0"/>
                                          </p:stCondLst>
                                        </p:cTn>
                                        <p:tgtEl>
                                          <p:spTgt spid="15">
                                            <p:txEl>
                                              <p:pRg st="0" end="0"/>
                                            </p:txEl>
                                          </p:spTgt>
                                        </p:tgtEl>
                                        <p:attrNameLst>
                                          <p:attrName>style.visibility</p:attrName>
                                        </p:attrNameLst>
                                      </p:cBhvr>
                                      <p:to>
                                        <p:strVal val="visible"/>
                                      </p:to>
                                    </p:set>
                                    <p:anim calcmode="lin" valueType="num">
                                      <p:cBhvr>
                                        <p:cTn id="40" dur="1000" fill="hold"/>
                                        <p:tgtEl>
                                          <p:spTgt spid="15">
                                            <p:txEl>
                                              <p:pRg st="0" end="0"/>
                                            </p:txEl>
                                          </p:spTgt>
                                        </p:tgtEl>
                                        <p:attrNameLst>
                                          <p:attrName>ppt_w</p:attrName>
                                        </p:attrNameLst>
                                      </p:cBhvr>
                                      <p:tavLst>
                                        <p:tav tm="0">
                                          <p:val>
                                            <p:fltVal val="0"/>
                                          </p:val>
                                        </p:tav>
                                        <p:tav tm="100000">
                                          <p:val>
                                            <p:strVal val="#ppt_w"/>
                                          </p:val>
                                        </p:tav>
                                      </p:tavLst>
                                    </p:anim>
                                    <p:anim calcmode="lin" valueType="num">
                                      <p:cBhvr>
                                        <p:cTn id="41" dur="1000" fill="hold"/>
                                        <p:tgtEl>
                                          <p:spTgt spid="15">
                                            <p:txEl>
                                              <p:pRg st="0" end="0"/>
                                            </p:txEl>
                                          </p:spTgt>
                                        </p:tgtEl>
                                        <p:attrNameLst>
                                          <p:attrName>ppt_h</p:attrName>
                                        </p:attrNameLst>
                                      </p:cBhvr>
                                      <p:tavLst>
                                        <p:tav tm="0">
                                          <p:val>
                                            <p:fltVal val="0"/>
                                          </p:val>
                                        </p:tav>
                                        <p:tav tm="100000">
                                          <p:val>
                                            <p:strVal val="#ppt_h"/>
                                          </p:val>
                                        </p:tav>
                                      </p:tavLst>
                                    </p:anim>
                                    <p:animEffect transition="in" filter="fade">
                                      <p:cBhvr>
                                        <p:cTn id="42" dur="1000"/>
                                        <p:tgtEl>
                                          <p:spTgt spid="15">
                                            <p:txEl>
                                              <p:pRg st="0" end="0"/>
                                            </p:txEl>
                                          </p:spTgt>
                                        </p:tgtEl>
                                      </p:cBhvr>
                                    </p:animEffect>
                                  </p:childTnLst>
                                </p:cTn>
                              </p:par>
                              <p:par>
                                <p:cTn id="43" presetID="10" presetClass="entr" presetSubtype="0" fill="hold" nodeType="withEffect">
                                  <p:stCondLst>
                                    <p:cond delay="3000"/>
                                  </p:stCondLst>
                                  <p:childTnLst>
                                    <p:set>
                                      <p:cBhvr>
                                        <p:cTn id="44" dur="1" fill="hold">
                                          <p:stCondLst>
                                            <p:cond delay="0"/>
                                          </p:stCondLst>
                                        </p:cTn>
                                        <p:tgtEl>
                                          <p:spTgt spid="60"/>
                                        </p:tgtEl>
                                        <p:attrNameLst>
                                          <p:attrName>style.visibility</p:attrName>
                                        </p:attrNameLst>
                                      </p:cBhvr>
                                      <p:to>
                                        <p:strVal val="visible"/>
                                      </p:to>
                                    </p:set>
                                    <p:animEffect transition="in" filter="fade">
                                      <p:cBhvr>
                                        <p:cTn id="45" dur="500"/>
                                        <p:tgtEl>
                                          <p:spTgt spid="60"/>
                                        </p:tgtEl>
                                      </p:cBhvr>
                                    </p:animEffect>
                                  </p:childTnLst>
                                </p:cTn>
                              </p:par>
                              <p:par>
                                <p:cTn id="46" presetID="42" presetClass="path" presetSubtype="0" repeatCount="indefinite" accel="50000" decel="50000" autoRev="1" fill="hold" nodeType="withEffect">
                                  <p:stCondLst>
                                    <p:cond delay="3250"/>
                                  </p:stCondLst>
                                  <p:childTnLst>
                                    <p:animMotion origin="layout" path="M 2.77778E-6 -2.22222E-6 L 0.06614 0.00334 " pathEditMode="relative" rAng="0" ptsTypes="AA">
                                      <p:cBhvr>
                                        <p:cTn id="47" dur="750" fill="hold"/>
                                        <p:tgtEl>
                                          <p:spTgt spid="60"/>
                                        </p:tgtEl>
                                        <p:attrNameLst>
                                          <p:attrName>ppt_x</p:attrName>
                                          <p:attrName>ppt_y</p:attrName>
                                        </p:attrNameLst>
                                      </p:cBhvr>
                                      <p:rCtr x="3299" y="167"/>
                                    </p:animMotion>
                                  </p:childTnLst>
                                </p:cTn>
                              </p:par>
                              <p:par>
                                <p:cTn id="48" presetID="2" presetClass="entr" presetSubtype="1" fill="hold" grpId="0" nodeType="withEffect">
                                  <p:stCondLst>
                                    <p:cond delay="0"/>
                                  </p:stCondLst>
                                  <p:childTnLst>
                                    <p:set>
                                      <p:cBhvr>
                                        <p:cTn id="49" dur="1" fill="hold">
                                          <p:stCondLst>
                                            <p:cond delay="0"/>
                                          </p:stCondLst>
                                        </p:cTn>
                                        <p:tgtEl>
                                          <p:spTgt spid="75"/>
                                        </p:tgtEl>
                                        <p:attrNameLst>
                                          <p:attrName>style.visibility</p:attrName>
                                        </p:attrNameLst>
                                      </p:cBhvr>
                                      <p:to>
                                        <p:strVal val="visible"/>
                                      </p:to>
                                    </p:set>
                                    <p:anim calcmode="lin" valueType="num">
                                      <p:cBhvr additive="base">
                                        <p:cTn id="50" dur="750" fill="hold"/>
                                        <p:tgtEl>
                                          <p:spTgt spid="75"/>
                                        </p:tgtEl>
                                        <p:attrNameLst>
                                          <p:attrName>ppt_x</p:attrName>
                                        </p:attrNameLst>
                                      </p:cBhvr>
                                      <p:tavLst>
                                        <p:tav tm="0">
                                          <p:val>
                                            <p:strVal val="#ppt_x"/>
                                          </p:val>
                                        </p:tav>
                                        <p:tav tm="100000">
                                          <p:val>
                                            <p:strVal val="#ppt_x"/>
                                          </p:val>
                                        </p:tav>
                                      </p:tavLst>
                                    </p:anim>
                                    <p:anim calcmode="lin" valueType="num">
                                      <p:cBhvr additive="base">
                                        <p:cTn id="51" dur="750" fill="hold"/>
                                        <p:tgtEl>
                                          <p:spTgt spid="75"/>
                                        </p:tgtEl>
                                        <p:attrNameLst>
                                          <p:attrName>ppt_y</p:attrName>
                                        </p:attrNameLst>
                                      </p:cBhvr>
                                      <p:tavLst>
                                        <p:tav tm="0">
                                          <p:val>
                                            <p:strVal val="0-#ppt_h/2"/>
                                          </p:val>
                                        </p:tav>
                                        <p:tav tm="100000">
                                          <p:val>
                                            <p:strVal val="#ppt_y"/>
                                          </p:val>
                                        </p:tav>
                                      </p:tavLst>
                                    </p:anim>
                                  </p:childTnLst>
                                </p:cTn>
                              </p:par>
                              <p:par>
                                <p:cTn id="52" presetID="2" presetClass="entr" presetSubtype="1" fill="hold" grpId="0" nodeType="withEffect">
                                  <p:stCondLst>
                                    <p:cond delay="250"/>
                                  </p:stCondLst>
                                  <p:childTnLst>
                                    <p:set>
                                      <p:cBhvr>
                                        <p:cTn id="53" dur="1" fill="hold">
                                          <p:stCondLst>
                                            <p:cond delay="0"/>
                                          </p:stCondLst>
                                        </p:cTn>
                                        <p:tgtEl>
                                          <p:spTgt spid="76"/>
                                        </p:tgtEl>
                                        <p:attrNameLst>
                                          <p:attrName>style.visibility</p:attrName>
                                        </p:attrNameLst>
                                      </p:cBhvr>
                                      <p:to>
                                        <p:strVal val="visible"/>
                                      </p:to>
                                    </p:set>
                                    <p:anim calcmode="lin" valueType="num">
                                      <p:cBhvr additive="base">
                                        <p:cTn id="54" dur="750" fill="hold"/>
                                        <p:tgtEl>
                                          <p:spTgt spid="76"/>
                                        </p:tgtEl>
                                        <p:attrNameLst>
                                          <p:attrName>ppt_x</p:attrName>
                                        </p:attrNameLst>
                                      </p:cBhvr>
                                      <p:tavLst>
                                        <p:tav tm="0">
                                          <p:val>
                                            <p:strVal val="#ppt_x"/>
                                          </p:val>
                                        </p:tav>
                                        <p:tav tm="100000">
                                          <p:val>
                                            <p:strVal val="#ppt_x"/>
                                          </p:val>
                                        </p:tav>
                                      </p:tavLst>
                                    </p:anim>
                                    <p:anim calcmode="lin" valueType="num">
                                      <p:cBhvr additive="base">
                                        <p:cTn id="55" dur="750" fill="hold"/>
                                        <p:tgtEl>
                                          <p:spTgt spid="76"/>
                                        </p:tgtEl>
                                        <p:attrNameLst>
                                          <p:attrName>ppt_y</p:attrName>
                                        </p:attrNameLst>
                                      </p:cBhvr>
                                      <p:tavLst>
                                        <p:tav tm="0">
                                          <p:val>
                                            <p:strVal val="0-#ppt_h/2"/>
                                          </p:val>
                                        </p:tav>
                                        <p:tav tm="100000">
                                          <p:val>
                                            <p:strVal val="#ppt_y"/>
                                          </p:val>
                                        </p:tav>
                                      </p:tavLst>
                                    </p:anim>
                                  </p:childTnLst>
                                </p:cTn>
                              </p:par>
                              <p:par>
                                <p:cTn id="56" presetID="2" presetClass="entr" presetSubtype="1" fill="hold" grpId="0" nodeType="withEffect">
                                  <p:stCondLst>
                                    <p:cond delay="500"/>
                                  </p:stCondLst>
                                  <p:childTnLst>
                                    <p:set>
                                      <p:cBhvr>
                                        <p:cTn id="57" dur="1" fill="hold">
                                          <p:stCondLst>
                                            <p:cond delay="0"/>
                                          </p:stCondLst>
                                        </p:cTn>
                                        <p:tgtEl>
                                          <p:spTgt spid="77"/>
                                        </p:tgtEl>
                                        <p:attrNameLst>
                                          <p:attrName>style.visibility</p:attrName>
                                        </p:attrNameLst>
                                      </p:cBhvr>
                                      <p:to>
                                        <p:strVal val="visible"/>
                                      </p:to>
                                    </p:set>
                                    <p:anim calcmode="lin" valueType="num">
                                      <p:cBhvr additive="base">
                                        <p:cTn id="58" dur="750" fill="hold"/>
                                        <p:tgtEl>
                                          <p:spTgt spid="77"/>
                                        </p:tgtEl>
                                        <p:attrNameLst>
                                          <p:attrName>ppt_x</p:attrName>
                                        </p:attrNameLst>
                                      </p:cBhvr>
                                      <p:tavLst>
                                        <p:tav tm="0">
                                          <p:val>
                                            <p:strVal val="#ppt_x"/>
                                          </p:val>
                                        </p:tav>
                                        <p:tav tm="100000">
                                          <p:val>
                                            <p:strVal val="#ppt_x"/>
                                          </p:val>
                                        </p:tav>
                                      </p:tavLst>
                                    </p:anim>
                                    <p:anim calcmode="lin" valueType="num">
                                      <p:cBhvr additive="base">
                                        <p:cTn id="59" dur="750" fill="hold"/>
                                        <p:tgtEl>
                                          <p:spTgt spid="77"/>
                                        </p:tgtEl>
                                        <p:attrNameLst>
                                          <p:attrName>ppt_y</p:attrName>
                                        </p:attrNameLst>
                                      </p:cBhvr>
                                      <p:tavLst>
                                        <p:tav tm="0">
                                          <p:val>
                                            <p:strVal val="0-#ppt_h/2"/>
                                          </p:val>
                                        </p:tav>
                                        <p:tav tm="100000">
                                          <p:val>
                                            <p:strVal val="#ppt_y"/>
                                          </p:val>
                                        </p:tav>
                                      </p:tavLst>
                                    </p:anim>
                                  </p:childTnLst>
                                </p:cTn>
                              </p:par>
                              <p:par>
                                <p:cTn id="60" presetID="2" presetClass="entr" presetSubtype="1" fill="hold" grpId="0" nodeType="withEffect">
                                  <p:stCondLst>
                                    <p:cond delay="750"/>
                                  </p:stCondLst>
                                  <p:childTnLst>
                                    <p:set>
                                      <p:cBhvr>
                                        <p:cTn id="61" dur="1" fill="hold">
                                          <p:stCondLst>
                                            <p:cond delay="0"/>
                                          </p:stCondLst>
                                        </p:cTn>
                                        <p:tgtEl>
                                          <p:spTgt spid="78"/>
                                        </p:tgtEl>
                                        <p:attrNameLst>
                                          <p:attrName>style.visibility</p:attrName>
                                        </p:attrNameLst>
                                      </p:cBhvr>
                                      <p:to>
                                        <p:strVal val="visible"/>
                                      </p:to>
                                    </p:set>
                                    <p:anim calcmode="lin" valueType="num">
                                      <p:cBhvr additive="base">
                                        <p:cTn id="62" dur="750" fill="hold"/>
                                        <p:tgtEl>
                                          <p:spTgt spid="78"/>
                                        </p:tgtEl>
                                        <p:attrNameLst>
                                          <p:attrName>ppt_x</p:attrName>
                                        </p:attrNameLst>
                                      </p:cBhvr>
                                      <p:tavLst>
                                        <p:tav tm="0">
                                          <p:val>
                                            <p:strVal val="#ppt_x"/>
                                          </p:val>
                                        </p:tav>
                                        <p:tav tm="100000">
                                          <p:val>
                                            <p:strVal val="#ppt_x"/>
                                          </p:val>
                                        </p:tav>
                                      </p:tavLst>
                                    </p:anim>
                                    <p:anim calcmode="lin" valueType="num">
                                      <p:cBhvr additive="base">
                                        <p:cTn id="63" dur="750" fill="hold"/>
                                        <p:tgtEl>
                                          <p:spTgt spid="78"/>
                                        </p:tgtEl>
                                        <p:attrNameLst>
                                          <p:attrName>ppt_y</p:attrName>
                                        </p:attrNameLst>
                                      </p:cBhvr>
                                      <p:tavLst>
                                        <p:tav tm="0">
                                          <p:val>
                                            <p:strVal val="0-#ppt_h/2"/>
                                          </p:val>
                                        </p:tav>
                                        <p:tav tm="100000">
                                          <p:val>
                                            <p:strVal val="#ppt_y"/>
                                          </p:val>
                                        </p:tav>
                                      </p:tavLst>
                                    </p:anim>
                                  </p:childTnLst>
                                </p:cTn>
                              </p:par>
                              <p:par>
                                <p:cTn id="64" presetID="2" presetClass="entr" presetSubtype="1" fill="hold" grpId="0" nodeType="withEffect">
                                  <p:stCondLst>
                                    <p:cond delay="1000"/>
                                  </p:stCondLst>
                                  <p:childTnLst>
                                    <p:set>
                                      <p:cBhvr>
                                        <p:cTn id="65" dur="1" fill="hold">
                                          <p:stCondLst>
                                            <p:cond delay="0"/>
                                          </p:stCondLst>
                                        </p:cTn>
                                        <p:tgtEl>
                                          <p:spTgt spid="79"/>
                                        </p:tgtEl>
                                        <p:attrNameLst>
                                          <p:attrName>style.visibility</p:attrName>
                                        </p:attrNameLst>
                                      </p:cBhvr>
                                      <p:to>
                                        <p:strVal val="visible"/>
                                      </p:to>
                                    </p:set>
                                    <p:anim calcmode="lin" valueType="num">
                                      <p:cBhvr additive="base">
                                        <p:cTn id="66" dur="750" fill="hold"/>
                                        <p:tgtEl>
                                          <p:spTgt spid="79"/>
                                        </p:tgtEl>
                                        <p:attrNameLst>
                                          <p:attrName>ppt_x</p:attrName>
                                        </p:attrNameLst>
                                      </p:cBhvr>
                                      <p:tavLst>
                                        <p:tav tm="0">
                                          <p:val>
                                            <p:strVal val="#ppt_x"/>
                                          </p:val>
                                        </p:tav>
                                        <p:tav tm="100000">
                                          <p:val>
                                            <p:strVal val="#ppt_x"/>
                                          </p:val>
                                        </p:tav>
                                      </p:tavLst>
                                    </p:anim>
                                    <p:anim calcmode="lin" valueType="num">
                                      <p:cBhvr additive="base">
                                        <p:cTn id="67" dur="750" fill="hold"/>
                                        <p:tgtEl>
                                          <p:spTgt spid="7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5" grpId="0" build="p"/>
      <p:bldP spid="10" grpId="0"/>
      <p:bldP spid="23" grpId="0" animBg="1"/>
      <p:bldP spid="45" grpId="0" animBg="1"/>
      <p:bldP spid="2" grpId="0"/>
      <p:bldP spid="75" grpId="0" animBg="1"/>
      <p:bldP spid="76" grpId="0" animBg="1"/>
      <p:bldP spid="77" grpId="0" animBg="1"/>
      <p:bldP spid="78" grpId="0" animBg="1"/>
      <p:bldP spid="7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100000"/>
                    </a14:imgEffect>
                  </a14:imgLayer>
                </a14:imgProps>
              </a:ext>
            </a:extLst>
          </a:blip>
          <a:srcRect/>
          <a:stretch>
            <a:fillRect t="-3000" b="-3000"/>
          </a:stretch>
        </a:blipFill>
        <a:effectLst/>
      </p:bgPr>
    </p:bg>
    <p:spTree>
      <p:nvGrpSpPr>
        <p:cNvPr id="1" name=""/>
        <p:cNvGrpSpPr/>
        <p:nvPr/>
      </p:nvGrpSpPr>
      <p:grpSpPr>
        <a:xfrm>
          <a:off x="0" y="0"/>
          <a:ext cx="0" cy="0"/>
          <a:chOff x="0" y="0"/>
          <a:chExt cx="0" cy="0"/>
        </a:xfrm>
      </p:grpSpPr>
      <p:sp>
        <p:nvSpPr>
          <p:cNvPr id="3" name="矩形 2"/>
          <p:cNvSpPr/>
          <p:nvPr/>
        </p:nvSpPr>
        <p:spPr>
          <a:xfrm>
            <a:off x="0" y="0"/>
            <a:ext cx="9144000" cy="5715000"/>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idx="4294967295"/>
          </p:nvPr>
        </p:nvSpPr>
        <p:spPr>
          <a:xfrm>
            <a:off x="538618" y="790498"/>
            <a:ext cx="7886700" cy="876822"/>
          </a:xfrm>
        </p:spPr>
        <p:txBody>
          <a:bodyPr>
            <a:normAutofit fontScale="90000"/>
          </a:bodyPr>
          <a:lstStyle/>
          <a:p>
            <a:pPr algn="ctr"/>
            <a:r>
              <a:rPr lang="en-US" altLang="zh-CN" sz="3600" b="1" dirty="0">
                <a:solidFill>
                  <a:schemeClr val="accent2"/>
                </a:solidFill>
                <a:effectLst>
                  <a:outerShdw blurRad="38100" dist="38100" dir="2700000" algn="tl">
                    <a:srgbClr val="000000">
                      <a:alpha val="43137"/>
                    </a:srgbClr>
                  </a:outerShdw>
                </a:effectLst>
                <a:latin typeface="+mj-ea"/>
              </a:rPr>
              <a:t>2017</a:t>
            </a:r>
            <a:r>
              <a:rPr lang="zh-CN" altLang="en-US" sz="3600" b="1" dirty="0">
                <a:solidFill>
                  <a:schemeClr val="accent2"/>
                </a:solidFill>
                <a:effectLst>
                  <a:outerShdw blurRad="38100" dist="38100" dir="2700000" algn="tl">
                    <a:srgbClr val="000000">
                      <a:alpha val="43137"/>
                    </a:srgbClr>
                  </a:outerShdw>
                </a:effectLst>
                <a:latin typeface="+mj-ea"/>
              </a:rPr>
              <a:t>年企业计划使用</a:t>
            </a:r>
            <a:r>
              <a:rPr lang="en-US" altLang="zh-CN" sz="3600" b="1" dirty="0">
                <a:solidFill>
                  <a:schemeClr val="accent2"/>
                </a:solidFill>
                <a:effectLst>
                  <a:outerShdw blurRad="38100" dist="38100" dir="2700000" algn="tl">
                    <a:srgbClr val="000000">
                      <a:alpha val="43137"/>
                    </a:srgbClr>
                  </a:outerShdw>
                </a:effectLst>
                <a:latin typeface="+mj-ea"/>
              </a:rPr>
              <a:t>SaaS</a:t>
            </a:r>
            <a:r>
              <a:rPr lang="zh-CN" altLang="en-US" sz="3600" b="1" dirty="0">
                <a:solidFill>
                  <a:schemeClr val="accent2"/>
                </a:solidFill>
                <a:effectLst>
                  <a:outerShdw blurRad="38100" dist="38100" dir="2700000" algn="tl">
                    <a:srgbClr val="000000">
                      <a:alpha val="43137"/>
                    </a:srgbClr>
                  </a:outerShdw>
                </a:effectLst>
                <a:latin typeface="+mj-ea"/>
              </a:rPr>
              <a:t>情况</a:t>
            </a:r>
            <a:br>
              <a:rPr lang="zh-CN" altLang="en-US" sz="2800" b="1" dirty="0">
                <a:solidFill>
                  <a:schemeClr val="tx2">
                    <a:lumMod val="50000"/>
                  </a:schemeClr>
                </a:solidFill>
                <a:latin typeface="+mj-ea"/>
              </a:rPr>
            </a:br>
            <a:endParaRPr lang="zh-CN" altLang="en-US" sz="2800" b="1" dirty="0">
              <a:solidFill>
                <a:schemeClr val="tx2">
                  <a:lumMod val="50000"/>
                </a:schemeClr>
              </a:solidFill>
              <a:latin typeface="+mj-ea"/>
            </a:endParaRPr>
          </a:p>
        </p:txBody>
      </p:sp>
      <p:graphicFrame>
        <p:nvGraphicFramePr>
          <p:cNvPr id="5" name="图表 4"/>
          <p:cNvGraphicFramePr/>
          <p:nvPr>
            <p:extLst>
              <p:ext uri="{D42A27DB-BD31-4B8C-83A1-F6EECF244321}">
                <p14:modId xmlns:p14="http://schemas.microsoft.com/office/powerpoint/2010/main" val="2965777722"/>
              </p:ext>
            </p:extLst>
          </p:nvPr>
        </p:nvGraphicFramePr>
        <p:xfrm>
          <a:off x="933225" y="1730901"/>
          <a:ext cx="7097487" cy="3640225"/>
        </p:xfrm>
        <a:graphic>
          <a:graphicData uri="http://schemas.openxmlformats.org/drawingml/2006/chart">
            <c:chart xmlns:c="http://schemas.openxmlformats.org/drawingml/2006/chart" xmlns:r="http://schemas.openxmlformats.org/officeDocument/2006/relationships" r:id="rId4"/>
          </a:graphicData>
        </a:graphic>
      </p:graphicFrame>
      <p:sp>
        <p:nvSpPr>
          <p:cNvPr id="12" name="矩形 11"/>
          <p:cNvSpPr/>
          <p:nvPr/>
        </p:nvSpPr>
        <p:spPr>
          <a:xfrm>
            <a:off x="1514633" y="726916"/>
            <a:ext cx="6010631" cy="607613"/>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39213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ppt_x</p:attrName>
                                        </p:attrNameLst>
                                      </p:cBhvr>
                                      <p:tavLst>
                                        <p:tav tm="0">
                                          <p:val>
                                            <p:strVal val="#ppt_x-#ppt_w/2"/>
                                          </p:val>
                                        </p:tav>
                                        <p:tav tm="100000">
                                          <p:val>
                                            <p:strVal val="#ppt_x"/>
                                          </p:val>
                                        </p:tav>
                                      </p:tavLst>
                                    </p:anim>
                                    <p:anim calcmode="lin" valueType="num">
                                      <p:cBhvr>
                                        <p:cTn id="8" dur="500" fill="hold"/>
                                        <p:tgtEl>
                                          <p:spTgt spid="12"/>
                                        </p:tgtEl>
                                        <p:attrNameLst>
                                          <p:attrName>ppt_y</p:attrName>
                                        </p:attrNameLst>
                                      </p:cBhvr>
                                      <p:tavLst>
                                        <p:tav tm="0">
                                          <p:val>
                                            <p:strVal val="#ppt_y"/>
                                          </p:val>
                                        </p:tav>
                                        <p:tav tm="100000">
                                          <p:val>
                                            <p:strVal val="#ppt_y"/>
                                          </p:val>
                                        </p:tav>
                                      </p:tavLst>
                                    </p:anim>
                                    <p:anim calcmode="lin" valueType="num">
                                      <p:cBhvr>
                                        <p:cTn id="9" dur="500" fill="hold"/>
                                        <p:tgtEl>
                                          <p:spTgt spid="12"/>
                                        </p:tgtEl>
                                        <p:attrNameLst>
                                          <p:attrName>ppt_w</p:attrName>
                                        </p:attrNameLst>
                                      </p:cBhvr>
                                      <p:tavLst>
                                        <p:tav tm="0">
                                          <p:val>
                                            <p:fltVal val="0"/>
                                          </p:val>
                                        </p:tav>
                                        <p:tav tm="100000">
                                          <p:val>
                                            <p:strVal val="#ppt_w"/>
                                          </p:val>
                                        </p:tav>
                                      </p:tavLst>
                                    </p:anim>
                                    <p:anim calcmode="lin" valueType="num">
                                      <p:cBhvr>
                                        <p:cTn id="10" dur="500" fill="hold"/>
                                        <p:tgtEl>
                                          <p:spTgt spid="12"/>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17" presetClass="exit" presetSubtype="2" fill="hold" grpId="1" nodeType="afterEffect">
                                  <p:stCondLst>
                                    <p:cond delay="0"/>
                                  </p:stCondLst>
                                  <p:childTnLst>
                                    <p:anim calcmode="lin" valueType="num">
                                      <p:cBhvr>
                                        <p:cTn id="13" dur="500"/>
                                        <p:tgtEl>
                                          <p:spTgt spid="12"/>
                                        </p:tgtEl>
                                        <p:attrNameLst>
                                          <p:attrName>ppt_x</p:attrName>
                                        </p:attrNameLst>
                                      </p:cBhvr>
                                      <p:tavLst>
                                        <p:tav tm="0">
                                          <p:val>
                                            <p:strVal val="ppt_x"/>
                                          </p:val>
                                        </p:tav>
                                        <p:tav tm="100000">
                                          <p:val>
                                            <p:strVal val="ppt_x+ppt_w/2"/>
                                          </p:val>
                                        </p:tav>
                                      </p:tavLst>
                                    </p:anim>
                                    <p:anim calcmode="lin" valueType="num">
                                      <p:cBhvr>
                                        <p:cTn id="14" dur="500"/>
                                        <p:tgtEl>
                                          <p:spTgt spid="12"/>
                                        </p:tgtEl>
                                        <p:attrNameLst>
                                          <p:attrName>ppt_y</p:attrName>
                                        </p:attrNameLst>
                                      </p:cBhvr>
                                      <p:tavLst>
                                        <p:tav tm="0">
                                          <p:val>
                                            <p:strVal val="ppt_y"/>
                                          </p:val>
                                        </p:tav>
                                        <p:tav tm="100000">
                                          <p:val>
                                            <p:strVal val="ppt_y"/>
                                          </p:val>
                                        </p:tav>
                                      </p:tavLst>
                                    </p:anim>
                                    <p:anim calcmode="lin" valueType="num">
                                      <p:cBhvr>
                                        <p:cTn id="15" dur="500"/>
                                        <p:tgtEl>
                                          <p:spTgt spid="12"/>
                                        </p:tgtEl>
                                        <p:attrNameLst>
                                          <p:attrName>ppt_w</p:attrName>
                                        </p:attrNameLst>
                                      </p:cBhvr>
                                      <p:tavLst>
                                        <p:tav tm="0">
                                          <p:val>
                                            <p:strVal val="ppt_w"/>
                                          </p:val>
                                        </p:tav>
                                        <p:tav tm="100000">
                                          <p:val>
                                            <p:fltVal val="0"/>
                                          </p:val>
                                        </p:tav>
                                      </p:tavLst>
                                    </p:anim>
                                    <p:anim calcmode="lin" valueType="num">
                                      <p:cBhvr>
                                        <p:cTn id="16" dur="500"/>
                                        <p:tgtEl>
                                          <p:spTgt spid="12"/>
                                        </p:tgtEl>
                                        <p:attrNameLst>
                                          <p:attrName>ppt_h</p:attrName>
                                        </p:attrNameLst>
                                      </p:cBhvr>
                                      <p:tavLst>
                                        <p:tav tm="0">
                                          <p:val>
                                            <p:strVal val="ppt_h"/>
                                          </p:val>
                                        </p:tav>
                                        <p:tav tm="100000">
                                          <p:val>
                                            <p:strVal val="ppt_h"/>
                                          </p:val>
                                        </p:tav>
                                      </p:tavLst>
                                    </p:anim>
                                    <p:set>
                                      <p:cBhvr>
                                        <p:cTn id="17" dur="1" fill="hold">
                                          <p:stCondLst>
                                            <p:cond delay="499"/>
                                          </p:stCondLst>
                                        </p:cTn>
                                        <p:tgtEl>
                                          <p:spTgt spid="12"/>
                                        </p:tgtEl>
                                        <p:attrNameLst>
                                          <p:attrName>style.visibility</p:attrName>
                                        </p:attrNameLst>
                                      </p:cBhvr>
                                      <p:to>
                                        <p:strVal val="hidden"/>
                                      </p:to>
                                    </p:set>
                                  </p:childTnLst>
                                </p:cTn>
                              </p:par>
                              <p:par>
                                <p:cTn id="18" presetID="1" presetClass="entr" presetSubtype="0" fill="hold" grpId="0" nodeType="withEffect">
                                  <p:stCondLst>
                                    <p:cond delay="0"/>
                                  </p:stCondLst>
                                  <p:childTnLst>
                                    <p:set>
                                      <p:cBhvr>
                                        <p:cTn id="19" dur="1" fill="hold">
                                          <p:stCondLst>
                                            <p:cond delay="0"/>
                                          </p:stCondLst>
                                        </p:cTn>
                                        <p:tgtEl>
                                          <p:spTgt spid="2"/>
                                        </p:tgtEl>
                                        <p:attrNameLst>
                                          <p:attrName>style.visibility</p:attrName>
                                        </p:attrNameLst>
                                      </p:cBhvr>
                                      <p:to>
                                        <p:strVal val="visible"/>
                                      </p:to>
                                    </p:set>
                                  </p:childTnLst>
                                </p:cTn>
                              </p:par>
                              <p:par>
                                <p:cTn id="20" presetID="22" presetClass="entr" presetSubtype="4" fill="hold" grpId="0" nodeType="withEffect">
                                  <p:stCondLst>
                                    <p:cond delay="500"/>
                                  </p:stCondLst>
                                  <p:childTnLst>
                                    <p:set>
                                      <p:cBhvr>
                                        <p:cTn id="21" dur="1" fill="hold">
                                          <p:stCondLst>
                                            <p:cond delay="0"/>
                                          </p:stCondLst>
                                        </p:cTn>
                                        <p:tgtEl>
                                          <p:spTgt spid="5">
                                            <p:graphicEl>
                                              <a:chart seriesIdx="-3" categoryIdx="-3" bldStep="gridLegend"/>
                                            </p:graphicEl>
                                          </p:spTgt>
                                        </p:tgtEl>
                                        <p:attrNameLst>
                                          <p:attrName>style.visibility</p:attrName>
                                        </p:attrNameLst>
                                      </p:cBhvr>
                                      <p:to>
                                        <p:strVal val="visible"/>
                                      </p:to>
                                    </p:set>
                                    <p:animEffect transition="in" filter="wipe(down)">
                                      <p:cBhvr>
                                        <p:cTn id="22" dur="1000"/>
                                        <p:tgtEl>
                                          <p:spTgt spid="5">
                                            <p:graphicEl>
                                              <a:chart seriesIdx="-3" categoryIdx="-3" bldStep="gridLegend"/>
                                            </p:graphicEl>
                                          </p:spTgt>
                                        </p:tgtEl>
                                      </p:cBhvr>
                                    </p:animEffect>
                                  </p:childTnLst>
                                </p:cTn>
                              </p:par>
                              <p:par>
                                <p:cTn id="23" presetID="22" presetClass="entr" presetSubtype="4" fill="hold" grpId="0" nodeType="withEffect">
                                  <p:stCondLst>
                                    <p:cond delay="1250"/>
                                  </p:stCondLst>
                                  <p:childTnLst>
                                    <p:set>
                                      <p:cBhvr>
                                        <p:cTn id="24" dur="1" fill="hold">
                                          <p:stCondLst>
                                            <p:cond delay="0"/>
                                          </p:stCondLst>
                                        </p:cTn>
                                        <p:tgtEl>
                                          <p:spTgt spid="5">
                                            <p:graphicEl>
                                              <a:chart seriesIdx="-4" categoryIdx="0" bldStep="category"/>
                                            </p:graphicEl>
                                          </p:spTgt>
                                        </p:tgtEl>
                                        <p:attrNameLst>
                                          <p:attrName>style.visibility</p:attrName>
                                        </p:attrNameLst>
                                      </p:cBhvr>
                                      <p:to>
                                        <p:strVal val="visible"/>
                                      </p:to>
                                    </p:set>
                                    <p:animEffect transition="in" filter="wipe(down)">
                                      <p:cBhvr>
                                        <p:cTn id="25" dur="750"/>
                                        <p:tgtEl>
                                          <p:spTgt spid="5">
                                            <p:graphicEl>
                                              <a:chart seriesIdx="-4" categoryIdx="0" bldStep="category"/>
                                            </p:graphicEl>
                                          </p:spTgt>
                                        </p:tgtEl>
                                      </p:cBhvr>
                                    </p:animEffect>
                                  </p:childTnLst>
                                </p:cTn>
                              </p:par>
                              <p:par>
                                <p:cTn id="26" presetID="22" presetClass="entr" presetSubtype="4" fill="hold" grpId="0" nodeType="withEffect">
                                  <p:stCondLst>
                                    <p:cond delay="1750"/>
                                  </p:stCondLst>
                                  <p:childTnLst>
                                    <p:set>
                                      <p:cBhvr>
                                        <p:cTn id="27" dur="1" fill="hold">
                                          <p:stCondLst>
                                            <p:cond delay="0"/>
                                          </p:stCondLst>
                                        </p:cTn>
                                        <p:tgtEl>
                                          <p:spTgt spid="5">
                                            <p:graphicEl>
                                              <a:chart seriesIdx="-4" categoryIdx="1" bldStep="category"/>
                                            </p:graphicEl>
                                          </p:spTgt>
                                        </p:tgtEl>
                                        <p:attrNameLst>
                                          <p:attrName>style.visibility</p:attrName>
                                        </p:attrNameLst>
                                      </p:cBhvr>
                                      <p:to>
                                        <p:strVal val="visible"/>
                                      </p:to>
                                    </p:set>
                                    <p:animEffect transition="in" filter="wipe(down)">
                                      <p:cBhvr>
                                        <p:cTn id="28" dur="500"/>
                                        <p:tgtEl>
                                          <p:spTgt spid="5">
                                            <p:graphicEl>
                                              <a:chart seriesIdx="-4" categoryIdx="1" bldStep="category"/>
                                            </p:graphicEl>
                                          </p:spTgt>
                                        </p:tgtEl>
                                      </p:cBhvr>
                                    </p:animEffect>
                                  </p:childTnLst>
                                </p:cTn>
                              </p:par>
                              <p:par>
                                <p:cTn id="29" presetID="22" presetClass="entr" presetSubtype="4" fill="hold" grpId="0" nodeType="withEffect">
                                  <p:stCondLst>
                                    <p:cond delay="2000"/>
                                  </p:stCondLst>
                                  <p:childTnLst>
                                    <p:set>
                                      <p:cBhvr>
                                        <p:cTn id="30" dur="1" fill="hold">
                                          <p:stCondLst>
                                            <p:cond delay="0"/>
                                          </p:stCondLst>
                                        </p:cTn>
                                        <p:tgtEl>
                                          <p:spTgt spid="5">
                                            <p:graphicEl>
                                              <a:chart seriesIdx="-4" categoryIdx="2" bldStep="category"/>
                                            </p:graphicEl>
                                          </p:spTgt>
                                        </p:tgtEl>
                                        <p:attrNameLst>
                                          <p:attrName>style.visibility</p:attrName>
                                        </p:attrNameLst>
                                      </p:cBhvr>
                                      <p:to>
                                        <p:strVal val="visible"/>
                                      </p:to>
                                    </p:set>
                                    <p:animEffect transition="in" filter="wipe(down)">
                                      <p:cBhvr>
                                        <p:cTn id="31" dur="750"/>
                                        <p:tgtEl>
                                          <p:spTgt spid="5">
                                            <p:graphicEl>
                                              <a:chart seriesIdx="-4" categoryIdx="2" bldStep="category"/>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5" grpId="0" uiExpand="1">
        <p:bldSub>
          <a:bldChart bld="category"/>
        </p:bldSub>
      </p:bldGraphic>
      <p:bldP spid="12" grpId="0" animBg="1"/>
      <p:bldP spid="12"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013719" y="290661"/>
            <a:ext cx="3116562" cy="1104900"/>
          </a:xfrm>
        </p:spPr>
        <p:txBody>
          <a:bodyPr/>
          <a:lstStyle/>
          <a:p>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cs typeface="+mn-cs"/>
              </a:rPr>
              <a:t>SaaS</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cs"/>
              </a:rPr>
              <a:t>吸引企业的原因</a:t>
            </a:r>
          </a:p>
        </p:txBody>
      </p:sp>
      <p:graphicFrame>
        <p:nvGraphicFramePr>
          <p:cNvPr id="4" name="表格 3"/>
          <p:cNvGraphicFramePr>
            <a:graphicFrameLocks noGrp="1"/>
          </p:cNvGraphicFramePr>
          <p:nvPr>
            <p:extLst>
              <p:ext uri="{D42A27DB-BD31-4B8C-83A1-F6EECF244321}">
                <p14:modId xmlns:p14="http://schemas.microsoft.com/office/powerpoint/2010/main" val="1639823300"/>
              </p:ext>
            </p:extLst>
          </p:nvPr>
        </p:nvGraphicFramePr>
        <p:xfrm>
          <a:off x="787683" y="1884050"/>
          <a:ext cx="4680000" cy="2880000"/>
        </p:xfrm>
        <a:graphic>
          <a:graphicData uri="http://schemas.openxmlformats.org/drawingml/2006/table">
            <a:tbl>
              <a:tblPr bandRow="1">
                <a:tableStyleId>{5C22544A-7EE6-4342-B048-85BDC9FD1C3A}</a:tableStyleId>
              </a:tblPr>
              <a:tblGrid>
                <a:gridCol w="1440000">
                  <a:extLst>
                    <a:ext uri="{9D8B030D-6E8A-4147-A177-3AD203B41FA5}">
                      <a16:colId xmlns:a16="http://schemas.microsoft.com/office/drawing/2014/main" val="1948998668"/>
                    </a:ext>
                  </a:extLst>
                </a:gridCol>
                <a:gridCol w="1440000">
                  <a:extLst>
                    <a:ext uri="{9D8B030D-6E8A-4147-A177-3AD203B41FA5}">
                      <a16:colId xmlns:a16="http://schemas.microsoft.com/office/drawing/2014/main" val="196727445"/>
                    </a:ext>
                  </a:extLst>
                </a:gridCol>
                <a:gridCol w="1800000">
                  <a:extLst>
                    <a:ext uri="{9D8B030D-6E8A-4147-A177-3AD203B41FA5}">
                      <a16:colId xmlns:a16="http://schemas.microsoft.com/office/drawing/2014/main" val="2942802200"/>
                    </a:ext>
                  </a:extLst>
                </a:gridCol>
              </a:tblGrid>
              <a:tr h="1440000">
                <a:tc>
                  <a:txBody>
                    <a:bodyPr/>
                    <a:lstStyle/>
                    <a:p>
                      <a:pPr algn="ctr"/>
                      <a:endParaRPr lang="zh-CN" altLang="en-US" dirty="0"/>
                    </a:p>
                  </a:txBody>
                  <a:tcPr anchor="ctr">
                    <a:lnL w="12700" cmpd="sng">
                      <a:noFill/>
                    </a:lnL>
                    <a:lnR w="1905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800" b="1" dirty="0">
                          <a:solidFill>
                            <a:schemeClr val="bg1"/>
                          </a:solidFill>
                          <a:latin typeface="+mj-ea"/>
                          <a:ea typeface="+mj-ea"/>
                        </a:rPr>
                        <a:t>启用时间快</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endParaRPr lang="zh-CN" altLang="en-US" sz="1800" b="1" dirty="0">
                        <a:solidFill>
                          <a:schemeClr val="tx2"/>
                        </a:solidFill>
                        <a:latin typeface="+mj-ea"/>
                        <a:ea typeface="+mj-ea"/>
                      </a:endParaRPr>
                    </a:p>
                  </a:txBody>
                  <a:tcPr anchor="ctr">
                    <a:lnL w="190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tx1">
                        <a:lumMod val="65000"/>
                        <a:lumOff val="35000"/>
                      </a:schemeClr>
                    </a:solidFill>
                  </a:tcPr>
                </a:tc>
                <a:extLst>
                  <a:ext uri="{0D108BD9-81ED-4DB2-BD59-A6C34878D82A}">
                    <a16:rowId xmlns:a16="http://schemas.microsoft.com/office/drawing/2014/main" val="1380725337"/>
                  </a:ext>
                </a:extLst>
              </a:tr>
              <a:tr h="1440000">
                <a:tc>
                  <a:txBody>
                    <a:bodyPr/>
                    <a:lstStyle/>
                    <a:p>
                      <a:pPr algn="ctr"/>
                      <a:endParaRPr lang="zh-CN" altLang="en-US" dirty="0"/>
                    </a:p>
                  </a:txBody>
                  <a:tcPr anchor="ctr">
                    <a:lnL w="12700" cmpd="sng">
                      <a:noFill/>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50000"/>
                        <a:lumOff val="5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800" b="1" kern="1200" dirty="0">
                          <a:solidFill>
                            <a:schemeClr val="bg1"/>
                          </a:solidFill>
                          <a:latin typeface="+mj-ea"/>
                          <a:ea typeface="+mj-ea"/>
                          <a:cs typeface="+mn-cs"/>
                        </a:rPr>
                        <a:t>部署成本低</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50000"/>
                        <a:lumOff val="5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800" b="1" kern="1200" dirty="0">
                          <a:solidFill>
                            <a:schemeClr val="bg1"/>
                          </a:solidFill>
                          <a:latin typeface="+mj-ea"/>
                          <a:ea typeface="+mj-ea"/>
                          <a:cs typeface="+mn-cs"/>
                        </a:rPr>
                        <a:t>系统扩容容易</a:t>
                      </a:r>
                    </a:p>
                  </a:txBody>
                  <a:tcPr anchor="ctr">
                    <a:lnL w="190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tx1">
                        <a:lumMod val="65000"/>
                        <a:lumOff val="35000"/>
                      </a:schemeClr>
                    </a:solidFill>
                  </a:tcPr>
                </a:tc>
                <a:extLst>
                  <a:ext uri="{0D108BD9-81ED-4DB2-BD59-A6C34878D82A}">
                    <a16:rowId xmlns:a16="http://schemas.microsoft.com/office/drawing/2014/main" val="3305812520"/>
                  </a:ext>
                </a:extLst>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1198171322"/>
              </p:ext>
            </p:extLst>
          </p:nvPr>
        </p:nvGraphicFramePr>
        <p:xfrm>
          <a:off x="5467683" y="1884279"/>
          <a:ext cx="2880000" cy="2880000"/>
        </p:xfrm>
        <a:graphic>
          <a:graphicData uri="http://schemas.openxmlformats.org/drawingml/2006/table">
            <a:tbl>
              <a:tblPr bandRow="1">
                <a:tableStyleId>{5C22544A-7EE6-4342-B048-85BDC9FD1C3A}</a:tableStyleId>
              </a:tblPr>
              <a:tblGrid>
                <a:gridCol w="1440000">
                  <a:extLst>
                    <a:ext uri="{9D8B030D-6E8A-4147-A177-3AD203B41FA5}">
                      <a16:colId xmlns:a16="http://schemas.microsoft.com/office/drawing/2014/main" val="129824647"/>
                    </a:ext>
                  </a:extLst>
                </a:gridCol>
                <a:gridCol w="1440000">
                  <a:extLst>
                    <a:ext uri="{9D8B030D-6E8A-4147-A177-3AD203B41FA5}">
                      <a16:colId xmlns:a16="http://schemas.microsoft.com/office/drawing/2014/main" val="622616175"/>
                    </a:ext>
                  </a:extLst>
                </a:gridCol>
              </a:tblGrid>
              <a:tr h="1800000">
                <a:tc gridSpan="2">
                  <a:txBody>
                    <a:bodyPr/>
                    <a:lstStyle/>
                    <a:p>
                      <a:pPr algn="ctr"/>
                      <a:endParaRPr lang="zh-CN" altLang="en-US" dirty="0"/>
                    </a:p>
                  </a:txBody>
                  <a:tcPr anchor="ctr">
                    <a:lnL w="19050" cap="flat" cmpd="sng" algn="ctr">
                      <a:noFill/>
                      <a:prstDash val="solid"/>
                      <a:round/>
                      <a:headEnd type="none" w="med" len="med"/>
                      <a:tailEnd type="none" w="med" len="med"/>
                    </a:lnL>
                    <a:lnR w="12700" cmpd="sng">
                      <a:noFill/>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4B183"/>
                    </a:solidFill>
                  </a:tcPr>
                </a:tc>
                <a:tc hMerge="1">
                  <a:txBody>
                    <a:bodyPr/>
                    <a:lstStyle/>
                    <a:p>
                      <a:endParaRPr lang="zh-CN" altLang="en-US"/>
                    </a:p>
                  </a:txBody>
                  <a:tcPr/>
                </a:tc>
                <a:extLst>
                  <a:ext uri="{0D108BD9-81ED-4DB2-BD59-A6C34878D82A}">
                    <a16:rowId xmlns:a16="http://schemas.microsoft.com/office/drawing/2014/main" val="3600453295"/>
                  </a:ext>
                </a:extLst>
              </a:tr>
              <a:tr h="1080000">
                <a:tc>
                  <a:txBody>
                    <a:bodyPr/>
                    <a:lstStyle/>
                    <a:p>
                      <a:pPr algn="ctr"/>
                      <a:endParaRPr lang="zh-CN" altLang="en-US" dirty="0"/>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800" b="1" kern="1200" dirty="0">
                          <a:solidFill>
                            <a:schemeClr val="bg1"/>
                          </a:solidFill>
                          <a:latin typeface="+mj-ea"/>
                          <a:ea typeface="+mj-ea"/>
                          <a:cs typeface="+mn-cs"/>
                        </a:rPr>
                        <a:t>软件升级快</a:t>
                      </a:r>
                    </a:p>
                  </a:txBody>
                  <a:tcPr anchor="ctr">
                    <a:lnL w="19050" cap="flat" cmpd="sng" algn="ctr">
                      <a:noFill/>
                      <a:prstDash val="solid"/>
                      <a:round/>
                      <a:headEnd type="none" w="med" len="med"/>
                      <a:tailEnd type="none" w="med" len="med"/>
                    </a:lnL>
                    <a:lnR w="12700" cmpd="sng">
                      <a:noFill/>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60898120"/>
                  </a:ext>
                </a:extLst>
              </a:tr>
            </a:tbl>
          </a:graphicData>
        </a:graphic>
      </p:graphicFrame>
      <p:pic>
        <p:nvPicPr>
          <p:cNvPr id="12" name="图片 11"/>
          <p:cNvPicPr>
            <a:picLocks noChangeAspect="1"/>
          </p:cNvPicPr>
          <p:nvPr/>
        </p:nvPicPr>
        <p:blipFill>
          <a:blip r:embed="rId2" cstate="hqprint">
            <a:extLst>
              <a:ext uri="{BEBA8EAE-BF5A-486C-A8C5-ECC9F3942E4B}">
                <a14:imgProps xmlns:a14="http://schemas.microsoft.com/office/drawing/2010/main">
                  <a14:imgLayer r:embed="rId3">
                    <a14:imgEffect>
                      <a14:saturation sat="0"/>
                    </a14:imgEffect>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056064" y="2080646"/>
            <a:ext cx="1080000" cy="1080000"/>
          </a:xfrm>
          <a:prstGeom prst="rect">
            <a:avLst/>
          </a:prstGeom>
        </p:spPr>
      </p:pic>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63677" y="1883821"/>
            <a:ext cx="2884008" cy="1800113"/>
          </a:xfrm>
          <a:prstGeom prst="rect">
            <a:avLst/>
          </a:prstGeom>
        </p:spPr>
      </p:pic>
      <p:pic>
        <p:nvPicPr>
          <p:cNvPr id="13" name="图片 12"/>
          <p:cNvPicPr>
            <a:picLocks noChangeAspect="1"/>
          </p:cNvPicPr>
          <p:nvPr/>
        </p:nvPicPr>
        <p:blipFill>
          <a:blip r:embed="rId5" cstate="hq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602715" y="3684107"/>
            <a:ext cx="1080000" cy="1080000"/>
          </a:xfrm>
          <a:prstGeom prst="rect">
            <a:avLst/>
          </a:prstGeom>
        </p:spPr>
      </p:pic>
      <p:pic>
        <p:nvPicPr>
          <p:cNvPr id="18" name="图片 17"/>
          <p:cNvPicPr>
            <a:picLocks noChangeAspect="1"/>
          </p:cNvPicPr>
          <p:nvPr/>
        </p:nvPicPr>
        <p:blipFill>
          <a:blip r:embed="rId7" cstate="hq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22715" y="3458444"/>
            <a:ext cx="1080000" cy="1080000"/>
          </a:xfrm>
          <a:prstGeom prst="rect">
            <a:avLst/>
          </a:prstGeom>
        </p:spPr>
      </p:pic>
      <p:pic>
        <p:nvPicPr>
          <p:cNvPr id="19" name="图片 18"/>
          <p:cNvPicPr>
            <a:picLocks noChangeAspect="1"/>
          </p:cNvPicPr>
          <p:nvPr/>
        </p:nvPicPr>
        <p:blipFill>
          <a:blip r:embed="rId8" cstate="hqprint">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58811" y="2080646"/>
            <a:ext cx="1080000" cy="1080000"/>
          </a:xfrm>
          <a:prstGeom prst="rect">
            <a:avLst/>
          </a:prstGeom>
        </p:spPr>
      </p:pic>
    </p:spTree>
    <p:extLst>
      <p:ext uri="{BB962C8B-B14F-4D97-AF65-F5344CB8AC3E}">
        <p14:creationId xmlns:p14="http://schemas.microsoft.com/office/powerpoint/2010/main" val="874891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53" presetClass="entr" presetSubtype="16" fill="hold" nodeType="withEffect">
                                  <p:stCondLst>
                                    <p:cond delay="750"/>
                                  </p:stCondLst>
                                  <p:childTnLst>
                                    <p:set>
                                      <p:cBhvr>
                                        <p:cTn id="11" dur="1" fill="hold">
                                          <p:stCondLst>
                                            <p:cond delay="0"/>
                                          </p:stCondLst>
                                        </p:cTn>
                                        <p:tgtEl>
                                          <p:spTgt spid="4"/>
                                        </p:tgtEl>
                                        <p:attrNameLst>
                                          <p:attrName>style.visibility</p:attrName>
                                        </p:attrNameLst>
                                      </p:cBhvr>
                                      <p:to>
                                        <p:strVal val="visible"/>
                                      </p:to>
                                    </p:set>
                                    <p:anim calcmode="lin" valueType="num">
                                      <p:cBhvr>
                                        <p:cTn id="12" dur="1250" fill="hold"/>
                                        <p:tgtEl>
                                          <p:spTgt spid="4"/>
                                        </p:tgtEl>
                                        <p:attrNameLst>
                                          <p:attrName>ppt_w</p:attrName>
                                        </p:attrNameLst>
                                      </p:cBhvr>
                                      <p:tavLst>
                                        <p:tav tm="0">
                                          <p:val>
                                            <p:fltVal val="0"/>
                                          </p:val>
                                        </p:tav>
                                        <p:tav tm="100000">
                                          <p:val>
                                            <p:strVal val="#ppt_w"/>
                                          </p:val>
                                        </p:tav>
                                      </p:tavLst>
                                    </p:anim>
                                    <p:anim calcmode="lin" valueType="num">
                                      <p:cBhvr>
                                        <p:cTn id="13" dur="1250" fill="hold"/>
                                        <p:tgtEl>
                                          <p:spTgt spid="4"/>
                                        </p:tgtEl>
                                        <p:attrNameLst>
                                          <p:attrName>ppt_h</p:attrName>
                                        </p:attrNameLst>
                                      </p:cBhvr>
                                      <p:tavLst>
                                        <p:tav tm="0">
                                          <p:val>
                                            <p:fltVal val="0"/>
                                          </p:val>
                                        </p:tav>
                                        <p:tav tm="100000">
                                          <p:val>
                                            <p:strVal val="#ppt_h"/>
                                          </p:val>
                                        </p:tav>
                                      </p:tavLst>
                                    </p:anim>
                                    <p:animEffect transition="in" filter="fade">
                                      <p:cBhvr>
                                        <p:cTn id="14" dur="1250"/>
                                        <p:tgtEl>
                                          <p:spTgt spid="4"/>
                                        </p:tgtEl>
                                      </p:cBhvr>
                                    </p:animEffect>
                                  </p:childTnLst>
                                </p:cTn>
                              </p:par>
                              <p:par>
                                <p:cTn id="15" presetID="53" presetClass="entr" presetSubtype="16" fill="hold" nodeType="withEffect">
                                  <p:stCondLst>
                                    <p:cond delay="1250"/>
                                  </p:stCondLst>
                                  <p:childTnLst>
                                    <p:set>
                                      <p:cBhvr>
                                        <p:cTn id="16" dur="1" fill="hold">
                                          <p:stCondLst>
                                            <p:cond delay="0"/>
                                          </p:stCondLst>
                                        </p:cTn>
                                        <p:tgtEl>
                                          <p:spTgt spid="19"/>
                                        </p:tgtEl>
                                        <p:attrNameLst>
                                          <p:attrName>style.visibility</p:attrName>
                                        </p:attrNameLst>
                                      </p:cBhvr>
                                      <p:to>
                                        <p:strVal val="visible"/>
                                      </p:to>
                                    </p:set>
                                    <p:anim calcmode="lin" valueType="num">
                                      <p:cBhvr>
                                        <p:cTn id="17" dur="1000" fill="hold"/>
                                        <p:tgtEl>
                                          <p:spTgt spid="19"/>
                                        </p:tgtEl>
                                        <p:attrNameLst>
                                          <p:attrName>ppt_w</p:attrName>
                                        </p:attrNameLst>
                                      </p:cBhvr>
                                      <p:tavLst>
                                        <p:tav tm="0">
                                          <p:val>
                                            <p:fltVal val="0"/>
                                          </p:val>
                                        </p:tav>
                                        <p:tav tm="100000">
                                          <p:val>
                                            <p:strVal val="#ppt_w"/>
                                          </p:val>
                                        </p:tav>
                                      </p:tavLst>
                                    </p:anim>
                                    <p:anim calcmode="lin" valueType="num">
                                      <p:cBhvr>
                                        <p:cTn id="18" dur="1000" fill="hold"/>
                                        <p:tgtEl>
                                          <p:spTgt spid="19"/>
                                        </p:tgtEl>
                                        <p:attrNameLst>
                                          <p:attrName>ppt_h</p:attrName>
                                        </p:attrNameLst>
                                      </p:cBhvr>
                                      <p:tavLst>
                                        <p:tav tm="0">
                                          <p:val>
                                            <p:fltVal val="0"/>
                                          </p:val>
                                        </p:tav>
                                        <p:tav tm="100000">
                                          <p:val>
                                            <p:strVal val="#ppt_h"/>
                                          </p:val>
                                        </p:tav>
                                      </p:tavLst>
                                    </p:anim>
                                    <p:animEffect transition="in" filter="fade">
                                      <p:cBhvr>
                                        <p:cTn id="19" dur="1000"/>
                                        <p:tgtEl>
                                          <p:spTgt spid="19"/>
                                        </p:tgtEl>
                                      </p:cBhvr>
                                    </p:animEffect>
                                  </p:childTnLst>
                                </p:cTn>
                              </p:par>
                              <p:par>
                                <p:cTn id="20" presetID="53" presetClass="entr" presetSubtype="16" fill="hold" nodeType="withEffect">
                                  <p:stCondLst>
                                    <p:cond delay="1250"/>
                                  </p:stCondLst>
                                  <p:childTnLst>
                                    <p:set>
                                      <p:cBhvr>
                                        <p:cTn id="21" dur="1" fill="hold">
                                          <p:stCondLst>
                                            <p:cond delay="0"/>
                                          </p:stCondLst>
                                        </p:cTn>
                                        <p:tgtEl>
                                          <p:spTgt spid="18"/>
                                        </p:tgtEl>
                                        <p:attrNameLst>
                                          <p:attrName>style.visibility</p:attrName>
                                        </p:attrNameLst>
                                      </p:cBhvr>
                                      <p:to>
                                        <p:strVal val="visible"/>
                                      </p:to>
                                    </p:set>
                                    <p:anim calcmode="lin" valueType="num">
                                      <p:cBhvr>
                                        <p:cTn id="22" dur="1000" fill="hold"/>
                                        <p:tgtEl>
                                          <p:spTgt spid="18"/>
                                        </p:tgtEl>
                                        <p:attrNameLst>
                                          <p:attrName>ppt_w</p:attrName>
                                        </p:attrNameLst>
                                      </p:cBhvr>
                                      <p:tavLst>
                                        <p:tav tm="0">
                                          <p:val>
                                            <p:fltVal val="0"/>
                                          </p:val>
                                        </p:tav>
                                        <p:tav tm="100000">
                                          <p:val>
                                            <p:strVal val="#ppt_w"/>
                                          </p:val>
                                        </p:tav>
                                      </p:tavLst>
                                    </p:anim>
                                    <p:anim calcmode="lin" valueType="num">
                                      <p:cBhvr>
                                        <p:cTn id="23" dur="1000" fill="hold"/>
                                        <p:tgtEl>
                                          <p:spTgt spid="18"/>
                                        </p:tgtEl>
                                        <p:attrNameLst>
                                          <p:attrName>ppt_h</p:attrName>
                                        </p:attrNameLst>
                                      </p:cBhvr>
                                      <p:tavLst>
                                        <p:tav tm="0">
                                          <p:val>
                                            <p:fltVal val="0"/>
                                          </p:val>
                                        </p:tav>
                                        <p:tav tm="100000">
                                          <p:val>
                                            <p:strVal val="#ppt_h"/>
                                          </p:val>
                                        </p:tav>
                                      </p:tavLst>
                                    </p:anim>
                                    <p:animEffect transition="in" filter="fade">
                                      <p:cBhvr>
                                        <p:cTn id="24" dur="1000"/>
                                        <p:tgtEl>
                                          <p:spTgt spid="18"/>
                                        </p:tgtEl>
                                      </p:cBhvr>
                                    </p:animEffect>
                                  </p:childTnLst>
                                </p:cTn>
                              </p:par>
                              <p:par>
                                <p:cTn id="25" presetID="53" presetClass="entr" presetSubtype="16" fill="hold" nodeType="withEffect">
                                  <p:stCondLst>
                                    <p:cond delay="1250"/>
                                  </p:stCondLst>
                                  <p:childTnLst>
                                    <p:set>
                                      <p:cBhvr>
                                        <p:cTn id="26" dur="1" fill="hold">
                                          <p:stCondLst>
                                            <p:cond delay="0"/>
                                          </p:stCondLst>
                                        </p:cTn>
                                        <p:tgtEl>
                                          <p:spTgt spid="12"/>
                                        </p:tgtEl>
                                        <p:attrNameLst>
                                          <p:attrName>style.visibility</p:attrName>
                                        </p:attrNameLst>
                                      </p:cBhvr>
                                      <p:to>
                                        <p:strVal val="visible"/>
                                      </p:to>
                                    </p:set>
                                    <p:anim calcmode="lin" valueType="num">
                                      <p:cBhvr>
                                        <p:cTn id="27" dur="1000" fill="hold"/>
                                        <p:tgtEl>
                                          <p:spTgt spid="12"/>
                                        </p:tgtEl>
                                        <p:attrNameLst>
                                          <p:attrName>ppt_w</p:attrName>
                                        </p:attrNameLst>
                                      </p:cBhvr>
                                      <p:tavLst>
                                        <p:tav tm="0">
                                          <p:val>
                                            <p:fltVal val="0"/>
                                          </p:val>
                                        </p:tav>
                                        <p:tav tm="100000">
                                          <p:val>
                                            <p:strVal val="#ppt_w"/>
                                          </p:val>
                                        </p:tav>
                                      </p:tavLst>
                                    </p:anim>
                                    <p:anim calcmode="lin" valueType="num">
                                      <p:cBhvr>
                                        <p:cTn id="28" dur="1000" fill="hold"/>
                                        <p:tgtEl>
                                          <p:spTgt spid="12"/>
                                        </p:tgtEl>
                                        <p:attrNameLst>
                                          <p:attrName>ppt_h</p:attrName>
                                        </p:attrNameLst>
                                      </p:cBhvr>
                                      <p:tavLst>
                                        <p:tav tm="0">
                                          <p:val>
                                            <p:fltVal val="0"/>
                                          </p:val>
                                        </p:tav>
                                        <p:tav tm="100000">
                                          <p:val>
                                            <p:strVal val="#ppt_h"/>
                                          </p:val>
                                        </p:tav>
                                      </p:tavLst>
                                    </p:anim>
                                    <p:animEffect transition="in" filter="fade">
                                      <p:cBhvr>
                                        <p:cTn id="29" dur="1000"/>
                                        <p:tgtEl>
                                          <p:spTgt spid="12"/>
                                        </p:tgtEl>
                                      </p:cBhvr>
                                    </p:animEffect>
                                  </p:childTnLst>
                                </p:cTn>
                              </p:par>
                              <p:par>
                                <p:cTn id="30" presetID="2" presetClass="entr" presetSubtype="2" fill="hold" nodeType="withEffect">
                                  <p:stCondLst>
                                    <p:cond delay="1250"/>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000" fill="hold"/>
                                        <p:tgtEl>
                                          <p:spTgt spid="7"/>
                                        </p:tgtEl>
                                        <p:attrNameLst>
                                          <p:attrName>ppt_x</p:attrName>
                                        </p:attrNameLst>
                                      </p:cBhvr>
                                      <p:tavLst>
                                        <p:tav tm="0">
                                          <p:val>
                                            <p:strVal val="1+#ppt_w/2"/>
                                          </p:val>
                                        </p:tav>
                                        <p:tav tm="100000">
                                          <p:val>
                                            <p:strVal val="#ppt_x"/>
                                          </p:val>
                                        </p:tav>
                                      </p:tavLst>
                                    </p:anim>
                                    <p:anim calcmode="lin" valueType="num">
                                      <p:cBhvr additive="base">
                                        <p:cTn id="33" dur="1000" fill="hold"/>
                                        <p:tgtEl>
                                          <p:spTgt spid="7"/>
                                        </p:tgtEl>
                                        <p:attrNameLst>
                                          <p:attrName>ppt_y</p:attrName>
                                        </p:attrNameLst>
                                      </p:cBhvr>
                                      <p:tavLst>
                                        <p:tav tm="0">
                                          <p:val>
                                            <p:strVal val="#ppt_y"/>
                                          </p:val>
                                        </p:tav>
                                        <p:tav tm="100000">
                                          <p:val>
                                            <p:strVal val="#ppt_y"/>
                                          </p:val>
                                        </p:tav>
                                      </p:tavLst>
                                    </p:anim>
                                  </p:childTnLst>
                                </p:cTn>
                              </p:par>
                            </p:childTnLst>
                          </p:cTn>
                        </p:par>
                        <p:par>
                          <p:cTn id="34" fill="hold">
                            <p:stCondLst>
                              <p:cond delay="2250"/>
                            </p:stCondLst>
                            <p:childTnLst>
                              <p:par>
                                <p:cTn id="35" presetID="42" presetClass="entr" presetSubtype="0" fill="hold" nodeType="after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1000"/>
                                        <p:tgtEl>
                                          <p:spTgt spid="8"/>
                                        </p:tgtEl>
                                      </p:cBhvr>
                                    </p:animEffect>
                                    <p:anim calcmode="lin" valueType="num">
                                      <p:cBhvr>
                                        <p:cTn id="38" dur="1000" fill="hold"/>
                                        <p:tgtEl>
                                          <p:spTgt spid="8"/>
                                        </p:tgtEl>
                                        <p:attrNameLst>
                                          <p:attrName>ppt_x</p:attrName>
                                        </p:attrNameLst>
                                      </p:cBhvr>
                                      <p:tavLst>
                                        <p:tav tm="0">
                                          <p:val>
                                            <p:strVal val="#ppt_x"/>
                                          </p:val>
                                        </p:tav>
                                        <p:tav tm="100000">
                                          <p:val>
                                            <p:strVal val="#ppt_x"/>
                                          </p:val>
                                        </p:tav>
                                      </p:tavLst>
                                    </p:anim>
                                    <p:anim calcmode="lin" valueType="num">
                                      <p:cBhvr>
                                        <p:cTn id="39" dur="1000" fill="hold"/>
                                        <p:tgtEl>
                                          <p:spTgt spid="8"/>
                                        </p:tgtEl>
                                        <p:attrNameLst>
                                          <p:attrName>ppt_y</p:attrName>
                                        </p:attrNameLst>
                                      </p:cBhvr>
                                      <p:tavLst>
                                        <p:tav tm="0">
                                          <p:val>
                                            <p:strVal val="#ppt_y+.1"/>
                                          </p:val>
                                        </p:tav>
                                        <p:tav tm="100000">
                                          <p:val>
                                            <p:strVal val="#ppt_y"/>
                                          </p:val>
                                        </p:tav>
                                      </p:tavLst>
                                    </p:anim>
                                  </p:childTnLst>
                                </p:cTn>
                              </p:par>
                              <p:par>
                                <p:cTn id="40" presetID="53" presetClass="entr" presetSubtype="16" fill="hold" nodeType="with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p:cTn id="42" dur="1000" fill="hold"/>
                                        <p:tgtEl>
                                          <p:spTgt spid="13"/>
                                        </p:tgtEl>
                                        <p:attrNameLst>
                                          <p:attrName>ppt_w</p:attrName>
                                        </p:attrNameLst>
                                      </p:cBhvr>
                                      <p:tavLst>
                                        <p:tav tm="0">
                                          <p:val>
                                            <p:fltVal val="0"/>
                                          </p:val>
                                        </p:tav>
                                        <p:tav tm="100000">
                                          <p:val>
                                            <p:strVal val="#ppt_w"/>
                                          </p:val>
                                        </p:tav>
                                      </p:tavLst>
                                    </p:anim>
                                    <p:anim calcmode="lin" valueType="num">
                                      <p:cBhvr>
                                        <p:cTn id="43" dur="1000" fill="hold"/>
                                        <p:tgtEl>
                                          <p:spTgt spid="13"/>
                                        </p:tgtEl>
                                        <p:attrNameLst>
                                          <p:attrName>ppt_h</p:attrName>
                                        </p:attrNameLst>
                                      </p:cBhvr>
                                      <p:tavLst>
                                        <p:tav tm="0">
                                          <p:val>
                                            <p:fltVal val="0"/>
                                          </p:val>
                                        </p:tav>
                                        <p:tav tm="100000">
                                          <p:val>
                                            <p:strVal val="#ppt_h"/>
                                          </p:val>
                                        </p:tav>
                                      </p:tavLst>
                                    </p:anim>
                                    <p:animEffect transition="in" filter="fade">
                                      <p:cBhvr>
                                        <p:cTn id="44"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0" y="4611474"/>
            <a:ext cx="5680954" cy="909536"/>
          </a:xfrm>
          <a:prstGeom prst="rect">
            <a:avLst/>
          </a:prstGeom>
          <a:noFill/>
        </p:spPr>
        <p:txBody>
          <a:bodyPr vert="horz">
            <a:noAutofit/>
          </a:bodyPr>
          <a:lstStyle/>
          <a:p>
            <a:pPr algn="ctr"/>
            <a:r>
              <a:rPr lang="en-US" altLang="zh-CN" sz="4400" b="1" i="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SaaS</a:t>
            </a:r>
            <a:r>
              <a:rPr lang="zh-CN" altLang="en-US" sz="4400" b="1" i="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服务总结</a:t>
            </a:r>
            <a:endParaRPr lang="zh-CN" altLang="en-US" sz="4400" b="1" i="1" dirty="0">
              <a:solidFill>
                <a:schemeClr val="bg1"/>
              </a:solidFill>
              <a:effectLst>
                <a:outerShdw blurRad="38100" dist="38100" dir="2700000" algn="tl">
                  <a:srgbClr val="000000">
                    <a:alpha val="43137"/>
                  </a:srgbClr>
                </a:outerShdw>
              </a:effectLst>
            </a:endParaRPr>
          </a:p>
        </p:txBody>
      </p:sp>
      <p:sp>
        <p:nvSpPr>
          <p:cNvPr id="3" name="内容占位符 2"/>
          <p:cNvSpPr>
            <a:spLocks noGrp="1"/>
          </p:cNvSpPr>
          <p:nvPr>
            <p:ph idx="4294967295"/>
          </p:nvPr>
        </p:nvSpPr>
        <p:spPr>
          <a:xfrm>
            <a:off x="5951219" y="0"/>
            <a:ext cx="2405084" cy="5715000"/>
          </a:xfrm>
          <a:prstGeom prst="rect">
            <a:avLst/>
          </a:prstGeom>
          <a:solidFill>
            <a:schemeClr val="accent2">
              <a:alpha val="70000"/>
            </a:schemeClr>
          </a:solidFill>
          <a:ln w="44450">
            <a:noFill/>
            <a:prstDash val="dash"/>
          </a:ln>
          <a:effectLst/>
        </p:spPr>
        <p:txBody>
          <a:bodyPr lIns="180000" rIns="180000" anchor="ctr">
            <a:normAutofit/>
          </a:bodyPr>
          <a:lstStyle/>
          <a:p>
            <a:pPr marL="0" indent="0">
              <a:lnSpc>
                <a:spcPct val="150000"/>
              </a:lnSpc>
              <a:buNone/>
            </a:pPr>
            <a:r>
              <a:rPr lang="zh-CN" altLang="en-US" sz="1600" b="1" dirty="0">
                <a:solidFill>
                  <a:schemeClr val="bg1"/>
                </a:solidFill>
                <a:effectLst>
                  <a:outerShdw blurRad="38100" dist="38100" dir="2700000" algn="tl">
                    <a:srgbClr val="000000">
                      <a:alpha val="43137"/>
                    </a:srgbClr>
                  </a:outerShdw>
                </a:effectLst>
                <a:latin typeface="+mj-ea"/>
                <a:ea typeface="+mj-ea"/>
              </a:rPr>
              <a:t>随着互联网云时代的发展，通过云提供软件服务，不仅成本低廉，部署快速，维护便 捷，而且能够及时地进行软件升级，</a:t>
            </a:r>
            <a:r>
              <a:rPr lang="en-US" altLang="zh-CN" sz="1600" b="1" dirty="0">
                <a:solidFill>
                  <a:schemeClr val="bg1"/>
                </a:solidFill>
                <a:effectLst>
                  <a:outerShdw blurRad="38100" dist="38100" dir="2700000" algn="tl">
                    <a:srgbClr val="000000">
                      <a:alpha val="43137"/>
                    </a:srgbClr>
                  </a:outerShdw>
                </a:effectLst>
                <a:latin typeface="+mj-ea"/>
                <a:ea typeface="+mj-ea"/>
              </a:rPr>
              <a:t>SaaS</a:t>
            </a:r>
            <a:r>
              <a:rPr lang="zh-CN" altLang="en-US" sz="1600" b="1" dirty="0">
                <a:solidFill>
                  <a:schemeClr val="bg1"/>
                </a:solidFill>
                <a:effectLst>
                  <a:outerShdw blurRad="38100" dist="38100" dir="2700000" algn="tl">
                    <a:srgbClr val="000000">
                      <a:alpha val="43137"/>
                    </a:srgbClr>
                  </a:outerShdw>
                </a:effectLst>
                <a:latin typeface="+mj-ea"/>
                <a:ea typeface="+mj-ea"/>
              </a:rPr>
              <a:t>服务俨然已经成为中小企业提升客户服务能 力的最佳选择。</a:t>
            </a:r>
          </a:p>
        </p:txBody>
      </p:sp>
      <p:sp>
        <p:nvSpPr>
          <p:cNvPr id="7" name="等腰三角形 6"/>
          <p:cNvSpPr/>
          <p:nvPr/>
        </p:nvSpPr>
        <p:spPr>
          <a:xfrm flipV="1">
            <a:off x="7012577" y="4943997"/>
            <a:ext cx="282368" cy="12224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54068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9" name="任意多边形: 形状 8"/>
          <p:cNvSpPr/>
          <p:nvPr/>
        </p:nvSpPr>
        <p:spPr>
          <a:xfrm>
            <a:off x="0" y="-2"/>
            <a:ext cx="7422255" cy="5727528"/>
          </a:xfrm>
          <a:custGeom>
            <a:avLst/>
            <a:gdLst/>
            <a:ahLst/>
            <a:cxnLst/>
            <a:rect l="l" t="t" r="r" b="b"/>
            <a:pathLst>
              <a:path w="7422255" h="5727528">
                <a:moveTo>
                  <a:pt x="7243637" y="4417273"/>
                </a:moveTo>
                <a:lnTo>
                  <a:pt x="7422119" y="4417273"/>
                </a:lnTo>
                <a:lnTo>
                  <a:pt x="7422119" y="4560929"/>
                </a:lnTo>
                <a:cubicBezTo>
                  <a:pt x="7425022" y="4668309"/>
                  <a:pt x="7381489" y="4746667"/>
                  <a:pt x="7291523" y="4796003"/>
                </a:cubicBezTo>
                <a:lnTo>
                  <a:pt x="7243637" y="4752471"/>
                </a:lnTo>
                <a:cubicBezTo>
                  <a:pt x="7298778" y="4714743"/>
                  <a:pt x="7329251" y="4663956"/>
                  <a:pt x="7335055" y="4600108"/>
                </a:cubicBezTo>
                <a:cubicBezTo>
                  <a:pt x="7297327" y="4600108"/>
                  <a:pt x="7266854" y="4600108"/>
                  <a:pt x="7243637" y="4600108"/>
                </a:cubicBezTo>
                <a:close/>
                <a:moveTo>
                  <a:pt x="6999857" y="4417273"/>
                </a:moveTo>
                <a:lnTo>
                  <a:pt x="7178339" y="4417273"/>
                </a:lnTo>
                <a:lnTo>
                  <a:pt x="7178339" y="4560929"/>
                </a:lnTo>
                <a:cubicBezTo>
                  <a:pt x="7181241" y="4668309"/>
                  <a:pt x="7137709" y="4746667"/>
                  <a:pt x="7047742" y="4796003"/>
                </a:cubicBezTo>
                <a:lnTo>
                  <a:pt x="7004210" y="4752471"/>
                </a:lnTo>
                <a:cubicBezTo>
                  <a:pt x="7062253" y="4711841"/>
                  <a:pt x="7091274" y="4661053"/>
                  <a:pt x="7091274" y="4600108"/>
                </a:cubicBezTo>
                <a:cubicBezTo>
                  <a:pt x="7053547" y="4600108"/>
                  <a:pt x="7023074" y="4600108"/>
                  <a:pt x="6999857" y="4600108"/>
                </a:cubicBezTo>
                <a:close/>
                <a:moveTo>
                  <a:pt x="4596303" y="4117929"/>
                </a:moveTo>
                <a:lnTo>
                  <a:pt x="4692409" y="4148401"/>
                </a:lnTo>
                <a:cubicBezTo>
                  <a:pt x="4677675" y="4201980"/>
                  <a:pt x="4653174" y="4241772"/>
                  <a:pt x="4618907" y="4267780"/>
                </a:cubicBezTo>
                <a:lnTo>
                  <a:pt x="4572000" y="4291318"/>
                </a:lnTo>
                <a:lnTo>
                  <a:pt x="4572000" y="4175079"/>
                </a:lnTo>
                <a:lnTo>
                  <a:pt x="4579895" y="4164642"/>
                </a:lnTo>
                <a:cubicBezTo>
                  <a:pt x="4586704" y="4151471"/>
                  <a:pt x="4592173" y="4135900"/>
                  <a:pt x="4596303" y="4117929"/>
                </a:cubicBezTo>
                <a:close/>
                <a:moveTo>
                  <a:pt x="3636548" y="3922034"/>
                </a:moveTo>
                <a:lnTo>
                  <a:pt x="3704191" y="4104199"/>
                </a:lnTo>
                <a:lnTo>
                  <a:pt x="3570245" y="4104199"/>
                </a:lnTo>
                <a:close/>
                <a:moveTo>
                  <a:pt x="4489482" y="3883859"/>
                </a:moveTo>
                <a:cubicBezTo>
                  <a:pt x="4515825" y="3883859"/>
                  <a:pt x="4538205" y="3891226"/>
                  <a:pt x="4556622" y="3905960"/>
                </a:cubicBezTo>
                <a:lnTo>
                  <a:pt x="4572000" y="3923503"/>
                </a:lnTo>
                <a:lnTo>
                  <a:pt x="4572000" y="4175079"/>
                </a:lnTo>
                <a:lnTo>
                  <a:pt x="4555450" y="4196957"/>
                </a:lnTo>
                <a:cubicBezTo>
                  <a:pt x="4536475" y="4213700"/>
                  <a:pt x="4513816" y="4222071"/>
                  <a:pt x="4487473" y="4222071"/>
                </a:cubicBezTo>
                <a:cubicBezTo>
                  <a:pt x="4451754" y="4222071"/>
                  <a:pt x="4422733" y="4208900"/>
                  <a:pt x="4400409" y="4182557"/>
                </a:cubicBezTo>
                <a:cubicBezTo>
                  <a:pt x="4378084" y="4156215"/>
                  <a:pt x="4366922" y="4112013"/>
                  <a:pt x="4366922" y="4049952"/>
                </a:cubicBezTo>
                <a:cubicBezTo>
                  <a:pt x="4366922" y="3991462"/>
                  <a:pt x="4378252" y="3949158"/>
                  <a:pt x="4400911" y="3923038"/>
                </a:cubicBezTo>
                <a:cubicBezTo>
                  <a:pt x="4423570" y="3896919"/>
                  <a:pt x="4453094" y="3883859"/>
                  <a:pt x="4489482" y="3883859"/>
                </a:cubicBezTo>
                <a:close/>
                <a:moveTo>
                  <a:pt x="4572000" y="3811777"/>
                </a:moveTo>
                <a:lnTo>
                  <a:pt x="4576128" y="3812450"/>
                </a:lnTo>
                <a:cubicBezTo>
                  <a:pt x="4600517" y="3821324"/>
                  <a:pt x="4622088" y="3834634"/>
                  <a:pt x="4640840" y="3852382"/>
                </a:cubicBezTo>
                <a:cubicBezTo>
                  <a:pt x="4663165" y="3873367"/>
                  <a:pt x="4679908" y="3903505"/>
                  <a:pt x="4691070" y="3942795"/>
                </a:cubicBezTo>
                <a:lnTo>
                  <a:pt x="4592955" y="3966236"/>
                </a:lnTo>
                <a:cubicBezTo>
                  <a:pt x="4590053" y="3953511"/>
                  <a:pt x="4585574" y="3942126"/>
                  <a:pt x="4579519" y="3932080"/>
                </a:cubicBezTo>
                <a:lnTo>
                  <a:pt x="4572000" y="3923503"/>
                </a:lnTo>
                <a:close/>
                <a:moveTo>
                  <a:pt x="5464306" y="3807511"/>
                </a:moveTo>
                <a:lnTo>
                  <a:pt x="5560747" y="3807511"/>
                </a:lnTo>
                <a:lnTo>
                  <a:pt x="5761665" y="4135342"/>
                </a:lnTo>
                <a:lnTo>
                  <a:pt x="5761665" y="3807511"/>
                </a:lnTo>
                <a:lnTo>
                  <a:pt x="5853752" y="3807511"/>
                </a:lnTo>
                <a:lnTo>
                  <a:pt x="5853752" y="4298420"/>
                </a:lnTo>
                <a:lnTo>
                  <a:pt x="5754298" y="4298420"/>
                </a:lnTo>
                <a:lnTo>
                  <a:pt x="5556394" y="3978291"/>
                </a:lnTo>
                <a:lnTo>
                  <a:pt x="5556394" y="4298420"/>
                </a:lnTo>
                <a:lnTo>
                  <a:pt x="5464306" y="4298420"/>
                </a:lnTo>
                <a:close/>
                <a:moveTo>
                  <a:pt x="5269788" y="3807511"/>
                </a:moveTo>
                <a:lnTo>
                  <a:pt x="5368908" y="3807511"/>
                </a:lnTo>
                <a:lnTo>
                  <a:pt x="5368908" y="4298420"/>
                </a:lnTo>
                <a:lnTo>
                  <a:pt x="5269788" y="4298420"/>
                </a:lnTo>
                <a:close/>
                <a:moveTo>
                  <a:pt x="4777837" y="3807511"/>
                </a:moveTo>
                <a:lnTo>
                  <a:pt x="4876956" y="3807511"/>
                </a:lnTo>
                <a:lnTo>
                  <a:pt x="4876956" y="4000727"/>
                </a:lnTo>
                <a:lnTo>
                  <a:pt x="5071177" y="4000727"/>
                </a:lnTo>
                <a:lnTo>
                  <a:pt x="5071177" y="3807511"/>
                </a:lnTo>
                <a:lnTo>
                  <a:pt x="5170297" y="3807511"/>
                </a:lnTo>
                <a:lnTo>
                  <a:pt x="5170297" y="4298420"/>
                </a:lnTo>
                <a:lnTo>
                  <a:pt x="5071177" y="4298420"/>
                </a:lnTo>
                <a:lnTo>
                  <a:pt x="5071177" y="4083773"/>
                </a:lnTo>
                <a:lnTo>
                  <a:pt x="4876956" y="4083773"/>
                </a:lnTo>
                <a:lnTo>
                  <a:pt x="4876956" y="4298420"/>
                </a:lnTo>
                <a:lnTo>
                  <a:pt x="4777837" y="4298420"/>
                </a:lnTo>
                <a:close/>
                <a:moveTo>
                  <a:pt x="3827941" y="3807511"/>
                </a:moveTo>
                <a:lnTo>
                  <a:pt x="3827941" y="3890557"/>
                </a:lnTo>
                <a:lnTo>
                  <a:pt x="3973607" y="3890557"/>
                </a:lnTo>
                <a:lnTo>
                  <a:pt x="3973607" y="4298420"/>
                </a:lnTo>
                <a:lnTo>
                  <a:pt x="4072726" y="4298420"/>
                </a:lnTo>
                <a:lnTo>
                  <a:pt x="4072726" y="3890557"/>
                </a:lnTo>
                <a:lnTo>
                  <a:pt x="4218057" y="3890557"/>
                </a:lnTo>
                <a:lnTo>
                  <a:pt x="4218057" y="3807511"/>
                </a:lnTo>
                <a:close/>
                <a:moveTo>
                  <a:pt x="3585314" y="3807511"/>
                </a:moveTo>
                <a:lnTo>
                  <a:pt x="3394107" y="4298420"/>
                </a:lnTo>
                <a:lnTo>
                  <a:pt x="3499254" y="4298420"/>
                </a:lnTo>
                <a:lnTo>
                  <a:pt x="3539773" y="4186911"/>
                </a:lnTo>
                <a:lnTo>
                  <a:pt x="3736003" y="4186911"/>
                </a:lnTo>
                <a:lnTo>
                  <a:pt x="3778865" y="4298420"/>
                </a:lnTo>
                <a:lnTo>
                  <a:pt x="3886691" y="4298420"/>
                </a:lnTo>
                <a:lnTo>
                  <a:pt x="3690126" y="3807511"/>
                </a:lnTo>
                <a:close/>
                <a:moveTo>
                  <a:pt x="2777327" y="3807511"/>
                </a:moveTo>
                <a:lnTo>
                  <a:pt x="2894528" y="4298420"/>
                </a:lnTo>
                <a:lnTo>
                  <a:pt x="3002020" y="4298420"/>
                </a:lnTo>
                <a:lnTo>
                  <a:pt x="3099465" y="3931410"/>
                </a:lnTo>
                <a:lnTo>
                  <a:pt x="3197245" y="4298420"/>
                </a:lnTo>
                <a:lnTo>
                  <a:pt x="3302392" y="4298420"/>
                </a:lnTo>
                <a:lnTo>
                  <a:pt x="3421603" y="3807511"/>
                </a:lnTo>
                <a:lnTo>
                  <a:pt x="3321814" y="3807511"/>
                </a:lnTo>
                <a:lnTo>
                  <a:pt x="3246470" y="4150411"/>
                </a:lnTo>
                <a:lnTo>
                  <a:pt x="3160410" y="3807511"/>
                </a:lnTo>
                <a:lnTo>
                  <a:pt x="3042538" y="3807511"/>
                </a:lnTo>
                <a:lnTo>
                  <a:pt x="2952795" y="4144718"/>
                </a:lnTo>
                <a:lnTo>
                  <a:pt x="2878790" y="3807511"/>
                </a:lnTo>
                <a:close/>
                <a:moveTo>
                  <a:pt x="6185304" y="3799139"/>
                </a:moveTo>
                <a:cubicBezTo>
                  <a:pt x="6246249" y="3799139"/>
                  <a:pt x="6293856" y="3811920"/>
                  <a:pt x="6328124" y="3837481"/>
                </a:cubicBezTo>
                <a:cubicBezTo>
                  <a:pt x="6362391" y="3863042"/>
                  <a:pt x="6384436" y="3898370"/>
                  <a:pt x="6394259" y="3943465"/>
                </a:cubicBezTo>
                <a:lnTo>
                  <a:pt x="6295809" y="3961883"/>
                </a:lnTo>
                <a:cubicBezTo>
                  <a:pt x="6288889" y="3937772"/>
                  <a:pt x="6275885" y="3918741"/>
                  <a:pt x="6256798" y="3904788"/>
                </a:cubicBezTo>
                <a:cubicBezTo>
                  <a:pt x="6237710" y="3890836"/>
                  <a:pt x="6213879" y="3883859"/>
                  <a:pt x="6185304" y="3883859"/>
                </a:cubicBezTo>
                <a:cubicBezTo>
                  <a:pt x="6141995" y="3883859"/>
                  <a:pt x="6107560" y="3897589"/>
                  <a:pt x="6081999" y="3925048"/>
                </a:cubicBezTo>
                <a:cubicBezTo>
                  <a:pt x="6056438" y="3952506"/>
                  <a:pt x="6043657" y="3993248"/>
                  <a:pt x="6043657" y="4047273"/>
                </a:cubicBezTo>
                <a:cubicBezTo>
                  <a:pt x="6043657" y="4105539"/>
                  <a:pt x="6056605" y="4149239"/>
                  <a:pt x="6082501" y="4178372"/>
                </a:cubicBezTo>
                <a:cubicBezTo>
                  <a:pt x="6108397" y="4207505"/>
                  <a:pt x="6142330" y="4222071"/>
                  <a:pt x="6184300" y="4222071"/>
                </a:cubicBezTo>
                <a:cubicBezTo>
                  <a:pt x="6205061" y="4222071"/>
                  <a:pt x="6225879" y="4217997"/>
                  <a:pt x="6246752" y="4209849"/>
                </a:cubicBezTo>
                <a:cubicBezTo>
                  <a:pt x="6267625" y="4201700"/>
                  <a:pt x="6285540" y="4191822"/>
                  <a:pt x="6300497" y="4180213"/>
                </a:cubicBezTo>
                <a:lnTo>
                  <a:pt x="6300497" y="4117929"/>
                </a:lnTo>
                <a:lnTo>
                  <a:pt x="6186979" y="4117929"/>
                </a:lnTo>
                <a:lnTo>
                  <a:pt x="6186979" y="4035218"/>
                </a:lnTo>
                <a:lnTo>
                  <a:pt x="6400621" y="4035218"/>
                </a:lnTo>
                <a:lnTo>
                  <a:pt x="6400621" y="4230778"/>
                </a:lnTo>
                <a:cubicBezTo>
                  <a:pt x="6379860" y="4250870"/>
                  <a:pt x="6349778" y="4268562"/>
                  <a:pt x="6310376" y="4283854"/>
                </a:cubicBezTo>
                <a:cubicBezTo>
                  <a:pt x="6270974" y="4299146"/>
                  <a:pt x="6231069" y="4306792"/>
                  <a:pt x="6190662" y="4306792"/>
                </a:cubicBezTo>
                <a:cubicBezTo>
                  <a:pt x="6139316" y="4306792"/>
                  <a:pt x="6094556" y="4296020"/>
                  <a:pt x="6056382" y="4274477"/>
                </a:cubicBezTo>
                <a:cubicBezTo>
                  <a:pt x="6018208" y="4252935"/>
                  <a:pt x="5989521" y="4222127"/>
                  <a:pt x="5970322" y="4182055"/>
                </a:cubicBezTo>
                <a:cubicBezTo>
                  <a:pt x="5951123" y="4141983"/>
                  <a:pt x="5941524" y="4098395"/>
                  <a:pt x="5941524" y="4051291"/>
                </a:cubicBezTo>
                <a:cubicBezTo>
                  <a:pt x="5941524" y="4000169"/>
                  <a:pt x="5952239" y="3954739"/>
                  <a:pt x="5973671" y="3915002"/>
                </a:cubicBezTo>
                <a:cubicBezTo>
                  <a:pt x="5995102" y="3875265"/>
                  <a:pt x="6026468" y="3844792"/>
                  <a:pt x="6067767" y="3823584"/>
                </a:cubicBezTo>
                <a:cubicBezTo>
                  <a:pt x="6099244" y="3807287"/>
                  <a:pt x="6138423" y="3799139"/>
                  <a:pt x="6185304" y="3799139"/>
                </a:cubicBezTo>
                <a:close/>
                <a:moveTo>
                  <a:pt x="4981731" y="3061882"/>
                </a:moveTo>
                <a:lnTo>
                  <a:pt x="4981731" y="3186451"/>
                </a:lnTo>
                <a:lnTo>
                  <a:pt x="5055066" y="3186451"/>
                </a:lnTo>
                <a:cubicBezTo>
                  <a:pt x="5102617" y="3186451"/>
                  <a:pt x="5132308" y="3184442"/>
                  <a:pt x="5144140" y="3180423"/>
                </a:cubicBezTo>
                <a:cubicBezTo>
                  <a:pt x="5155972" y="3176405"/>
                  <a:pt x="5165236" y="3169484"/>
                  <a:pt x="5171934" y="3159662"/>
                </a:cubicBezTo>
                <a:cubicBezTo>
                  <a:pt x="5178631" y="3149839"/>
                  <a:pt x="5181980" y="3137561"/>
                  <a:pt x="5181980" y="3122827"/>
                </a:cubicBezTo>
                <a:cubicBezTo>
                  <a:pt x="5181980" y="3106307"/>
                  <a:pt x="5177570" y="3092968"/>
                  <a:pt x="5168752" y="3082811"/>
                </a:cubicBezTo>
                <a:cubicBezTo>
                  <a:pt x="5159934" y="3072653"/>
                  <a:pt x="5147489" y="3066235"/>
                  <a:pt x="5131415" y="3063556"/>
                </a:cubicBezTo>
                <a:cubicBezTo>
                  <a:pt x="5123378" y="3062440"/>
                  <a:pt x="5099268" y="3061882"/>
                  <a:pt x="5059085" y="3061882"/>
                </a:cubicBezTo>
                <a:close/>
                <a:moveTo>
                  <a:pt x="4567208" y="3055184"/>
                </a:moveTo>
                <a:lnTo>
                  <a:pt x="4572000" y="3056085"/>
                </a:lnTo>
                <a:lnTo>
                  <a:pt x="4572000" y="3392448"/>
                </a:lnTo>
                <a:lnTo>
                  <a:pt x="4567208" y="3393396"/>
                </a:lnTo>
                <a:cubicBezTo>
                  <a:pt x="4527694" y="3393396"/>
                  <a:pt x="4495100" y="3379053"/>
                  <a:pt x="4469428" y="3350366"/>
                </a:cubicBezTo>
                <a:cubicBezTo>
                  <a:pt x="4443755" y="3321680"/>
                  <a:pt x="4430918" y="3279543"/>
                  <a:pt x="4430918" y="3223956"/>
                </a:cubicBezTo>
                <a:cubicBezTo>
                  <a:pt x="4430918" y="3167475"/>
                  <a:pt x="4443420" y="3125227"/>
                  <a:pt x="4468423" y="3097210"/>
                </a:cubicBezTo>
                <a:cubicBezTo>
                  <a:pt x="4493426" y="3069193"/>
                  <a:pt x="4526354" y="3055184"/>
                  <a:pt x="4567208" y="3055184"/>
                </a:cubicBezTo>
                <a:close/>
                <a:moveTo>
                  <a:pt x="4882612" y="2978836"/>
                </a:moveTo>
                <a:lnTo>
                  <a:pt x="5091232" y="2978836"/>
                </a:lnTo>
                <a:cubicBezTo>
                  <a:pt x="5143693" y="2978836"/>
                  <a:pt x="5181812" y="2983245"/>
                  <a:pt x="5205587" y="2992063"/>
                </a:cubicBezTo>
                <a:cubicBezTo>
                  <a:pt x="5229363" y="3000881"/>
                  <a:pt x="5248394" y="3016564"/>
                  <a:pt x="5262682" y="3039111"/>
                </a:cubicBezTo>
                <a:cubicBezTo>
                  <a:pt x="5276969" y="3061658"/>
                  <a:pt x="5284113" y="3087443"/>
                  <a:pt x="5284113" y="3116464"/>
                </a:cubicBezTo>
                <a:cubicBezTo>
                  <a:pt x="5284113" y="3153299"/>
                  <a:pt x="5273285" y="3183716"/>
                  <a:pt x="5251631" y="3207715"/>
                </a:cubicBezTo>
                <a:cubicBezTo>
                  <a:pt x="5229977" y="3231713"/>
                  <a:pt x="5197606" y="3246838"/>
                  <a:pt x="5154521" y="3253089"/>
                </a:cubicBezTo>
                <a:cubicBezTo>
                  <a:pt x="5175952" y="3265590"/>
                  <a:pt x="5193644" y="3279320"/>
                  <a:pt x="5207597" y="3294277"/>
                </a:cubicBezTo>
                <a:cubicBezTo>
                  <a:pt x="5221549" y="3309234"/>
                  <a:pt x="5240357" y="3335800"/>
                  <a:pt x="5264021" y="3373974"/>
                </a:cubicBezTo>
                <a:lnTo>
                  <a:pt x="5323962" y="3469745"/>
                </a:lnTo>
                <a:lnTo>
                  <a:pt x="5205420" y="3469745"/>
                </a:lnTo>
                <a:lnTo>
                  <a:pt x="5133759" y="3362924"/>
                </a:lnTo>
                <a:cubicBezTo>
                  <a:pt x="5108310" y="3324749"/>
                  <a:pt x="5090897" y="3300695"/>
                  <a:pt x="5081521" y="3290761"/>
                </a:cubicBezTo>
                <a:cubicBezTo>
                  <a:pt x="5072144" y="3280827"/>
                  <a:pt x="5062210" y="3274018"/>
                  <a:pt x="5051718" y="3270334"/>
                </a:cubicBezTo>
                <a:cubicBezTo>
                  <a:pt x="5041225" y="3266651"/>
                  <a:pt x="5024594" y="3264809"/>
                  <a:pt x="5001823" y="3264809"/>
                </a:cubicBezTo>
                <a:lnTo>
                  <a:pt x="4981731" y="3264809"/>
                </a:lnTo>
                <a:lnTo>
                  <a:pt x="4981731" y="3469745"/>
                </a:lnTo>
                <a:lnTo>
                  <a:pt x="4882612" y="3469745"/>
                </a:lnTo>
                <a:close/>
                <a:moveTo>
                  <a:pt x="3930447" y="2978836"/>
                </a:moveTo>
                <a:lnTo>
                  <a:pt x="3930447" y="3469745"/>
                </a:lnTo>
                <a:lnTo>
                  <a:pt x="4029566" y="3469745"/>
                </a:lnTo>
                <a:lnTo>
                  <a:pt x="4029566" y="3261125"/>
                </a:lnTo>
                <a:lnTo>
                  <a:pt x="4234502" y="3261125"/>
                </a:lnTo>
                <a:lnTo>
                  <a:pt x="4234502" y="3178079"/>
                </a:lnTo>
                <a:lnTo>
                  <a:pt x="4029566" y="3178079"/>
                </a:lnTo>
                <a:lnTo>
                  <a:pt x="4029566" y="3061882"/>
                </a:lnTo>
                <a:lnTo>
                  <a:pt x="4266984" y="3061882"/>
                </a:lnTo>
                <a:lnTo>
                  <a:pt x="4266984" y="2978836"/>
                </a:lnTo>
                <a:close/>
                <a:moveTo>
                  <a:pt x="4572000" y="2970937"/>
                </a:moveTo>
                <a:lnTo>
                  <a:pt x="4617741" y="2974671"/>
                </a:lnTo>
                <a:cubicBezTo>
                  <a:pt x="4666568" y="2983084"/>
                  <a:pt x="4707264" y="3004118"/>
                  <a:pt x="4739830" y="3037772"/>
                </a:cubicBezTo>
                <a:cubicBezTo>
                  <a:pt x="4783250" y="3082643"/>
                  <a:pt x="4804961" y="3145039"/>
                  <a:pt x="4804961" y="3224960"/>
                </a:cubicBezTo>
                <a:cubicBezTo>
                  <a:pt x="4804961" y="3304211"/>
                  <a:pt x="4783418" y="3366217"/>
                  <a:pt x="4740332" y="3410977"/>
                </a:cubicBezTo>
                <a:cubicBezTo>
                  <a:pt x="4708018" y="3444547"/>
                  <a:pt x="4667541" y="3465528"/>
                  <a:pt x="4618902" y="3473920"/>
                </a:cubicBezTo>
                <a:lnTo>
                  <a:pt x="4572000" y="3477752"/>
                </a:lnTo>
                <a:lnTo>
                  <a:pt x="4572000" y="3392448"/>
                </a:lnTo>
                <a:lnTo>
                  <a:pt x="4621162" y="3382723"/>
                </a:lnTo>
                <a:cubicBezTo>
                  <a:pt x="4637375" y="3375607"/>
                  <a:pt x="4651816" y="3364933"/>
                  <a:pt x="4664485" y="3350701"/>
                </a:cubicBezTo>
                <a:cubicBezTo>
                  <a:pt x="4689823" y="3322238"/>
                  <a:pt x="4702492" y="3279543"/>
                  <a:pt x="4702492" y="3222616"/>
                </a:cubicBezTo>
                <a:cubicBezTo>
                  <a:pt x="4702492" y="3166359"/>
                  <a:pt x="4690158" y="3124390"/>
                  <a:pt x="4665490" y="3096708"/>
                </a:cubicBezTo>
                <a:cubicBezTo>
                  <a:pt x="4653156" y="3082867"/>
                  <a:pt x="4638799" y="3072486"/>
                  <a:pt x="4622418" y="3065565"/>
                </a:cubicBezTo>
                <a:lnTo>
                  <a:pt x="4572000" y="3056085"/>
                </a:lnTo>
                <a:close/>
                <a:moveTo>
                  <a:pt x="3731798" y="2274209"/>
                </a:moveTo>
                <a:lnTo>
                  <a:pt x="3799441" y="2456374"/>
                </a:lnTo>
                <a:lnTo>
                  <a:pt x="3665495" y="2456374"/>
                </a:lnTo>
                <a:close/>
                <a:moveTo>
                  <a:pt x="5881658" y="2236034"/>
                </a:moveTo>
                <a:cubicBezTo>
                  <a:pt x="5840804" y="2236034"/>
                  <a:pt x="5807876" y="2250043"/>
                  <a:pt x="5782873" y="2278060"/>
                </a:cubicBezTo>
                <a:cubicBezTo>
                  <a:pt x="5757870" y="2306077"/>
                  <a:pt x="5745368" y="2348325"/>
                  <a:pt x="5745368" y="2404806"/>
                </a:cubicBezTo>
                <a:cubicBezTo>
                  <a:pt x="5745368" y="2460393"/>
                  <a:pt x="5758205" y="2502530"/>
                  <a:pt x="5783878" y="2531216"/>
                </a:cubicBezTo>
                <a:cubicBezTo>
                  <a:pt x="5809551" y="2559903"/>
                  <a:pt x="5842144" y="2574246"/>
                  <a:pt x="5881658" y="2574246"/>
                </a:cubicBezTo>
                <a:cubicBezTo>
                  <a:pt x="5921172" y="2574246"/>
                  <a:pt x="5953598" y="2560015"/>
                  <a:pt x="5978936" y="2531551"/>
                </a:cubicBezTo>
                <a:cubicBezTo>
                  <a:pt x="6004274" y="2503088"/>
                  <a:pt x="6016943" y="2460393"/>
                  <a:pt x="6016943" y="2403466"/>
                </a:cubicBezTo>
                <a:cubicBezTo>
                  <a:pt x="6016943" y="2347209"/>
                  <a:pt x="6004608" y="2305239"/>
                  <a:pt x="5979940" y="2277557"/>
                </a:cubicBezTo>
                <a:cubicBezTo>
                  <a:pt x="5955272" y="2249875"/>
                  <a:pt x="5922511" y="2236034"/>
                  <a:pt x="5881658" y="2236034"/>
                </a:cubicBezTo>
                <a:close/>
                <a:moveTo>
                  <a:pt x="6196057" y="2159686"/>
                </a:moveTo>
                <a:lnTo>
                  <a:pt x="6295177" y="2159686"/>
                </a:lnTo>
                <a:lnTo>
                  <a:pt x="6295177" y="2425567"/>
                </a:lnTo>
                <a:cubicBezTo>
                  <a:pt x="6295177" y="2467760"/>
                  <a:pt x="6296405" y="2495107"/>
                  <a:pt x="6298860" y="2507609"/>
                </a:cubicBezTo>
                <a:cubicBezTo>
                  <a:pt x="6303102" y="2527700"/>
                  <a:pt x="6313203" y="2543830"/>
                  <a:pt x="6329165" y="2555996"/>
                </a:cubicBezTo>
                <a:cubicBezTo>
                  <a:pt x="6345127" y="2568163"/>
                  <a:pt x="6366949" y="2574246"/>
                  <a:pt x="6394631" y="2574246"/>
                </a:cubicBezTo>
                <a:cubicBezTo>
                  <a:pt x="6422760" y="2574246"/>
                  <a:pt x="6443968" y="2568498"/>
                  <a:pt x="6458255" y="2557001"/>
                </a:cubicBezTo>
                <a:cubicBezTo>
                  <a:pt x="6472543" y="2545504"/>
                  <a:pt x="6481137" y="2531384"/>
                  <a:pt x="6484040" y="2514641"/>
                </a:cubicBezTo>
                <a:cubicBezTo>
                  <a:pt x="6486942" y="2497897"/>
                  <a:pt x="6488393" y="2470104"/>
                  <a:pt x="6488393" y="2431260"/>
                </a:cubicBezTo>
                <a:lnTo>
                  <a:pt x="6488393" y="2159686"/>
                </a:lnTo>
                <a:lnTo>
                  <a:pt x="6587512" y="2159686"/>
                </a:lnTo>
                <a:lnTo>
                  <a:pt x="6587512" y="2417530"/>
                </a:lnTo>
                <a:cubicBezTo>
                  <a:pt x="6587512" y="2476466"/>
                  <a:pt x="6584834" y="2518101"/>
                  <a:pt x="6579476" y="2542434"/>
                </a:cubicBezTo>
                <a:cubicBezTo>
                  <a:pt x="6574118" y="2566768"/>
                  <a:pt x="6564239" y="2587306"/>
                  <a:pt x="6549840" y="2604049"/>
                </a:cubicBezTo>
                <a:cubicBezTo>
                  <a:pt x="6535441" y="2620792"/>
                  <a:pt x="6516186" y="2634131"/>
                  <a:pt x="6492076" y="2644065"/>
                </a:cubicBezTo>
                <a:cubicBezTo>
                  <a:pt x="6467966" y="2654000"/>
                  <a:pt x="6436489" y="2658967"/>
                  <a:pt x="6397645" y="2658967"/>
                </a:cubicBezTo>
                <a:cubicBezTo>
                  <a:pt x="6350764" y="2658967"/>
                  <a:pt x="6315213" y="2653553"/>
                  <a:pt x="6290991" y="2642726"/>
                </a:cubicBezTo>
                <a:cubicBezTo>
                  <a:pt x="6266769" y="2631899"/>
                  <a:pt x="6247626" y="2617834"/>
                  <a:pt x="6233562" y="2600533"/>
                </a:cubicBezTo>
                <a:cubicBezTo>
                  <a:pt x="6219498" y="2583232"/>
                  <a:pt x="6210233" y="2565093"/>
                  <a:pt x="6205768" y="2546118"/>
                </a:cubicBezTo>
                <a:cubicBezTo>
                  <a:pt x="6199294" y="2517989"/>
                  <a:pt x="6196057" y="2476466"/>
                  <a:pt x="6196057" y="2421549"/>
                </a:cubicBezTo>
                <a:close/>
                <a:moveTo>
                  <a:pt x="5155228" y="2159686"/>
                </a:moveTo>
                <a:lnTo>
                  <a:pt x="5271425" y="2159686"/>
                </a:lnTo>
                <a:lnTo>
                  <a:pt x="5386953" y="2353906"/>
                </a:lnTo>
                <a:lnTo>
                  <a:pt x="5500137" y="2159686"/>
                </a:lnTo>
                <a:lnTo>
                  <a:pt x="5614325" y="2159686"/>
                </a:lnTo>
                <a:lnTo>
                  <a:pt x="5433834" y="2444654"/>
                </a:lnTo>
                <a:lnTo>
                  <a:pt x="5433834" y="2650595"/>
                </a:lnTo>
                <a:lnTo>
                  <a:pt x="5335049" y="2650595"/>
                </a:lnTo>
                <a:lnTo>
                  <a:pt x="5335049" y="2443984"/>
                </a:lnTo>
                <a:close/>
                <a:moveTo>
                  <a:pt x="4572000" y="2159686"/>
                </a:moveTo>
                <a:lnTo>
                  <a:pt x="4601736" y="2159686"/>
                </a:lnTo>
                <a:lnTo>
                  <a:pt x="4601736" y="2377682"/>
                </a:lnTo>
                <a:lnTo>
                  <a:pt x="4801984" y="2159686"/>
                </a:lnTo>
                <a:lnTo>
                  <a:pt x="4935260" y="2159686"/>
                </a:lnTo>
                <a:lnTo>
                  <a:pt x="4750415" y="2350893"/>
                </a:lnTo>
                <a:lnTo>
                  <a:pt x="4945306" y="2650595"/>
                </a:lnTo>
                <a:lnTo>
                  <a:pt x="4817053" y="2650595"/>
                </a:lnTo>
                <a:lnTo>
                  <a:pt x="4682103" y="2420209"/>
                </a:lnTo>
                <a:lnTo>
                  <a:pt x="4601736" y="2502251"/>
                </a:lnTo>
                <a:lnTo>
                  <a:pt x="4601736" y="2650595"/>
                </a:lnTo>
                <a:lnTo>
                  <a:pt x="4572000" y="2650595"/>
                </a:lnTo>
                <a:close/>
                <a:moveTo>
                  <a:pt x="4006981" y="2159686"/>
                </a:moveTo>
                <a:lnTo>
                  <a:pt x="4006981" y="2650595"/>
                </a:lnTo>
                <a:lnTo>
                  <a:pt x="4099069" y="2650595"/>
                </a:lnTo>
                <a:lnTo>
                  <a:pt x="4099069" y="2330466"/>
                </a:lnTo>
                <a:lnTo>
                  <a:pt x="4296973" y="2650595"/>
                </a:lnTo>
                <a:lnTo>
                  <a:pt x="4396428" y="2650595"/>
                </a:lnTo>
                <a:lnTo>
                  <a:pt x="4396428" y="2159686"/>
                </a:lnTo>
                <a:lnTo>
                  <a:pt x="4304340" y="2159686"/>
                </a:lnTo>
                <a:lnTo>
                  <a:pt x="4304340" y="2487517"/>
                </a:lnTo>
                <a:lnTo>
                  <a:pt x="4103422" y="2159686"/>
                </a:lnTo>
                <a:close/>
                <a:moveTo>
                  <a:pt x="3680564" y="2159686"/>
                </a:moveTo>
                <a:lnTo>
                  <a:pt x="3489357" y="2650595"/>
                </a:lnTo>
                <a:lnTo>
                  <a:pt x="3594504" y="2650595"/>
                </a:lnTo>
                <a:lnTo>
                  <a:pt x="3635023" y="2539086"/>
                </a:lnTo>
                <a:lnTo>
                  <a:pt x="3831253" y="2539086"/>
                </a:lnTo>
                <a:lnTo>
                  <a:pt x="3874115" y="2650595"/>
                </a:lnTo>
                <a:lnTo>
                  <a:pt x="3981941" y="2650595"/>
                </a:lnTo>
                <a:lnTo>
                  <a:pt x="3785376" y="2159686"/>
                </a:lnTo>
                <a:close/>
                <a:moveTo>
                  <a:pt x="3044287" y="2159686"/>
                </a:moveTo>
                <a:lnTo>
                  <a:pt x="3044287" y="2650595"/>
                </a:lnTo>
                <a:lnTo>
                  <a:pt x="3143406" y="2650595"/>
                </a:lnTo>
                <a:lnTo>
                  <a:pt x="3143406" y="2435948"/>
                </a:lnTo>
                <a:lnTo>
                  <a:pt x="3337627" y="2435948"/>
                </a:lnTo>
                <a:lnTo>
                  <a:pt x="3337627" y="2650595"/>
                </a:lnTo>
                <a:lnTo>
                  <a:pt x="3436747" y="2650595"/>
                </a:lnTo>
                <a:lnTo>
                  <a:pt x="3436747" y="2159686"/>
                </a:lnTo>
                <a:lnTo>
                  <a:pt x="3337627" y="2159686"/>
                </a:lnTo>
                <a:lnTo>
                  <a:pt x="3337627" y="2352902"/>
                </a:lnTo>
                <a:lnTo>
                  <a:pt x="3143406" y="2352902"/>
                </a:lnTo>
                <a:lnTo>
                  <a:pt x="3143406" y="2159686"/>
                </a:lnTo>
                <a:close/>
                <a:moveTo>
                  <a:pt x="2589691" y="2159686"/>
                </a:moveTo>
                <a:lnTo>
                  <a:pt x="2589691" y="2242732"/>
                </a:lnTo>
                <a:lnTo>
                  <a:pt x="2735357" y="2242732"/>
                </a:lnTo>
                <a:lnTo>
                  <a:pt x="2735357" y="2650595"/>
                </a:lnTo>
                <a:lnTo>
                  <a:pt x="2834476" y="2650595"/>
                </a:lnTo>
                <a:lnTo>
                  <a:pt x="2834476" y="2242732"/>
                </a:lnTo>
                <a:lnTo>
                  <a:pt x="2979807" y="2242732"/>
                </a:lnTo>
                <a:lnTo>
                  <a:pt x="2979807" y="2159686"/>
                </a:lnTo>
                <a:close/>
                <a:moveTo>
                  <a:pt x="5880653" y="2151314"/>
                </a:moveTo>
                <a:cubicBezTo>
                  <a:pt x="5952984" y="2151314"/>
                  <a:pt x="6010859" y="2173750"/>
                  <a:pt x="6054280" y="2218622"/>
                </a:cubicBezTo>
                <a:cubicBezTo>
                  <a:pt x="6097700" y="2263493"/>
                  <a:pt x="6119411" y="2325889"/>
                  <a:pt x="6119411" y="2405810"/>
                </a:cubicBezTo>
                <a:cubicBezTo>
                  <a:pt x="6119411" y="2485061"/>
                  <a:pt x="6097868" y="2547067"/>
                  <a:pt x="6054782" y="2591827"/>
                </a:cubicBezTo>
                <a:cubicBezTo>
                  <a:pt x="6011696" y="2636587"/>
                  <a:pt x="5954100" y="2658967"/>
                  <a:pt x="5881993" y="2658967"/>
                </a:cubicBezTo>
                <a:cubicBezTo>
                  <a:pt x="5808992" y="2658967"/>
                  <a:pt x="5750949" y="2636698"/>
                  <a:pt x="5707864" y="2592162"/>
                </a:cubicBezTo>
                <a:cubicBezTo>
                  <a:pt x="5664778" y="2547625"/>
                  <a:pt x="5643235" y="2486289"/>
                  <a:pt x="5643235" y="2408154"/>
                </a:cubicBezTo>
                <a:cubicBezTo>
                  <a:pt x="5643235" y="2358148"/>
                  <a:pt x="5650714" y="2316179"/>
                  <a:pt x="5665671" y="2282246"/>
                </a:cubicBezTo>
                <a:cubicBezTo>
                  <a:pt x="5676833" y="2257242"/>
                  <a:pt x="5692069" y="2234807"/>
                  <a:pt x="5711380" y="2214938"/>
                </a:cubicBezTo>
                <a:cubicBezTo>
                  <a:pt x="5730690" y="2195069"/>
                  <a:pt x="5751842" y="2180335"/>
                  <a:pt x="5774836" y="2170736"/>
                </a:cubicBezTo>
                <a:cubicBezTo>
                  <a:pt x="5805421" y="2157788"/>
                  <a:pt x="5840693" y="2151314"/>
                  <a:pt x="5880653" y="2151314"/>
                </a:cubicBezTo>
                <a:close/>
                <a:moveTo>
                  <a:pt x="2186890" y="1474854"/>
                </a:moveTo>
                <a:cubicBezTo>
                  <a:pt x="2094022" y="1527093"/>
                  <a:pt x="2049038" y="1606901"/>
                  <a:pt x="2051941" y="1714281"/>
                </a:cubicBezTo>
                <a:lnTo>
                  <a:pt x="2051941" y="1853584"/>
                </a:lnTo>
                <a:lnTo>
                  <a:pt x="2234776" y="1853584"/>
                </a:lnTo>
                <a:lnTo>
                  <a:pt x="2234776" y="1670749"/>
                </a:lnTo>
                <a:cubicBezTo>
                  <a:pt x="2214461" y="1670749"/>
                  <a:pt x="2182537" y="1670749"/>
                  <a:pt x="2139005" y="1670749"/>
                </a:cubicBezTo>
                <a:cubicBezTo>
                  <a:pt x="2144809" y="1612706"/>
                  <a:pt x="2175282" y="1563369"/>
                  <a:pt x="2230423" y="1522739"/>
                </a:cubicBezTo>
                <a:close/>
                <a:moveTo>
                  <a:pt x="1943110" y="1474854"/>
                </a:moveTo>
                <a:cubicBezTo>
                  <a:pt x="1853144" y="1524190"/>
                  <a:pt x="1809611" y="1603999"/>
                  <a:pt x="1812513" y="1714281"/>
                </a:cubicBezTo>
                <a:lnTo>
                  <a:pt x="1812513" y="1853584"/>
                </a:lnTo>
                <a:lnTo>
                  <a:pt x="1990996" y="1853584"/>
                </a:lnTo>
                <a:lnTo>
                  <a:pt x="1990996" y="1670749"/>
                </a:lnTo>
                <a:cubicBezTo>
                  <a:pt x="1970681" y="1670749"/>
                  <a:pt x="1940208" y="1670749"/>
                  <a:pt x="1899578" y="1670749"/>
                </a:cubicBezTo>
                <a:cubicBezTo>
                  <a:pt x="1902480" y="1612706"/>
                  <a:pt x="1931501" y="1563369"/>
                  <a:pt x="1986642" y="1522739"/>
                </a:cubicBezTo>
                <a:close/>
                <a:moveTo>
                  <a:pt x="0" y="0"/>
                </a:moveTo>
                <a:lnTo>
                  <a:pt x="4572000" y="0"/>
                </a:lnTo>
                <a:lnTo>
                  <a:pt x="4572000" y="2159686"/>
                </a:lnTo>
                <a:lnTo>
                  <a:pt x="4502616" y="2159686"/>
                </a:lnTo>
                <a:lnTo>
                  <a:pt x="4502616" y="2650595"/>
                </a:lnTo>
                <a:lnTo>
                  <a:pt x="4572000" y="2650595"/>
                </a:lnTo>
                <a:lnTo>
                  <a:pt x="4572000" y="2970937"/>
                </a:lnTo>
                <a:lnTo>
                  <a:pt x="4566203" y="2970464"/>
                </a:lnTo>
                <a:cubicBezTo>
                  <a:pt x="4526243" y="2970464"/>
                  <a:pt x="4490970" y="2976938"/>
                  <a:pt x="4460386" y="2989886"/>
                </a:cubicBezTo>
                <a:cubicBezTo>
                  <a:pt x="4437392" y="2999486"/>
                  <a:pt x="4416240" y="3014220"/>
                  <a:pt x="4396930" y="3034088"/>
                </a:cubicBezTo>
                <a:cubicBezTo>
                  <a:pt x="4377619" y="3053957"/>
                  <a:pt x="4362383" y="3076392"/>
                  <a:pt x="4351221" y="3101396"/>
                </a:cubicBezTo>
                <a:cubicBezTo>
                  <a:pt x="4336264" y="3135328"/>
                  <a:pt x="4328785" y="3177298"/>
                  <a:pt x="4328785" y="3227304"/>
                </a:cubicBezTo>
                <a:cubicBezTo>
                  <a:pt x="4328785" y="3305439"/>
                  <a:pt x="4350328" y="3366775"/>
                  <a:pt x="4393414" y="3411312"/>
                </a:cubicBezTo>
                <a:cubicBezTo>
                  <a:pt x="4436499" y="3455848"/>
                  <a:pt x="4494542" y="3478117"/>
                  <a:pt x="4567542" y="3478117"/>
                </a:cubicBezTo>
                <a:lnTo>
                  <a:pt x="4572000" y="3477752"/>
                </a:lnTo>
                <a:lnTo>
                  <a:pt x="4572000" y="3811777"/>
                </a:lnTo>
                <a:lnTo>
                  <a:pt x="4494505" y="3799139"/>
                </a:lnTo>
                <a:cubicBezTo>
                  <a:pt x="4425747" y="3799139"/>
                  <a:pt x="4370271" y="3821742"/>
                  <a:pt x="4328078" y="3866949"/>
                </a:cubicBezTo>
                <a:cubicBezTo>
                  <a:pt x="4285885" y="3912155"/>
                  <a:pt x="4264789" y="3975612"/>
                  <a:pt x="4264789" y="4057319"/>
                </a:cubicBezTo>
                <a:cubicBezTo>
                  <a:pt x="4264789" y="4134560"/>
                  <a:pt x="4285774" y="4195450"/>
                  <a:pt x="4327743" y="4239987"/>
                </a:cubicBezTo>
                <a:cubicBezTo>
                  <a:pt x="4369713" y="4284523"/>
                  <a:pt x="4423291" y="4306792"/>
                  <a:pt x="4488478" y="4306792"/>
                </a:cubicBezTo>
                <a:cubicBezTo>
                  <a:pt x="4514820" y="4306792"/>
                  <a:pt x="4538861" y="4303541"/>
                  <a:pt x="4560599" y="4297039"/>
                </a:cubicBezTo>
                <a:lnTo>
                  <a:pt x="4572000" y="4291318"/>
                </a:lnTo>
                <a:lnTo>
                  <a:pt x="4572000" y="5727528"/>
                </a:lnTo>
                <a:lnTo>
                  <a:pt x="0" y="572752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13052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strVal val="#ppt_w+.3"/>
                                          </p:val>
                                        </p:tav>
                                        <p:tav tm="100000">
                                          <p:val>
                                            <p:strVal val="#ppt_w"/>
                                          </p:val>
                                        </p:tav>
                                      </p:tavLst>
                                    </p:anim>
                                    <p:anim calcmode="lin" valueType="num">
                                      <p:cBhvr>
                                        <p:cTn id="8" dur="1000" fill="hold"/>
                                        <p:tgtEl>
                                          <p:spTgt spid="9"/>
                                        </p:tgtEl>
                                        <p:attrNameLst>
                                          <p:attrName>ppt_h</p:attrName>
                                        </p:attrNameLst>
                                      </p:cBhvr>
                                      <p:tavLst>
                                        <p:tav tm="0">
                                          <p:val>
                                            <p:strVal val="#ppt_h"/>
                                          </p:val>
                                        </p:tav>
                                        <p:tav tm="100000">
                                          <p:val>
                                            <p:strVal val="#ppt_h"/>
                                          </p:val>
                                        </p:tav>
                                      </p:tavLst>
                                    </p:anim>
                                    <p:animEffect transition="in" filter="fade">
                                      <p:cBhvr>
                                        <p:cTn id="9"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样式1">
      <a:majorFont>
        <a:latin typeface="MS PGothic"/>
        <a:ea typeface="微软雅黑"/>
        <a:cs typeface=""/>
      </a:majorFont>
      <a:minorFont>
        <a:latin typeface="Arial"/>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3583</TotalTime>
  <Words>658</Words>
  <Application>Microsoft Office PowerPoint</Application>
  <PresentationFormat>全屏显示(16:10)</PresentationFormat>
  <Paragraphs>104</Paragraphs>
  <Slides>24</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24</vt:i4>
      </vt:variant>
    </vt:vector>
  </HeadingPairs>
  <TitlesOfParts>
    <vt:vector size="30" baseType="lpstr">
      <vt:lpstr>Microsoft JhengHei</vt:lpstr>
      <vt:lpstr>MS PGothic</vt:lpstr>
      <vt:lpstr>微软雅黑</vt:lpstr>
      <vt:lpstr>微软雅黑 Light</vt:lpstr>
      <vt:lpstr>Arial</vt:lpstr>
      <vt:lpstr>Office 主题​​</vt:lpstr>
      <vt:lpstr>2019 客户服务行业趋势报告</vt:lpstr>
      <vt:lpstr>目录</vt:lpstr>
      <vt:lpstr>PowerPoint 演示文稿</vt:lpstr>
      <vt:lpstr>PowerPoint 演示文稿</vt:lpstr>
      <vt:lpstr>客户服务行业趋势生成原因</vt:lpstr>
      <vt:lpstr>PowerPoint 演示文稿</vt:lpstr>
      <vt:lpstr>PowerPoint 演示文稿</vt:lpstr>
      <vt:lpstr>PowerPoint 演示文稿</vt:lpstr>
      <vt:lpstr>2019年客户满意度调查情况</vt:lpstr>
      <vt:lpstr>PowerPoint 演示文稿</vt:lpstr>
      <vt:lpstr>PowerPoint 演示文稿</vt:lpstr>
      <vt:lpstr>媒体和互联网金融行业偏爱社交媒体客户服务 不同行业社交媒体客户服务选择情况 </vt:lpstr>
      <vt:lpstr>PowerPoint 演示文稿</vt:lpstr>
      <vt:lpstr>PowerPoint 演示文稿</vt:lpstr>
      <vt:lpstr>PowerPoint 演示文稿</vt:lpstr>
      <vt:lpstr>PowerPoint 演示文稿</vt:lpstr>
      <vt:lpstr>PowerPoint 演示文稿</vt:lpstr>
      <vt:lpstr>减少开支是主要因素</vt:lpstr>
      <vt:lpstr>PowerPoint 演示文稿</vt:lpstr>
      <vt:lpstr>PowerPoint 演示文稿</vt:lpstr>
      <vt:lpstr>2017年企业计划使用SaaS情况 </vt:lpstr>
      <vt:lpstr>SaaS吸引企业的原因</vt:lpstr>
      <vt:lpstr>SaaS服务总结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dc:creator>
  <cp:lastModifiedBy>admin</cp:lastModifiedBy>
  <cp:revision>224</cp:revision>
  <dcterms:created xsi:type="dcterms:W3CDTF">2017-01-11T03:35:19Z</dcterms:created>
  <dcterms:modified xsi:type="dcterms:W3CDTF">2022-09-28T07:56:30Z</dcterms:modified>
</cp:coreProperties>
</file>