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6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66CCFF"/>
    <a:srgbClr val="00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0" autoAdjust="0"/>
  </p:normalViewPr>
  <p:slideViewPr>
    <p:cSldViewPr>
      <p:cViewPr varScale="1">
        <p:scale>
          <a:sx n="64" d="100"/>
          <a:sy n="64" d="100"/>
        </p:scale>
        <p:origin x="6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49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3A4A4E-7471-4124-853E-F8EC996652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453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9D1C60-B0C2-466A-A29F-130C61BD9FB2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43DDEC-7EF6-49EE-BFAE-9860E70ABD4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D3362-E661-18CD-9F17-13E7E02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6F006E-16F8-5BCD-F409-0DF691645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5BF43-F771-0E2A-E4E9-CFF360BB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C07F4-AF9A-06AF-EFB7-1E0117CF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BDA39-5C27-04C9-339C-DDC0FEBF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96AB25-F3F6-47EE-B040-16E60349AD2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24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0163C-48D4-1C07-502C-A8B8F788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2794A2-E92A-CAEF-6DF0-1BDC75B06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69B98-5196-49C0-20F0-832F9FD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3BD06-B3BC-1488-5ED1-7F238969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C9E97-0573-CDEC-7DA0-EE910B1B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98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EBCB1-5E76-DCB8-C3ED-0DCFF072E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F68215-DA0E-A729-D18E-20B704CAF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75E40-2E7D-5BB5-00DA-5BCEAE38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58287-D75F-3AF3-9776-11271E65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C884F-E666-FA75-C1B4-2109A2CE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9DA7AF-D098-4D73-9D68-E74A128633C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295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5176-9149-C985-BA59-A2BF90C7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6B8B7-F428-6A7B-E49D-76F8B02C3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25DCB0-9570-3A50-BE2D-2007BC03E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C25451-DB3B-147D-D9B8-6CBFE739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83C941-F60A-29AE-3718-7F2B30BE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18B3AD-79AB-B84C-06EB-28994EF2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92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DFF51-553E-1F6B-402C-778E4D19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6E822A-93DC-DFCE-20F4-E6B4BA9B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1E0DA1-D6D5-5B45-F745-CD7B8D6D3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127774-1AE2-2FE9-94ED-64B3DE50E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7448D2-2E60-86C3-46D8-AC7A215AD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6E36DD-0D69-45B2-FDB3-988940CD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E329CE-5D6E-2826-520D-90686F5B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4377D6-6A98-7632-50D4-ED36578D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27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1661C-E690-3A31-1CF7-6B2587E5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EA0FDB-5627-68AE-8E4F-C68DCD09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233F9F-5880-6693-4FA4-63AF429C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9C63F6-A481-A792-286E-B640FC0B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2F9846-2D37-4E63-8019-99C578370FF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13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BF57CF-A32A-7876-D663-39C306FA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E71969-9601-8523-4667-6970AC20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522A5-1467-53E9-4E40-BE18CE66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F4EB6-88BC-4A90-AF11-340BC703CB6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31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1CA42-DDFE-2748-536D-D2811184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58478-B137-39C3-060B-F5ACBC51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3F74F5-CAF1-03DD-682B-A37B4FAAB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BAF77-F04B-F52C-2EDF-5D397AFD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E52539-343F-64EB-0C97-F83D75AC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36916B-2916-0010-35F5-0A32F59E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67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6C8B8-56F2-087A-2065-03BC1752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1719A3-4042-462D-F932-3143F4A2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CAC2AB-8037-A1DF-A41F-EE2419F68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FAE62E-1478-A122-C7FD-797AA5CC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406B6C-617D-AB78-C250-54A528D2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3AF45-E88E-9E70-7042-DE1574E6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6EFCAC-4F6E-4522-9386-1E2643F9DFA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42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FA9F1-37BC-5F02-877E-7CCBFFDD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867B85-925D-6C54-8E8B-BD2E4079D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90A0E-E2ED-C071-6F56-71F2F548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79D67-CD70-8E63-9A63-6A26CE52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1C9BD-011F-4281-64F7-A5741B6D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248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08F564-0778-4AF8-8C26-AE4084B51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8001D8-674C-CCD3-0704-9944FCE0F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44F40-9CD7-A28C-E146-043E8A29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622F1B-5C66-E7C1-D76B-79E97D00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F526CF-706F-018E-49E8-70657797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83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D42A7-54F1-4646-B102-6FF4EBC96D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96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D42C25-A689-E8D7-803F-4C395515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407F6F-35AB-7FA2-AD72-7FCF29652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14066-6AFB-DF23-885C-A5B2BAF41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D57D8-82F1-5E6C-9027-C4F7268EF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383A1-61C7-8B7E-4E09-401B87BF4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5595CF-1F66-4ACF-B1B4-F0D4BC9A6A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49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  <p:sldLayoutId id="21474841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1438"/>
            <a:ext cx="7467600" cy="114300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</a:rPr>
              <a:t>置业型消费</a:t>
            </a:r>
          </a:p>
        </p:txBody>
      </p:sp>
      <p:sp>
        <p:nvSpPr>
          <p:cNvPr id="3123" name="Rectangle 51"/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1079500"/>
          </a:xfrm>
        </p:spPr>
        <p:txBody>
          <a:bodyPr>
            <a:normAutofit fontScale="92500" lnSpcReduction="10000"/>
          </a:bodyPr>
          <a:lstStyle/>
          <a:p>
            <a:pPr marL="0" indent="0" fontAlgn="auto">
              <a:spcAft>
                <a:spcPts val="0"/>
              </a:spcAft>
              <a:buFontTx/>
              <a:buNone/>
              <a:defRPr/>
            </a:pPr>
            <a:r>
              <a:rPr lang="zh-CN" altLang="en-US" dirty="0"/>
              <a:t>　　被调查对象介绍：张先生，</a:t>
            </a:r>
            <a:r>
              <a:rPr lang="en-US" altLang="zh-CN" dirty="0"/>
              <a:t>26</a:t>
            </a:r>
            <a:r>
              <a:rPr lang="zh-CN" altLang="en-US" dirty="0"/>
              <a:t>岁，</a:t>
            </a:r>
            <a:r>
              <a:rPr lang="en-US" altLang="zh-CN" dirty="0"/>
              <a:t>IT</a:t>
            </a:r>
            <a:r>
              <a:rPr lang="zh-CN" altLang="en-US" dirty="0"/>
              <a:t>业，月收入</a:t>
            </a:r>
            <a:r>
              <a:rPr lang="en-US" altLang="zh-CN" dirty="0"/>
              <a:t>5000</a:t>
            </a:r>
            <a:r>
              <a:rPr lang="zh-CN" altLang="en-US" dirty="0"/>
              <a:t>元，工作未满一年的情况下购买了价值</a:t>
            </a:r>
            <a:r>
              <a:rPr lang="en-US" altLang="zh-CN" dirty="0"/>
              <a:t>80</a:t>
            </a:r>
            <a:r>
              <a:rPr lang="zh-CN" altLang="en-US" dirty="0"/>
              <a:t>万的房产，首付</a:t>
            </a:r>
            <a:r>
              <a:rPr lang="en-US" altLang="zh-CN" dirty="0"/>
              <a:t>20</a:t>
            </a:r>
            <a:r>
              <a:rPr lang="zh-CN" altLang="en-US" dirty="0"/>
              <a:t>万（有</a:t>
            </a:r>
            <a:r>
              <a:rPr lang="en-US" altLang="zh-CN" dirty="0"/>
              <a:t>12</a:t>
            </a:r>
            <a:r>
              <a:rPr lang="zh-CN" altLang="en-US" dirty="0"/>
              <a:t>万属于借款），月供</a:t>
            </a:r>
            <a:r>
              <a:rPr lang="en-US" altLang="zh-CN" dirty="0"/>
              <a:t>3000</a:t>
            </a:r>
            <a:r>
              <a:rPr lang="zh-CN" altLang="en-US" dirty="0"/>
              <a:t>元，现租房月租金为</a:t>
            </a:r>
            <a:r>
              <a:rPr lang="en-US" altLang="zh-CN" dirty="0"/>
              <a:t>600</a:t>
            </a:r>
            <a:r>
              <a:rPr lang="zh-CN" altLang="en-US" dirty="0"/>
              <a:t>元，每月还借款</a:t>
            </a:r>
            <a:r>
              <a:rPr lang="en-US" altLang="zh-CN" dirty="0"/>
              <a:t>600</a:t>
            </a:r>
            <a:r>
              <a:rPr lang="zh-CN" altLang="en-US" dirty="0"/>
              <a:t>元，剩下的基本上只够应付日常开支。			</a:t>
            </a:r>
          </a:p>
        </p:txBody>
      </p:sp>
      <p:graphicFrame>
        <p:nvGraphicFramePr>
          <p:cNvPr id="3143" name="Group 71"/>
          <p:cNvGraphicFramePr>
            <a:graphicFrameLocks noGrp="1"/>
          </p:cNvGraphicFramePr>
          <p:nvPr/>
        </p:nvGraphicFramePr>
        <p:xfrm>
          <a:off x="611188" y="3429000"/>
          <a:ext cx="8064500" cy="720726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0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支出项目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房贷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房租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还借款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保险费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健身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旋游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日常开支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娱乐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金额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00" name="Rectangle 52"/>
          <p:cNvSpPr>
            <a:spLocks noChangeArrowheads="1"/>
          </p:cNvSpPr>
          <p:nvPr/>
        </p:nvSpPr>
        <p:spPr bwMode="auto">
          <a:xfrm>
            <a:off x="395288" y="2852738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400"/>
              <a:t>　　张先生月消费项目及金额如下：</a:t>
            </a:r>
          </a:p>
        </p:txBody>
      </p:sp>
      <p:sp>
        <p:nvSpPr>
          <p:cNvPr id="11301" name="Text Box 58"/>
          <p:cNvSpPr txBox="1">
            <a:spLocks noChangeArrowheads="1"/>
          </p:cNvSpPr>
          <p:nvPr/>
        </p:nvSpPr>
        <p:spPr bwMode="auto">
          <a:xfrm>
            <a:off x="1511300" y="4525963"/>
            <a:ext cx="1223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供房：</a:t>
            </a:r>
          </a:p>
        </p:txBody>
      </p:sp>
      <p:sp>
        <p:nvSpPr>
          <p:cNvPr id="11302" name="Text Box 61"/>
          <p:cNvSpPr txBox="1">
            <a:spLocks noChangeArrowheads="1"/>
          </p:cNvSpPr>
          <p:nvPr/>
        </p:nvSpPr>
        <p:spPr bwMode="auto">
          <a:xfrm>
            <a:off x="1258888" y="5006975"/>
            <a:ext cx="1728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交房租：</a:t>
            </a:r>
          </a:p>
        </p:txBody>
      </p:sp>
      <p:sp>
        <p:nvSpPr>
          <p:cNvPr id="11303" name="Text Box 62"/>
          <p:cNvSpPr txBox="1">
            <a:spLocks noChangeArrowheads="1"/>
          </p:cNvSpPr>
          <p:nvPr/>
        </p:nvSpPr>
        <p:spPr bwMode="auto">
          <a:xfrm>
            <a:off x="1258888" y="5583238"/>
            <a:ext cx="1512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还借款：</a:t>
            </a:r>
          </a:p>
        </p:txBody>
      </p:sp>
      <p:sp>
        <p:nvSpPr>
          <p:cNvPr id="11304" name="Text Box 63"/>
          <p:cNvSpPr txBox="1">
            <a:spLocks noChangeArrowheads="1"/>
          </p:cNvSpPr>
          <p:nvPr/>
        </p:nvSpPr>
        <p:spPr bwMode="auto">
          <a:xfrm>
            <a:off x="971550" y="6111875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日常开支：</a:t>
            </a:r>
          </a:p>
        </p:txBody>
      </p:sp>
      <p:sp>
        <p:nvSpPr>
          <p:cNvPr id="11305" name="Text Box 64"/>
          <p:cNvSpPr txBox="1">
            <a:spLocks noChangeArrowheads="1"/>
          </p:cNvSpPr>
          <p:nvPr/>
        </p:nvSpPr>
        <p:spPr bwMode="auto">
          <a:xfrm>
            <a:off x="2987675" y="6159500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10</a:t>
            </a:r>
            <a:r>
              <a:rPr lang="zh-CN" altLang="en-US" sz="2400" b="1"/>
              <a:t>％</a:t>
            </a:r>
          </a:p>
        </p:txBody>
      </p:sp>
      <p:sp>
        <p:nvSpPr>
          <p:cNvPr id="11306" name="Text Box 65"/>
          <p:cNvSpPr txBox="1">
            <a:spLocks noChangeArrowheads="1"/>
          </p:cNvSpPr>
          <p:nvPr/>
        </p:nvSpPr>
        <p:spPr bwMode="auto">
          <a:xfrm>
            <a:off x="2987675" y="5654675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66FF"/>
                </a:solidFill>
              </a:rPr>
              <a:t>12</a:t>
            </a:r>
            <a:r>
              <a:rPr lang="zh-CN" altLang="en-US" sz="2400" b="1">
                <a:solidFill>
                  <a:srgbClr val="0066FF"/>
                </a:solidFill>
              </a:rPr>
              <a:t>％</a:t>
            </a:r>
          </a:p>
        </p:txBody>
      </p:sp>
      <p:sp>
        <p:nvSpPr>
          <p:cNvPr id="11307" name="Text Box 66"/>
          <p:cNvSpPr txBox="1">
            <a:spLocks noChangeArrowheads="1"/>
          </p:cNvSpPr>
          <p:nvPr/>
        </p:nvSpPr>
        <p:spPr bwMode="auto">
          <a:xfrm>
            <a:off x="2996189" y="5065713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</a:rPr>
              <a:t>12</a:t>
            </a:r>
            <a:r>
              <a:rPr lang="zh-CN" altLang="en-US" sz="2400" b="1" dirty="0">
                <a:solidFill>
                  <a:srgbClr val="0066FF"/>
                </a:solidFill>
              </a:rPr>
              <a:t>％</a:t>
            </a:r>
          </a:p>
        </p:txBody>
      </p:sp>
      <p:sp>
        <p:nvSpPr>
          <p:cNvPr id="11308" name="Text Box 67"/>
          <p:cNvSpPr txBox="1">
            <a:spLocks noChangeArrowheads="1"/>
          </p:cNvSpPr>
          <p:nvPr/>
        </p:nvSpPr>
        <p:spPr bwMode="auto">
          <a:xfrm>
            <a:off x="2987675" y="4391025"/>
            <a:ext cx="20875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3300"/>
                </a:solidFill>
              </a:rPr>
              <a:t>66</a:t>
            </a:r>
            <a:r>
              <a:rPr lang="zh-CN" altLang="en-US" sz="3200" dirty="0">
                <a:solidFill>
                  <a:srgbClr val="FF3300"/>
                </a:solidFill>
              </a:rPr>
              <a:t>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</a:rPr>
              <a:t>月“光”型消费</a:t>
            </a:r>
          </a:p>
        </p:txBody>
      </p:sp>
      <p:sp>
        <p:nvSpPr>
          <p:cNvPr id="6179" name="Rectangle 35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10795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Tx/>
              <a:buNone/>
              <a:defRPr/>
            </a:pPr>
            <a:r>
              <a:rPr lang="zh-CN" altLang="en-US"/>
              <a:t>　　被调查对象介绍：李小组，</a:t>
            </a:r>
            <a:r>
              <a:rPr lang="en-US" altLang="zh-CN"/>
              <a:t>25</a:t>
            </a:r>
            <a:r>
              <a:rPr lang="zh-CN" altLang="en-US"/>
              <a:t>岁，大众传媒，月收入</a:t>
            </a:r>
            <a:r>
              <a:rPr lang="en-US" altLang="zh-CN"/>
              <a:t>4000</a:t>
            </a:r>
            <a:r>
              <a:rPr lang="zh-CN" altLang="en-US"/>
              <a:t>元，首付</a:t>
            </a:r>
            <a:r>
              <a:rPr lang="en-US" altLang="zh-CN"/>
              <a:t>6</a:t>
            </a:r>
            <a:r>
              <a:rPr lang="zh-CN" altLang="en-US"/>
              <a:t>万贷</a:t>
            </a:r>
            <a:r>
              <a:rPr lang="en-US" altLang="zh-CN"/>
              <a:t>5</a:t>
            </a:r>
            <a:r>
              <a:rPr lang="zh-CN" altLang="en-US"/>
              <a:t>万购买一部轿车，除了每月供车</a:t>
            </a:r>
            <a:r>
              <a:rPr lang="en-US" altLang="zh-CN"/>
              <a:t>1200</a:t>
            </a:r>
            <a:r>
              <a:rPr lang="zh-CN" altLang="en-US"/>
              <a:t>元外，其余全部被花光。</a:t>
            </a:r>
          </a:p>
        </p:txBody>
      </p:sp>
      <p:sp>
        <p:nvSpPr>
          <p:cNvPr id="12316" name="Rectangle 36"/>
          <p:cNvSpPr>
            <a:spLocks noChangeArrowheads="1"/>
          </p:cNvSpPr>
          <p:nvPr/>
        </p:nvSpPr>
        <p:spPr bwMode="auto">
          <a:xfrm>
            <a:off x="374650" y="2852738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400"/>
              <a:t>　　李小姐月消费项目及金额如下：</a:t>
            </a:r>
          </a:p>
        </p:txBody>
      </p:sp>
      <p:sp>
        <p:nvSpPr>
          <p:cNvPr id="12317" name="Text Box 37"/>
          <p:cNvSpPr txBox="1">
            <a:spLocks noChangeArrowheads="1"/>
          </p:cNvSpPr>
          <p:nvPr/>
        </p:nvSpPr>
        <p:spPr bwMode="auto">
          <a:xfrm>
            <a:off x="1260475" y="4976813"/>
            <a:ext cx="1871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享受生活：</a:t>
            </a:r>
          </a:p>
        </p:txBody>
      </p:sp>
      <p:sp>
        <p:nvSpPr>
          <p:cNvPr id="12318" name="Text Box 38"/>
          <p:cNvSpPr txBox="1">
            <a:spLocks noChangeArrowheads="1"/>
          </p:cNvSpPr>
          <p:nvPr/>
        </p:nvSpPr>
        <p:spPr bwMode="auto">
          <a:xfrm>
            <a:off x="5508104" y="5135303"/>
            <a:ext cx="1223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12319" name="Text Box 39"/>
          <p:cNvSpPr txBox="1">
            <a:spLocks noChangeArrowheads="1"/>
          </p:cNvSpPr>
          <p:nvPr/>
        </p:nvSpPr>
        <p:spPr bwMode="auto">
          <a:xfrm>
            <a:off x="1908176" y="5623562"/>
            <a:ext cx="1223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供车：</a:t>
            </a:r>
          </a:p>
        </p:txBody>
      </p:sp>
      <p:sp>
        <p:nvSpPr>
          <p:cNvPr id="12320" name="Text Box 44"/>
          <p:cNvSpPr txBox="1">
            <a:spLocks noChangeArrowheads="1"/>
          </p:cNvSpPr>
          <p:nvPr/>
        </p:nvSpPr>
        <p:spPr bwMode="auto">
          <a:xfrm>
            <a:off x="3276600" y="5695950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66FF"/>
                </a:solidFill>
              </a:rPr>
              <a:t>30</a:t>
            </a:r>
            <a:r>
              <a:rPr lang="zh-CN" altLang="en-US" sz="2400" b="1">
                <a:solidFill>
                  <a:srgbClr val="0066FF"/>
                </a:solidFill>
              </a:rPr>
              <a:t>％</a:t>
            </a:r>
          </a:p>
        </p:txBody>
      </p:sp>
      <p:sp>
        <p:nvSpPr>
          <p:cNvPr id="12321" name="Text Box 45"/>
          <p:cNvSpPr txBox="1">
            <a:spLocks noChangeArrowheads="1"/>
          </p:cNvSpPr>
          <p:nvPr/>
        </p:nvSpPr>
        <p:spPr bwMode="auto">
          <a:xfrm>
            <a:off x="3276339" y="4939506"/>
            <a:ext cx="20875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3300"/>
                </a:solidFill>
              </a:rPr>
              <a:t>70</a:t>
            </a:r>
            <a:r>
              <a:rPr lang="zh-CN" altLang="en-US" sz="3200" b="1" dirty="0">
                <a:solidFill>
                  <a:srgbClr val="FF3300"/>
                </a:solidFill>
              </a:rPr>
              <a:t>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</a:rPr>
              <a:t>调查结果</a:t>
            </a:r>
          </a:p>
        </p:txBody>
      </p:sp>
      <p:sp>
        <p:nvSpPr>
          <p:cNvPr id="10" name="图表占位符 9">
            <a:extLst>
              <a:ext uri="{FF2B5EF4-FFF2-40B4-BE49-F238E27FC236}">
                <a16:creationId xmlns:a16="http://schemas.microsoft.com/office/drawing/2014/main" id="{01450ED9-AD2A-66EF-1794-F0C233356D1A}"/>
              </a:ext>
            </a:extLst>
          </p:cNvPr>
          <p:cNvSpPr>
            <a:spLocks noGrp="1"/>
          </p:cNvSpPr>
          <p:nvPr>
            <p:ph type="chart" sz="half" idx="2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</a:rPr>
              <a:t>结　论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2303463"/>
          </a:xfrm>
        </p:spPr>
        <p:txBody>
          <a:bodyPr/>
          <a:lstStyle/>
          <a:p>
            <a:r>
              <a:rPr lang="zh-CN" altLang="en-US"/>
              <a:t>什么是正确的消费观念？</a:t>
            </a:r>
          </a:p>
          <a:p>
            <a:pPr>
              <a:buFontTx/>
              <a:buNone/>
            </a:pPr>
            <a:endParaRPr lang="zh-CN" altLang="en-US"/>
          </a:p>
          <a:p>
            <a:pPr algn="ctr">
              <a:buFontTx/>
              <a:buNone/>
            </a:pPr>
            <a:r>
              <a:rPr lang="zh-CN" altLang="en-US" sz="4800"/>
              <a:t>收支平衡</a:t>
            </a:r>
          </a:p>
          <a:p>
            <a:endParaRPr lang="en-US" altLang="zh-CN"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49D52AB4-FC83-A658-60C0-ABC2F7115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567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1">
                  <a:extLst>
                    <a:ext uri="{9D8B030D-6E8A-4147-A177-3AD203B41FA5}">
                      <a16:colId xmlns:a16="http://schemas.microsoft.com/office/drawing/2014/main" val="167057633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667862774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26703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月“光”型</a:t>
                      </a:r>
                    </a:p>
                  </a:txBody>
                  <a:tcPr marL="10061" marR="10061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置业型</a:t>
                      </a:r>
                    </a:p>
                  </a:txBody>
                  <a:tcPr marL="10061" marR="10061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二者之间</a:t>
                      </a:r>
                    </a:p>
                  </a:txBody>
                  <a:tcPr marL="10061" marR="10061" marT="9525" marB="0" anchor="ctr"/>
                </a:tc>
                <a:extLst>
                  <a:ext uri="{0D108BD9-81ED-4DB2-BD59-A6C34878D82A}">
                    <a16:rowId xmlns:a16="http://schemas.microsoft.com/office/drawing/2014/main" val="127263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10061" marR="10061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25%</a:t>
                      </a:r>
                    </a:p>
                  </a:txBody>
                  <a:tcPr marL="10061" marR="10061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65%</a:t>
                      </a:r>
                    </a:p>
                  </a:txBody>
                  <a:tcPr marL="10061" marR="10061" marT="9525" marB="0" anchor="ctr"/>
                </a:tc>
                <a:extLst>
                  <a:ext uri="{0D108BD9-81ED-4DB2-BD59-A6C34878D82A}">
                    <a16:rowId xmlns:a16="http://schemas.microsoft.com/office/drawing/2014/main" val="63123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91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220</Words>
  <Application>Microsoft Office PowerPoint</Application>
  <PresentationFormat>全屏显示(4:3)</PresentationFormat>
  <Paragraphs>49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Calibri</vt:lpstr>
      <vt:lpstr>Office 主题​​</vt:lpstr>
      <vt:lpstr>置业型消费</vt:lpstr>
      <vt:lpstr>月“光”型消费</vt:lpstr>
      <vt:lpstr>调查结果</vt:lpstr>
      <vt:lpstr>结　论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白领消费调查</dc:title>
  <dc:creator>何俊</dc:creator>
  <cp:lastModifiedBy>Microsoft</cp:lastModifiedBy>
  <cp:revision>17</cp:revision>
  <dcterms:created xsi:type="dcterms:W3CDTF">2005-07-14T08:42:37Z</dcterms:created>
  <dcterms:modified xsi:type="dcterms:W3CDTF">2022-09-27T01:04:12Z</dcterms:modified>
</cp:coreProperties>
</file>